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3" r:id="rId2"/>
    <p:sldId id="257" r:id="rId3"/>
    <p:sldId id="363" r:id="rId4"/>
    <p:sldId id="402" r:id="rId5"/>
    <p:sldId id="380" r:id="rId6"/>
    <p:sldId id="393" r:id="rId7"/>
    <p:sldId id="391" r:id="rId8"/>
    <p:sldId id="392" r:id="rId9"/>
    <p:sldId id="395" r:id="rId10"/>
    <p:sldId id="396" r:id="rId11"/>
    <p:sldId id="394" r:id="rId12"/>
    <p:sldId id="397" r:id="rId13"/>
    <p:sldId id="399" r:id="rId14"/>
    <p:sldId id="398" r:id="rId15"/>
    <p:sldId id="400" r:id="rId16"/>
    <p:sldId id="401" r:id="rId17"/>
    <p:sldId id="403" r:id="rId18"/>
    <p:sldId id="404" r:id="rId19"/>
    <p:sldId id="405" r:id="rId20"/>
    <p:sldId id="406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0A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2832" autoAdjust="0"/>
  </p:normalViewPr>
  <p:slideViewPr>
    <p:cSldViewPr snapToGrid="0">
      <p:cViewPr varScale="1">
        <p:scale>
          <a:sx n="46" d="100"/>
          <a:sy n="46" d="100"/>
        </p:scale>
        <p:origin x="24" y="8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1" y="0"/>
            <a:ext cx="12191998" cy="6858000"/>
          </a:xfrm>
          <a:prstGeom prst="rect">
            <a:avLst/>
          </a:prstGeom>
          <a:gradFill>
            <a:gsLst>
              <a:gs pos="68000">
                <a:srgbClr val="D9D8D6"/>
              </a:gs>
              <a:gs pos="0">
                <a:srgbClr val="FEFEFE"/>
              </a:gs>
              <a:gs pos="100000">
                <a:srgbClr val="B5B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 rot="10800000">
            <a:off x="-16279" y="5352126"/>
            <a:ext cx="12200019" cy="652824"/>
            <a:chOff x="-8024" y="4499811"/>
            <a:chExt cx="12200019" cy="652824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-8024" y="4499811"/>
            <a:ext cx="12200019" cy="652824"/>
            <a:chOff x="-8024" y="4499811"/>
            <a:chExt cx="12200019" cy="652824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平行四边形 133"/>
          <p:cNvSpPr/>
          <p:nvPr/>
        </p:nvSpPr>
        <p:spPr>
          <a:xfrm flipH="1">
            <a:off x="7702259" y="4369873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平行四边形 132"/>
          <p:cNvSpPr/>
          <p:nvPr/>
        </p:nvSpPr>
        <p:spPr>
          <a:xfrm>
            <a:off x="2609309" y="4400259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/>
          <p:cNvCxnSpPr/>
          <p:nvPr/>
        </p:nvCxnSpPr>
        <p:spPr>
          <a:xfrm>
            <a:off x="8347141" y="-30386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5551349" y="897382"/>
            <a:ext cx="1286818" cy="817239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4816336" y="1585803"/>
            <a:ext cx="2910840" cy="3901440"/>
            <a:chOff x="-1783080" y="-1767840"/>
            <a:chExt cx="2910840" cy="3901440"/>
          </a:xfrm>
        </p:grpSpPr>
        <p:sp>
          <p:nvSpPr>
            <p:cNvPr id="51" name="矩形 50"/>
            <p:cNvSpPr/>
            <p:nvPr/>
          </p:nvSpPr>
          <p:spPr>
            <a:xfrm>
              <a:off x="-1783080" y="-1752600"/>
              <a:ext cx="472440" cy="1143000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-1182933" y="340634"/>
              <a:ext cx="436173" cy="1777725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-1783080" y="-1767840"/>
              <a:ext cx="1021080" cy="3901440"/>
            </a:xfrm>
            <a:custGeom>
              <a:avLst/>
              <a:gdLst>
                <a:gd name="connsiteX0" fmla="*/ 563880 w 1021080"/>
                <a:gd name="connsiteY0" fmla="*/ 0 h 3901440"/>
                <a:gd name="connsiteX1" fmla="*/ 579120 w 1021080"/>
                <a:gd name="connsiteY1" fmla="*/ 1264920 h 3901440"/>
                <a:gd name="connsiteX2" fmla="*/ 0 w 1021080"/>
                <a:gd name="connsiteY2" fmla="*/ 1722120 h 3901440"/>
                <a:gd name="connsiteX3" fmla="*/ 0 w 1021080"/>
                <a:gd name="connsiteY3" fmla="*/ 3901440 h 3901440"/>
                <a:gd name="connsiteX4" fmla="*/ 457200 w 1021080"/>
                <a:gd name="connsiteY4" fmla="*/ 3901440 h 3901440"/>
                <a:gd name="connsiteX5" fmla="*/ 457200 w 1021080"/>
                <a:gd name="connsiteY5" fmla="*/ 1950720 h 3901440"/>
                <a:gd name="connsiteX6" fmla="*/ 1021080 w 1021080"/>
                <a:gd name="connsiteY6" fmla="*/ 1447800 h 3901440"/>
                <a:gd name="connsiteX7" fmla="*/ 1021080 w 1021080"/>
                <a:gd name="connsiteY7" fmla="*/ 15240 h 3901440"/>
                <a:gd name="connsiteX8" fmla="*/ 563880 w 1021080"/>
                <a:gd name="connsiteY8" fmla="*/ 0 h 39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080" h="3901440">
                  <a:moveTo>
                    <a:pt x="563880" y="0"/>
                  </a:moveTo>
                  <a:lnTo>
                    <a:pt x="579120" y="1264920"/>
                  </a:lnTo>
                  <a:lnTo>
                    <a:pt x="0" y="1722120"/>
                  </a:lnTo>
                  <a:lnTo>
                    <a:pt x="0" y="3901440"/>
                  </a:lnTo>
                  <a:lnTo>
                    <a:pt x="457200" y="3901440"/>
                  </a:lnTo>
                  <a:lnTo>
                    <a:pt x="457200" y="1950720"/>
                  </a:lnTo>
                  <a:lnTo>
                    <a:pt x="1021080" y="1447800"/>
                  </a:lnTo>
                  <a:lnTo>
                    <a:pt x="1021080" y="15240"/>
                  </a:lnTo>
                  <a:lnTo>
                    <a:pt x="563880" y="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-579120" y="-1752600"/>
              <a:ext cx="1706880" cy="3870960"/>
            </a:xfrm>
            <a:custGeom>
              <a:avLst/>
              <a:gdLst>
                <a:gd name="connsiteX0" fmla="*/ 1691640 w 1706880"/>
                <a:gd name="connsiteY0" fmla="*/ 457200 h 3870960"/>
                <a:gd name="connsiteX1" fmla="*/ 457200 w 1706880"/>
                <a:gd name="connsiteY1" fmla="*/ 472440 h 3870960"/>
                <a:gd name="connsiteX2" fmla="*/ 472440 w 1706880"/>
                <a:gd name="connsiteY2" fmla="*/ 2819400 h 3870960"/>
                <a:gd name="connsiteX3" fmla="*/ 640080 w 1706880"/>
                <a:gd name="connsiteY3" fmla="*/ 2804160 h 3870960"/>
                <a:gd name="connsiteX4" fmla="*/ 640080 w 1706880"/>
                <a:gd name="connsiteY4" fmla="*/ 655320 h 3870960"/>
                <a:gd name="connsiteX5" fmla="*/ 1691640 w 1706880"/>
                <a:gd name="connsiteY5" fmla="*/ 655320 h 3870960"/>
                <a:gd name="connsiteX6" fmla="*/ 1691640 w 1706880"/>
                <a:gd name="connsiteY6" fmla="*/ 3870960 h 3870960"/>
                <a:gd name="connsiteX7" fmla="*/ 0 w 1706880"/>
                <a:gd name="connsiteY7" fmla="*/ 3855720 h 3870960"/>
                <a:gd name="connsiteX8" fmla="*/ 0 w 1706880"/>
                <a:gd name="connsiteY8" fmla="*/ 3413760 h 3870960"/>
                <a:gd name="connsiteX9" fmla="*/ 1249680 w 1706880"/>
                <a:gd name="connsiteY9" fmla="*/ 3429000 h 3870960"/>
                <a:gd name="connsiteX10" fmla="*/ 1234440 w 1706880"/>
                <a:gd name="connsiteY10" fmla="*/ 1082040 h 3870960"/>
                <a:gd name="connsiteX11" fmla="*/ 1082040 w 1706880"/>
                <a:gd name="connsiteY11" fmla="*/ 1082040 h 3870960"/>
                <a:gd name="connsiteX12" fmla="*/ 1082040 w 1706880"/>
                <a:gd name="connsiteY12" fmla="*/ 3276600 h 3870960"/>
                <a:gd name="connsiteX13" fmla="*/ 0 w 1706880"/>
                <a:gd name="connsiteY13" fmla="*/ 3276600 h 3870960"/>
                <a:gd name="connsiteX14" fmla="*/ 0 w 1706880"/>
                <a:gd name="connsiteY14" fmla="*/ 0 h 3870960"/>
                <a:gd name="connsiteX15" fmla="*/ 1706880 w 1706880"/>
                <a:gd name="connsiteY15" fmla="*/ 0 h 3870960"/>
                <a:gd name="connsiteX16" fmla="*/ 1691640 w 1706880"/>
                <a:gd name="connsiteY16" fmla="*/ 457200 h 38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6880" h="3870960">
                  <a:moveTo>
                    <a:pt x="1691640" y="457200"/>
                  </a:moveTo>
                  <a:lnTo>
                    <a:pt x="457200" y="472440"/>
                  </a:lnTo>
                  <a:lnTo>
                    <a:pt x="472440" y="2819400"/>
                  </a:lnTo>
                  <a:lnTo>
                    <a:pt x="640080" y="2804160"/>
                  </a:lnTo>
                  <a:lnTo>
                    <a:pt x="640080" y="655320"/>
                  </a:lnTo>
                  <a:lnTo>
                    <a:pt x="1691640" y="655320"/>
                  </a:lnTo>
                  <a:lnTo>
                    <a:pt x="1691640" y="3870960"/>
                  </a:lnTo>
                  <a:lnTo>
                    <a:pt x="0" y="3855720"/>
                  </a:lnTo>
                  <a:lnTo>
                    <a:pt x="0" y="3413760"/>
                  </a:lnTo>
                  <a:lnTo>
                    <a:pt x="1249680" y="3429000"/>
                  </a:lnTo>
                  <a:lnTo>
                    <a:pt x="1234440" y="1082040"/>
                  </a:lnTo>
                  <a:lnTo>
                    <a:pt x="1082040" y="1082040"/>
                  </a:lnTo>
                  <a:lnTo>
                    <a:pt x="1082040" y="3276600"/>
                  </a:lnTo>
                  <a:lnTo>
                    <a:pt x="0" y="3276600"/>
                  </a:lnTo>
                  <a:lnTo>
                    <a:pt x="0" y="0"/>
                  </a:lnTo>
                  <a:lnTo>
                    <a:pt x="1706880" y="0"/>
                  </a:lnTo>
                  <a:lnTo>
                    <a:pt x="1691640" y="45720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8" name="直接连接符 137"/>
          <p:cNvCxnSpPr/>
          <p:nvPr/>
        </p:nvCxnSpPr>
        <p:spPr>
          <a:xfrm>
            <a:off x="3963128" y="0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50" b="97717" l="9845" r="94560">
                        <a14:foregroundMark x1="29016" y1="19292" x2="28627" y2="18950"/>
                        <a14:foregroundMark x1="28238" y1="19749" x2="27850" y2="19406"/>
                        <a14:foregroundMark x1="30052" y1="19635" x2="28238" y2="19292"/>
                        <a14:foregroundMark x1="60751" y1="88128" x2="55440" y2="91553"/>
                        <a14:foregroundMark x1="35363" y1="88242" x2="34715" y2="94635"/>
                        <a14:foregroundMark x1="32902" y1="96918" x2="34067" y2="97945"/>
                        <a14:foregroundMark x1="87306" y1="75228" x2="91192" y2="71575"/>
                        <a14:foregroundMark x1="88860" y1="37671" x2="90674" y2="47260"/>
                        <a14:foregroundMark x1="90674" y1="47260" x2="87306" y2="48402"/>
                        <a14:foregroundMark x1="93394" y1="39726" x2="94560" y2="46689"/>
                        <a14:foregroundMark x1="52850" y1="11416" x2="46891" y2="6050"/>
                        <a14:foregroundMark x1="45337" y1="10616" x2="40285" y2="6279"/>
                        <a14:backgroundMark x1="26813" y1="12900" x2="28022" y2="17389"/>
                        <a14:backgroundMark x1="24741" y1="23288" x2="25259" y2="27626"/>
                        <a14:backgroundMark x1="26813" y1="23630" x2="28368" y2="33447"/>
                        <a14:backgroundMark x1="37435" y1="24087" x2="37694" y2="28311"/>
                        <a14:backgroundMark x1="34974" y1="12900" x2="42228" y2="14612"/>
                        <a14:backgroundMark x1="47150" y1="18607" x2="79404" y2="34703"/>
                        <a14:backgroundMark x1="57383" y1="17694" x2="69171" y2="25000"/>
                        <a14:backgroundMark x1="76813" y1="23630" x2="80959" y2="27283"/>
                        <a14:backgroundMark x1="54534" y1="34475" x2="63212" y2="36758"/>
                        <a14:backgroundMark x1="63212" y1="36758" x2="78368" y2="48059"/>
                        <a14:backgroundMark x1="78368" y1="48059" x2="78756" y2="48516"/>
                        <a14:backgroundMark x1="48316" y1="49429" x2="64767" y2="59247"/>
                        <a14:backgroundMark x1="64767" y1="59247" x2="61269" y2="65525"/>
                        <a14:backgroundMark x1="71114" y1="61530" x2="74870" y2="64155"/>
                        <a14:backgroundMark x1="36917" y1="51826" x2="42746" y2="67123"/>
                        <a14:backgroundMark x1="44560" y1="74543" x2="43782" y2="72831"/>
                        <a14:backgroundMark x1="52461" y1="76712" x2="59715" y2="79452"/>
                        <a14:backgroundMark x1="78238" y1="81164" x2="80181" y2="76712"/>
                        <a14:backgroundMark x1="22539" y1="73858" x2="27202" y2="77397"/>
                        <a14:backgroundMark x1="33290" y1="30365" x2="33161" y2="28311"/>
                        <a14:backgroundMark x1="63990" y1="13242" x2="82383" y2="14612"/>
                        <a14:backgroundMark x1="79793" y1="19977" x2="81088" y2="20662"/>
                        <a14:backgroundMark x1="63472" y1="14269" x2="67746" y2="14726"/>
                        <a14:backgroundMark x1="61269" y1="13242" x2="64378" y2="14269"/>
                        <a14:backgroundMark x1="58938" y1="14041" x2="63472" y2="14612"/>
                        <a14:backgroundMark x1="59715" y1="55479" x2="64249" y2="64612"/>
                        <a14:backgroundMark x1="64249" y1="64612" x2="55570" y2="61416"/>
                        <a14:backgroundMark x1="35104" y1="35388" x2="35104" y2="35388"/>
                        <a14:backgroundMark x1="33679" y1="26712" x2="33549" y2="26256"/>
                        <a14:backgroundMark x1="38472" y1="24315" x2="38472" y2="27968"/>
                        <a14:backgroundMark x1="33161" y1="24429" x2="33679" y2="28653"/>
                        <a14:backgroundMark x1="60492" y1="23973" x2="66451" y2="28995"/>
                        <a14:backgroundMark x1="68394" y1="21347" x2="69948" y2="27397"/>
                        <a14:backgroundMark x1="80570" y1="22032" x2="80311" y2="21347"/>
                        <a14:backgroundMark x1="79922" y1="20320" x2="81606" y2="22374"/>
                      </a14:backgroundRemoval>
                    </a14:imgEffect>
                    <a14:imgEffect>
                      <a14:brightnessContrast contrast="2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2058" y="892689"/>
            <a:ext cx="4894336" cy="5553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862580"/>
            <a:ext cx="12192000" cy="1087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336758"/>
            <a:ext cx="2799347" cy="529160"/>
            <a:chOff x="0" y="3336758"/>
            <a:chExt cx="2799347" cy="529160"/>
          </a:xfrm>
        </p:grpSpPr>
        <p:sp>
          <p:nvSpPr>
            <p:cNvPr id="7" name="矩形 6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矩形 130"/>
          <p:cNvSpPr/>
          <p:nvPr/>
        </p:nvSpPr>
        <p:spPr>
          <a:xfrm>
            <a:off x="2702735" y="1509832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 rot="10800000">
            <a:off x="9392652" y="3338857"/>
            <a:ext cx="2799347" cy="529160"/>
            <a:chOff x="0" y="3336758"/>
            <a:chExt cx="2799347" cy="529160"/>
          </a:xfrm>
        </p:grpSpPr>
        <p:sp>
          <p:nvSpPr>
            <p:cNvPr id="29" name="矩形 28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矩形 143"/>
          <p:cNvSpPr/>
          <p:nvPr/>
        </p:nvSpPr>
        <p:spPr>
          <a:xfrm>
            <a:off x="2948305" y="6005195"/>
            <a:ext cx="6511290" cy="762000"/>
          </a:xfrm>
          <a:prstGeom prst="rect">
            <a:avLst/>
          </a:prstGeom>
          <a:solidFill>
            <a:srgbClr val="292829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305" y="3059430"/>
            <a:ext cx="12148185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Traffic Flow Dynamic</a:t>
            </a:r>
            <a:endParaRPr lang="zh-CN" altLang="en-US" sz="44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122141" y="1509832"/>
            <a:ext cx="1732597" cy="1155465"/>
            <a:chOff x="1098451" y="-835893"/>
            <a:chExt cx="1732597" cy="1155465"/>
          </a:xfrm>
        </p:grpSpPr>
        <p:grpSp>
          <p:nvGrpSpPr>
            <p:cNvPr id="59" name="组合 58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2" name="矩形 131"/>
          <p:cNvSpPr/>
          <p:nvPr/>
        </p:nvSpPr>
        <p:spPr>
          <a:xfrm>
            <a:off x="8358136" y="1497586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486499" y="1511695"/>
            <a:ext cx="1732597" cy="1155465"/>
            <a:chOff x="1098451" y="-835893"/>
            <a:chExt cx="1732597" cy="1155465"/>
          </a:xfrm>
        </p:grpSpPr>
        <p:grpSp>
          <p:nvGrpSpPr>
            <p:cNvPr id="95" name="组合 94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125" name="矩形 12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121" name="矩形 12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113" name="矩形 11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5" name="矩形 134"/>
          <p:cNvSpPr/>
          <p:nvPr/>
        </p:nvSpPr>
        <p:spPr>
          <a:xfrm>
            <a:off x="3673495" y="15099"/>
            <a:ext cx="4954317" cy="905506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连接符 140"/>
          <p:cNvCxnSpPr/>
          <p:nvPr/>
        </p:nvCxnSpPr>
        <p:spPr>
          <a:xfrm flipV="1">
            <a:off x="-2" y="892586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-7" y="1483199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469265" y="6005195"/>
            <a:ext cx="11807190" cy="83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3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Gong Ziyang</a:t>
            </a:r>
          </a:p>
          <a:p>
            <a:pPr algn="ctr"/>
            <a:endParaRPr lang="en-US" altLang="zh-CN" sz="23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2949575" y="6767195"/>
            <a:ext cx="6510020" cy="102235"/>
          </a:xfrm>
          <a:prstGeom prst="rect">
            <a:avLst/>
          </a:prstGeom>
          <a:solidFill>
            <a:srgbClr val="891C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 rot="10800000">
            <a:off x="2798965" y="5947622"/>
            <a:ext cx="150861" cy="954038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 rot="10800000">
            <a:off x="9467370" y="5947621"/>
            <a:ext cx="150855" cy="954035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7" t="61091" r="46946" b="28282"/>
          <a:stretch>
            <a:fillRect/>
          </a:stretch>
        </p:blipFill>
        <p:spPr>
          <a:xfrm>
            <a:off x="5800130" y="1640826"/>
            <a:ext cx="788596" cy="788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/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59055" y="-279400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419215" y="2994025"/>
            <a:ext cx="60655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Chapt10. Elementary Car-Following Models</a:t>
            </a:r>
          </a:p>
          <a:p>
            <a:pPr algn="l"/>
            <a:endParaRPr lang="en-US" altLang="zh-CN"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1600" y="45402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10.1 General Remarks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2754" y="952500"/>
            <a:ext cx="11346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ym typeface="+mn-ea"/>
              </a:rPr>
              <a:t>Complete models definition</a:t>
            </a:r>
            <a:r>
              <a:rPr lang="zh-CN" altLang="en-US" sz="2400" b="1" dirty="0">
                <a:sym typeface="+mn-ea"/>
              </a:rPr>
              <a:t>：</a:t>
            </a:r>
            <a:endParaRPr lang="en-US" altLang="zh-CN" sz="2400" b="1" dirty="0">
              <a:sym typeface="+mn-ea"/>
            </a:endParaRPr>
          </a:p>
          <a:p>
            <a:r>
              <a:rPr lang="en-US" altLang="zh-CN" sz="2400" dirty="0">
                <a:sym typeface="+mn-ea"/>
              </a:rPr>
              <a:t>	 A car-following model is complete if it is able to describe all situations including acceleration and cruising in free traffic, following other vehicles in stationary and non-stationary situations, and approaching slow or standing vehicles, and red traffic lights.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FD3F2-CDCD-D858-7A7C-B3CCD535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26526-3605-4EC3-305D-F2967A545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E2D583-5154-AC10-9389-261ACDFDBF02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E9FC51-3B0A-69D1-40CF-8ED58F9E978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33AA75-652C-F651-797C-41189DE9C9B0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F0F6D0-5E02-B2C9-2A6D-4857B7D05EC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465CDD-254A-27EA-018F-F106057D6295}"/>
              </a:ext>
            </a:extLst>
          </p:cNvPr>
          <p:cNvSpPr txBox="1"/>
          <p:nvPr/>
        </p:nvSpPr>
        <p:spPr>
          <a:xfrm>
            <a:off x="101600" y="45402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10.2 Mathematical Description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5DB627-BDE5-AAD8-AB22-91687B5B2DAD}"/>
              </a:ext>
            </a:extLst>
          </p:cNvPr>
          <p:cNvSpPr txBox="1"/>
          <p:nvPr/>
        </p:nvSpPr>
        <p:spPr>
          <a:xfrm>
            <a:off x="422754" y="952500"/>
            <a:ext cx="11346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The vehicle index α such that vehicles pass a stationary detector in ascending </a:t>
            </a:r>
            <a:r>
              <a:rPr lang="en-US" altLang="zh-CN" sz="2400" dirty="0" err="1">
                <a:sym typeface="+mn-ea"/>
              </a:rPr>
              <a:t>orderthe</a:t>
            </a:r>
            <a:r>
              <a:rPr lang="en-US" altLang="zh-CN" sz="2400" dirty="0">
                <a:sym typeface="+mn-ea"/>
              </a:rPr>
              <a:t> first vehicle has the lowest index.</a:t>
            </a:r>
            <a:r>
              <a:rPr lang="zh-CN" altLang="zh-CN" sz="2400" dirty="0"/>
              <a:t> 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</a:t>
            </a:r>
            <a:r>
              <a:rPr lang="zh-CN" altLang="zh-CN" sz="2400" dirty="0"/>
              <a:t>he acceleration of a following vehicle is determined by its current distance gap, its own speed, and the relative speed with respect to the leading vehicle.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F19BF1-D961-2F9E-DC25-DF37BDD77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734" y="2689664"/>
            <a:ext cx="7104762" cy="3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85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10.2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Mathematical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84146" y="990600"/>
                <a:ext cx="11706254" cy="5259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Car-Following(CF) Models often uses </a:t>
                </a:r>
                <a:r>
                  <a:rPr lang="zh-CN" altLang="zh-CN" sz="2400" dirty="0"/>
                  <a:t>Distance Gap</a:t>
                </a:r>
                <a:r>
                  <a:rPr lang="en-US" altLang="zh-CN" sz="24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	(10.1)</a:t>
                </a:r>
              </a:p>
              <a:p>
                <a:pPr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Gross Distance Headway Equation</a:t>
                </a:r>
                <a:r>
                  <a:rPr lang="en-US" altLang="zh-CN" sz="24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/>
                  <a:t>	(10.2)</a:t>
                </a:r>
                <a:endParaRPr lang="zh-CN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Speed Difference / Relative Speed </a:t>
                </a:r>
                <a:r>
                  <a:rPr lang="en-US" altLang="zh-CN" sz="2400" dirty="0"/>
                  <a:t>define </a:t>
                </a:r>
                <a:r>
                  <a:rPr lang="zh-CN" altLang="zh-CN" sz="2400" dirty="0"/>
                  <a:t>the speed difference between the subject vehicle and the leading vehicle.</a:t>
                </a:r>
                <a:r>
                  <a:rPr lang="en-US" altLang="zh-CN" sz="2400" dirty="0"/>
                  <a:t>When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zh-CN" sz="2400" dirty="0"/>
                  <a:t> </a:t>
                </a:r>
                <a:r>
                  <a:rPr lang="en-US" altLang="zh-CN" sz="2400" dirty="0"/>
                  <a:t>the </a:t>
                </a:r>
                <a:r>
                  <a:rPr lang="zh-CN" altLang="zh-CN" sz="2400" dirty="0"/>
                  <a:t>subject vehicle </a:t>
                </a:r>
                <a:r>
                  <a:rPr lang="en-US" altLang="zh-CN" sz="2400" dirty="0"/>
                  <a:t>is faster than the</a:t>
                </a:r>
                <a:r>
                  <a:rPr lang="zh-CN" altLang="zh-CN" sz="2400" dirty="0"/>
                  <a:t> leading vehicle</a:t>
                </a:r>
                <a:endParaRPr lang="en-US" altLang="zh-CN" sz="24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dirty="0"/>
                  <a:t>	(10.3)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Kinematic Equation in Continuous Time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 A priori kinematic relation stating that the time derivative of position equals instantaneous speed.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dirty="0"/>
                  <a:t>	(10.4)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6" y="990600"/>
                <a:ext cx="11706254" cy="5259197"/>
              </a:xfrm>
              <a:prstGeom prst="rect">
                <a:avLst/>
              </a:prstGeom>
              <a:blipFill>
                <a:blip r:embed="rId3"/>
                <a:stretch>
                  <a:fillRect l="-781" t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6B453-0A5C-5B10-814C-0CE4ACB4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2C636-8A46-0729-58C0-022EB0B60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760580-3583-9629-9230-36DD771BCE4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B53AE8-B56B-1E5D-1E83-0E7FB0ECF5C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DB8484-23F4-F685-5D0A-AFD74236DDB4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FBB930-2D2B-7118-5DEB-02F6ECF12A42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556983-A30F-3F23-E2E3-F7DA852A7F53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10.2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Mathematical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064F15-2BE5-CCB0-4282-50FD1AE4960E}"/>
                  </a:ext>
                </a:extLst>
              </p:cNvPr>
              <p:cNvSpPr txBox="1"/>
              <p:nvPr/>
            </p:nvSpPr>
            <p:spPr>
              <a:xfrm>
                <a:off x="384146" y="990600"/>
                <a:ext cx="11706254" cy="5059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According to (10.1)</a:t>
                </a:r>
                <a:r>
                  <a:rPr lang="zh-CN" altLang="zh-CN" sz="2400" dirty="0"/>
                  <a:t> Take the first derivative of both sides with respect to time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:</a:t>
                </a:r>
                <a:endParaRPr lang="en-US" altLang="zh-CN" sz="2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sz="2400" dirty="0"/>
                  <a:t>.</a:t>
                </a:r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2400" dirty="0"/>
                  <a:t>. Substituting the velocity definitions from Eq. (10.4),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zh-CN" sz="2400" dirty="0"/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Combining with the relative velocity formula Eq. (10.3),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, we obtain: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The rate of net gap closure (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zh-CN" sz="2400" dirty="0"/>
                  <a:t>) is strictly equal to the relative approach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zh-CN" sz="2400" dirty="0"/>
                  <a:t>of the subject vehicle toward the leading vehicle.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zh-CN" sz="2400" dirty="0"/>
                  <a:t>, indicating that the net gap is continuously shrinking.</a:t>
                </a:r>
              </a:p>
              <a:p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064F15-2BE5-CCB0-4282-50FD1AE49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6" y="990600"/>
                <a:ext cx="11706254" cy="5059462"/>
              </a:xfrm>
              <a:prstGeom prst="rect">
                <a:avLst/>
              </a:prstGeom>
              <a:blipFill>
                <a:blip r:embed="rId3"/>
                <a:stretch>
                  <a:fillRect l="-677" t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161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C7650-A71C-4F9C-2032-B5BE6FD3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F83EB-FC5D-0451-5F2F-9D4F8FD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697B42-EE01-0683-03D7-38E73D3E17F3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FF7CC3-34EA-0A7B-44DA-28F516F7AA30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92E847-97B4-467C-577B-86CA8895958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300EC7-C236-FB8C-7747-5D3EE8C4461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604F72-B98F-E731-251C-D8094A2E38BB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10.2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Mathematical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62A781A-1D17-FD0D-A464-42104D97C127}"/>
                  </a:ext>
                </a:extLst>
              </p:cNvPr>
              <p:cNvSpPr txBox="1"/>
              <p:nvPr/>
            </p:nvSpPr>
            <p:spPr>
              <a:xfrm>
                <a:off x="842006" y="1179281"/>
                <a:ext cx="11706254" cy="4438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Acceleration Equation for Continuous-Time Models</a:t>
                </a:r>
                <a:r>
                  <a:rPr lang="en-US" altLang="zh-CN" dirty="0"/>
                  <a:t>,</a:t>
                </a:r>
                <a:r>
                  <a:rPr lang="zh-CN" altLang="zh-CN" dirty="0"/>
                  <a:t> Continuous-time </a:t>
                </a:r>
                <a:r>
                  <a:rPr lang="en-US" altLang="zh-CN" dirty="0"/>
                  <a:t>CF </a:t>
                </a:r>
                <a:r>
                  <a:rPr lang="zh-CN" altLang="zh-CN" dirty="0"/>
                  <a:t>models differ fundamentally in the specific functional form of their microscopic acceleration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</m:oMath>
                </a14:m>
                <a:endParaRPr lang="zh-CN" altLang="zh-CN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	(10.5)</a:t>
                </a:r>
                <a:endParaRPr lang="zh-CN" altLang="zh-CN" dirty="0"/>
              </a:p>
              <a:p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System of Coupled ODEs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/>
                                    <m:t>mic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	(10.6)</a:t>
                </a:r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62A781A-1D17-FD0D-A464-42104D97C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06" y="1179281"/>
                <a:ext cx="11706254" cy="4438459"/>
              </a:xfrm>
              <a:prstGeom prst="rect">
                <a:avLst/>
              </a:prstGeom>
              <a:blipFill>
                <a:blip r:embed="rId3"/>
                <a:stretch>
                  <a:fillRect l="-677" t="-10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498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22F7E-C6D8-2CFB-2580-E0E926B5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F60F2-9610-AFC3-9751-2089D5554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36389E-2198-4D1D-A19F-583F33829CE6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4C50C0-550D-BC6F-575A-971D768D3D34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3353D9-D077-6633-E8E9-E18A3E7E917B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60624B-CD01-74D7-9A96-C7D53CACA89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2CC451-32C0-0F18-05D4-29C4F06D0AE5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10.2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Mathematical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06D297-D72B-921A-30CE-C9B966260982}"/>
                  </a:ext>
                </a:extLst>
              </p:cNvPr>
              <p:cNvSpPr txBox="1"/>
              <p:nvPr/>
            </p:nvSpPr>
            <p:spPr>
              <a:xfrm>
                <a:off x="842006" y="1179281"/>
                <a:ext cx="11706254" cy="6058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Speed Update in Discrete-Time Models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	(10.7)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Position Update in Discrete-Time Models)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		(10.8)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Explicit Euler Speed Update for Continuous Models)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	(10.9)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Euler &amp; Ballistic Position Update for Continuous Models)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First-Order Euler: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	(10.10.1)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Mixed / Ballistic Scheme: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	(10.10.2)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06D297-D72B-921A-30CE-C9B96626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06" y="1179281"/>
                <a:ext cx="11706254" cy="6058646"/>
              </a:xfrm>
              <a:prstGeom prst="rect">
                <a:avLst/>
              </a:prstGeom>
              <a:blipFill>
                <a:blip r:embed="rId3"/>
                <a:stretch>
                  <a:fillRect l="-677" t="-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86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4AA97-6C90-7546-C064-43391D6D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D30AD-D773-1EBC-F141-90B5F4A08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14C546-F78B-7BC3-FC74-58253556099B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FE364C-C414-0592-C4DC-C857FBEE957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3C741A-AFDE-822F-98CC-627B7A8F0887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F54BD3-E1D6-CB39-0D36-3515D569A5B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B1B8F0-EE8F-CA75-5F7B-37FC668B2900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10.3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Steady State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B0F0B25-0998-DE48-AF95-52A4F8D3505E}"/>
                  </a:ext>
                </a:extLst>
              </p:cNvPr>
              <p:cNvSpPr txBox="1"/>
              <p:nvPr/>
            </p:nvSpPr>
            <p:spPr>
              <a:xfrm>
                <a:off x="139700" y="1179281"/>
                <a:ext cx="11706254" cy="674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dirty="0"/>
                  <a:t>Steady-State Condition for Time-Continuous Models</a:t>
                </a:r>
                <a:r>
                  <a:rPr lang="en-US" altLang="zh-CN" dirty="0"/>
                  <a:t>,</a:t>
                </a:r>
                <a:r>
                  <a:rPr lang="zh-CN" altLang="zh-CN" dirty="0"/>
                  <a:t> when the gap is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dirty="0"/>
                  <a:t>, the subject vehicle's speed is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dirty="0"/>
                  <a:t>, and the leading vehicle's speed is also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zh-CN" altLang="zh-CN" dirty="0"/>
                  <a:t>relative speed is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dirty="0"/>
                  <a:t>), the output of the acceleration function must be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=0, </m:t>
                    </m:r>
                    <m:r>
                      <m:rPr>
                        <m:nor/>
                      </m:rPr>
                      <a:rPr lang="zh-CN" altLang="en-US" i="0"/>
                      <m:t>or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 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˜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	(10.12)</a:t>
                </a:r>
                <a:endParaRPr lang="zh-CN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Steady-State Condition for Discrete-Time Models: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i="0"/>
                          <m:t>mic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/>
                  <a:t>		(10.13)</a:t>
                </a:r>
              </a:p>
              <a:p>
                <a:r>
                  <a:rPr lang="zh-CN" altLang="zh-CN" dirty="0"/>
                  <a:t>Micro-Macro Relation between Gap and Density)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CN" dirty="0"/>
                  <a:t>		(10.14)</a:t>
                </a:r>
                <a:endParaRPr lang="zh-CN" altLang="zh-CN" dirty="0"/>
              </a:p>
              <a:p>
                <a:r>
                  <a:rPr lang="en-US" altLang="zh-CN" dirty="0"/>
                  <a:t>Steady-State Macroscopic Speed Equivalence: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dirty="0"/>
                  <a:t>	(10.15)</a:t>
                </a:r>
                <a:endParaRPr lang="zh-CN" altLang="zh-CN" dirty="0"/>
              </a:p>
              <a:p>
                <a:r>
                  <a:rPr lang="zh-CN" altLang="zh-CN" dirty="0"/>
                  <a:t>Macroscopic Steady-State Speed-Density Diagram and Fundamental Diagram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, 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altLang="zh-CN" dirty="0"/>
                  <a:t>	(10.16)</a:t>
                </a:r>
                <a:endParaRPr lang="zh-CN" altLang="zh-CN" dirty="0"/>
              </a:p>
              <a:p>
                <a:endParaRPr lang="en-US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B0F0B25-0998-DE48-AF95-52A4F8D35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1179281"/>
                <a:ext cx="11706254" cy="6746399"/>
              </a:xfrm>
              <a:prstGeom prst="rect">
                <a:avLst/>
              </a:prstGeom>
              <a:blipFill>
                <a:blip r:embed="rId3"/>
                <a:stretch>
                  <a:fillRect l="-833" t="-723" r="-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011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34564-827B-686A-85CC-3838B2A7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7166F-6DDB-214F-8A75-08BA18D3E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B9F4BD-1FDA-B967-3FA9-648F00C32412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98A0CA-BB13-4D0E-7A99-B449647BD8C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109AD7-B69B-2804-CE8B-6C2B742B4EF1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6D8315-391F-77F6-303A-15E7D2E281A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5B5B14-6437-6D22-C241-C99CB700AED5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10.4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Heterogeneous Traffic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0341D8-C227-4427-0A52-174F747A8BFF}"/>
              </a:ext>
            </a:extLst>
          </p:cNvPr>
          <p:cNvSpPr txBox="1"/>
          <p:nvPr/>
        </p:nvSpPr>
        <p:spPr>
          <a:xfrm>
            <a:off x="139700" y="1179281"/>
            <a:ext cx="1170625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zh-CN" dirty="0"/>
              <a:t>Two Ways to Model Heterogeneous Traffic</a:t>
            </a:r>
            <a:r>
              <a:rPr lang="en-US" altLang="zh-CN" dirty="0"/>
              <a:t>:</a:t>
            </a:r>
          </a:p>
          <a:p>
            <a:pPr marL="457200" indent="-457200">
              <a:buAutoNum type="arabicPeriod"/>
            </a:pPr>
            <a:r>
              <a:rPr lang="zh-CN" altLang="zh-CN" b="1" dirty="0"/>
              <a:t>Same Model with Different Parameter Values</a:t>
            </a:r>
            <a:r>
              <a:rPr lang="en-US" altLang="zh-CN" dirty="0"/>
              <a:t>:</a:t>
            </a:r>
            <a:r>
              <a:rPr lang="zh-CN" altLang="zh-CN" dirty="0"/>
              <a:t>All driver-vehicle units are described by the same model using different parameter values. </a:t>
            </a:r>
            <a:r>
              <a:rPr lang="en-US" altLang="zh-CN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Different parameter sets for different vehicle classes 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Assigning parameters to each driver individually via statistical distributions.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Assigning different parameter distributions to different vehicle classes.</a:t>
            </a:r>
          </a:p>
          <a:p>
            <a:r>
              <a:rPr lang="en-US" altLang="zh-CN" b="1" dirty="0"/>
              <a:t>2.</a:t>
            </a:r>
            <a:r>
              <a:rPr lang="zh-CN" altLang="zh-CN" b="1" dirty="0"/>
              <a:t> Different Models for Different Driver-Vehicle Classes</a:t>
            </a:r>
            <a:r>
              <a:rPr lang="en-US" altLang="zh-CN" b="1" dirty="0"/>
              <a:t>:</a:t>
            </a:r>
            <a:r>
              <a:rPr lang="zh-CN" altLang="zh-CN" dirty="0"/>
              <a:t> Different driver-vehicle classes can also be described with fundamentally different mathematical models. This allows us to directly represent qualitatively different driving characteristics</a:t>
            </a:r>
            <a:r>
              <a:rPr lang="en-US" altLang="zh-CN" dirty="0"/>
              <a:t>.</a:t>
            </a:r>
            <a:endParaRPr lang="zh-CN" altLang="zh-CN" b="1" dirty="0"/>
          </a:p>
          <a:p>
            <a:endParaRPr lang="en-US" altLang="zh-CN" dirty="0"/>
          </a:p>
          <a:p>
            <a:r>
              <a:rPr lang="en-US" altLang="zh-CN" b="1" dirty="0"/>
              <a:t>ATTENTION:</a:t>
            </a:r>
            <a:r>
              <a:rPr lang="zh-CN" altLang="zh-CN" dirty="0"/>
              <a:t> 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</a:t>
            </a:r>
            <a:r>
              <a:rPr lang="zh-CN" altLang="zh-CN" dirty="0"/>
              <a:t>imulating heterogeneous traffic is only sensible in the context of multi-lane traffic models.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When parameterizing heterogeneous traffic, it is favorable if the model parameters have an intuitive meaning</a:t>
            </a:r>
            <a:endParaRPr lang="en-US" altLang="zh-CN" dirty="0"/>
          </a:p>
          <a:p>
            <a:endParaRPr lang="en-US" altLang="zh-CN" b="1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7450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13B6B-C7C8-98FA-1700-B777B91D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FB299-E1D8-50ED-DB3C-4EE1EE6AF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1D7035-4F63-6928-C314-95895CC36F9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277A0A-4BCB-EDE2-296B-3D0ADB8096BB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011D7B-A6C4-C163-492F-A1186CBB8DC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414F35-AC4D-43E3-E32E-9803E30FF25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DC3DAA-EE16-EA87-950E-75C5B2FC113A}"/>
              </a:ext>
            </a:extLst>
          </p:cNvPr>
          <p:cNvSpPr txBox="1"/>
          <p:nvPr/>
        </p:nvSpPr>
        <p:spPr>
          <a:xfrm>
            <a:off x="177800" y="444414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10.5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Fact Sheet of Dynamical Model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E791B2-F6EC-AA79-970B-790B311F9666}"/>
                  </a:ext>
                </a:extLst>
              </p:cNvPr>
              <p:cNvSpPr txBox="1"/>
              <p:nvPr/>
            </p:nvSpPr>
            <p:spPr>
              <a:xfrm>
                <a:off x="177800" y="1350493"/>
                <a:ext cx="11706254" cy="4195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dirty="0"/>
                  <a:t>Spatial Linear Interpolation Formula for Local Speed</a:t>
                </a:r>
                <a:r>
                  <a:rPr lang="en-US" altLang="zh-CN" dirty="0"/>
                  <a:t>:</a:t>
                </a:r>
                <a:endParaRPr lang="zh-CN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b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b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b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smtClean="0">
                              <a:latin typeface="Cambria Math" panose="02040503050406030204" pitchFamily="18" charset="0"/>
                            </a:rPr>
                            <m:t>10.17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The purpose of (10.17) is to calculate the macroscopic local speed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at any spatial point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for a fixed time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dirty="0"/>
                  <a:t>by linearly interpolating between two bounding vehicles</a:t>
                </a:r>
                <a:r>
                  <a:rPr lang="en-US" altLang="zh-CN" dirty="0"/>
                  <a:t>.</a:t>
                </a:r>
                <a:r>
                  <a:rPr lang="zh-CN" altLang="zh-CN" dirty="0"/>
                  <a:t> (leader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/>
                  <a:t>and follower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zh-CN" dirty="0"/>
                  <a:t>).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E791B2-F6EC-AA79-970B-790B311F9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50493"/>
                <a:ext cx="11706254" cy="4195251"/>
              </a:xfrm>
              <a:prstGeom prst="rect">
                <a:avLst/>
              </a:prstGeom>
              <a:blipFill>
                <a:blip r:embed="rId3"/>
                <a:stretch>
                  <a:fillRect l="-781" t="-1163" r="-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76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F68CF-AF75-F31C-AE9C-05B08733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042CE-95C7-7025-42CB-DE330142C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6ED16C-8A1B-B2E7-78C4-04C4FF5B9D8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5D7550-B3C4-DF3A-EF2F-ADE99A4C1CBA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620BC9-BD94-2D79-7833-03B2EB8BB8E0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66E872-744C-5A9F-9D40-F89946EBC8E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4BA298-08D5-EDB1-82F8-4AE6335077FE}"/>
              </a:ext>
            </a:extLst>
          </p:cNvPr>
          <p:cNvSpPr txBox="1"/>
          <p:nvPr/>
        </p:nvSpPr>
        <p:spPr>
          <a:xfrm>
            <a:off x="177800" y="444414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10.6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Optimal Velocity Model(OVM)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458AD3-8576-2813-B819-D835223D8940}"/>
                  </a:ext>
                </a:extLst>
              </p:cNvPr>
              <p:cNvSpPr txBox="1"/>
              <p:nvPr/>
            </p:nvSpPr>
            <p:spPr>
              <a:xfrm>
                <a:off x="177800" y="1350493"/>
                <a:ext cx="11706254" cy="3849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dirty="0"/>
                  <a:t>It demonstrates that traffic flow instability can arise purely from a delayed speed relaxation towards a gap-dependent target speed, even without complex driver reactions</a:t>
                </a:r>
                <a:r>
                  <a:rPr lang="en-US" altLang="zh-CN" dirty="0"/>
                  <a:t>.</a:t>
                </a:r>
              </a:p>
              <a:p>
                <a:pPr/>
                <a:r>
                  <a:rPr lang="zh-CN" altLang="zh-CN" dirty="0"/>
                  <a:t>Governing Acceleration Equation of OVM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i="0"/>
                              <m:t>opt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 </m:t>
                    </m:r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10.19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b="1" dirty="0"/>
                  <a:t>Plausibility Conditions for the OV Function</a:t>
                </a:r>
                <a:r>
                  <a:rPr lang="zh-CN" altLang="en-US" b="1" dirty="0"/>
                  <a:t>：</a:t>
                </a:r>
                <a:endParaRPr lang="zh-CN" altLang="zh-CN" b="1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r>
                      <a:rPr lang="zh-CN" altLang="en-US"/>
                      <m:t>′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r>
                      <a:rPr lang="zh-CN" altLang="en-US"/>
                      <m:t>≥0, 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/>
                          <m:t>0</m:t>
                        </m:r>
                      </m:e>
                    </m:d>
                    <m:r>
                      <a:rPr lang="zh-CN" altLang="en-US"/>
                      <m:t>=0, </m:t>
                    </m:r>
                    <m:func>
                      <m:funcPr>
                        <m:ctrlPr>
                          <a:rPr lang="zh-CN" altLang="en-US" i="1"/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/>
                              <m:t>lim</m:t>
                            </m:r>
                          </m:e>
                          <m:lim>
                            <m:r>
                              <a:rPr lang="zh-CN" altLang="en-US" i="1"/>
                              <m:t>𝑠</m:t>
                            </m:r>
                            <m:r>
                              <a:rPr lang="zh-CN" altLang="en-US"/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/>
                              <m:t>opt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𝑠</m:t>
                            </m:r>
                          </m:e>
                        </m:d>
                      </m:e>
                    </m:func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/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	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10.20</a:t>
                </a:r>
                <a:r>
                  <a:rPr lang="zh-CN" altLang="en-US" dirty="0"/>
                  <a:t>）</a:t>
                </a:r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458AD3-8576-2813-B819-D835223D8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50493"/>
                <a:ext cx="11706254" cy="3849580"/>
              </a:xfrm>
              <a:prstGeom prst="rect">
                <a:avLst/>
              </a:prstGeom>
              <a:blipFill>
                <a:blip r:embed="rId3"/>
                <a:stretch>
                  <a:fillRect l="-781" t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329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66E14-AF56-87A7-C919-CDD41868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33D49-D63D-5AA5-97D9-490FABFCE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5064D7-2639-6BF6-3F6C-DEF8A8174D6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4390EF-8C01-D739-1FB7-2399B7D1DAB8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BCC08E-8ED2-0396-C9F6-105C2B87736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B8D56-6178-EC17-E24B-77AE396AFB3D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DAD7C1-BB74-64BB-A0DF-C2B3376C818E}"/>
              </a:ext>
            </a:extLst>
          </p:cNvPr>
          <p:cNvSpPr txBox="1"/>
          <p:nvPr/>
        </p:nvSpPr>
        <p:spPr>
          <a:xfrm>
            <a:off x="177800" y="444414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10.6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Optimal Velocity Model(OVM)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2A0FD1-81D1-3889-8C24-35181A038813}"/>
                  </a:ext>
                </a:extLst>
              </p:cNvPr>
              <p:cNvSpPr txBox="1"/>
              <p:nvPr/>
            </p:nvSpPr>
            <p:spPr>
              <a:xfrm>
                <a:off x="177800" y="1350493"/>
                <a:ext cx="11706254" cy="3227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zh-CN" b="1" dirty="0"/>
                  <a:t>Hyperbolic Tangent OV Function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/>
                          <m:t>0</m:t>
                        </m:r>
                      </m:sub>
                    </m:sSub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func>
                          <m:funcPr>
                            <m:ctrlPr>
                              <a:rPr lang="zh-CN" alt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/>
                              <m:t>tanh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/>
                                    </m:ctrlPr>
                                  </m:fPr>
                                  <m:num>
                                    <m:r>
                                      <a:rPr lang="zh-CN" altLang="en-US" i="1"/>
                                      <m:t>𝑠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altLang="en-US"/>
                                      <m:t>Δ</m:t>
                                    </m:r>
                                    <m:r>
                                      <a:rPr lang="zh-CN" altLang="en-US" i="1"/>
                                      <m:t>𝑠</m:t>
                                    </m:r>
                                  </m:den>
                                </m:f>
                                <m:r>
                                  <a:rPr lang="zh-CN" altLang="en-US"/>
                                  <m:t>−</m:t>
                                </m:r>
                                <m:r>
                                  <a:rPr lang="zh-CN" altLang="en-US" i="1"/>
                                  <m:t>𝛽</m:t>
                                </m:r>
                              </m:e>
                            </m:d>
                          </m:e>
                        </m:func>
                        <m:r>
                          <a:rPr lang="zh-CN" altLang="en-US"/>
                          <m:t>+</m:t>
                        </m:r>
                        <m:func>
                          <m:funcPr>
                            <m:ctrlPr>
                              <a:rPr lang="zh-CN" alt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/>
                              <m:t>tanh</m:t>
                            </m:r>
                          </m:fName>
                          <m:e>
                            <m:r>
                              <a:rPr lang="zh-CN" altLang="en-US" i="1"/>
                              <m:t>𝛽</m:t>
                            </m:r>
                          </m:e>
                        </m:func>
                      </m:num>
                      <m:den>
                        <m:r>
                          <a:rPr lang="zh-CN" altLang="en-US"/>
                          <m:t>1+</m:t>
                        </m:r>
                        <m:func>
                          <m:funcPr>
                            <m:ctrlPr>
                              <a:rPr lang="zh-CN" alt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/>
                              <m:t>tanh</m:t>
                            </m:r>
                          </m:fName>
                          <m:e>
                            <m:r>
                              <a:rPr lang="zh-CN" altLang="en-US" i="1"/>
                              <m:t>𝛽</m:t>
                            </m:r>
                          </m:e>
                        </m:func>
                      </m:den>
                    </m:f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10.21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b="1" dirty="0"/>
                  <a:t>Piecewise Linear / Triangular Equivalent OV Function)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r>
                      <a:rPr lang="zh-CN" altLang="en-US"/>
                      <m:t>=</m:t>
                    </m:r>
                    <m:func>
                      <m:funcPr>
                        <m:ctrlPr>
                          <a:rPr lang="zh-CN" alt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/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/>
                              <m:t>0,</m:t>
                            </m:r>
                            <m:func>
                              <m:funcPr>
                                <m:ctrlPr>
                                  <a:rPr lang="zh-CN" alt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/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/>
                                        </m:ctrlPr>
                                      </m:sSubPr>
                                      <m:e>
                                        <m:r>
                                          <a:rPr lang="zh-CN" altLang="en-US" i="1"/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zh-CN" altLang="en-US"/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zh-CN" altLang="en-US"/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altLang="en-US" i="1"/>
                                        </m:ctrlPr>
                                      </m:fPr>
                                      <m:num>
                                        <m:r>
                                          <a:rPr lang="zh-CN" altLang="en-US" i="1"/>
                                          <m:t>𝑠</m:t>
                                        </m:r>
                                        <m:r>
                                          <a:rPr lang="zh-CN" altLang="en-US"/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/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/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altLang="en-US" i="1"/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r>
                  <a:rPr lang="en-US" altLang="zh-CN" dirty="0"/>
                  <a:t>	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10.22</a:t>
                </a:r>
                <a:r>
                  <a:rPr lang="zh-CN" altLang="en-US" dirty="0"/>
                  <a:t>）</a:t>
                </a:r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2A0FD1-81D1-3889-8C24-35181A038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50493"/>
                <a:ext cx="11706254" cy="3227294"/>
              </a:xfrm>
              <a:prstGeom prst="rect">
                <a:avLst/>
              </a:prstGeom>
              <a:blipFill>
                <a:blip r:embed="rId3"/>
                <a:stretch>
                  <a:fillRect l="-677" t="-1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C3A2462B-1CCB-98CB-7E69-789537C20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69" y="3662768"/>
            <a:ext cx="7638095" cy="2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88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4823F-BFB4-F1E7-A866-93D413CD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F8603-667B-68DA-0751-B5F3E0655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B64E77-236E-A626-0089-F10781291775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5D14A5-CA31-FBA7-77E8-A848C06A746A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6615DD-7B14-B9D1-64A8-233216C2061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5799D4-9CD9-7DE4-80E5-2399A68EA86D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BAC16C-B74E-A94E-F827-6AE8B376DAFC}"/>
              </a:ext>
            </a:extLst>
          </p:cNvPr>
          <p:cNvSpPr txBox="1"/>
          <p:nvPr/>
        </p:nvSpPr>
        <p:spPr>
          <a:xfrm>
            <a:off x="177800" y="444414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10.6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Optimal Velocity Model(OVM)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D7936B-702E-5D7B-E9A1-471179BDFDFE}"/>
                  </a:ext>
                </a:extLst>
              </p:cNvPr>
              <p:cNvSpPr txBox="1"/>
              <p:nvPr/>
            </p:nvSpPr>
            <p:spPr>
              <a:xfrm>
                <a:off x="878889" y="3792772"/>
                <a:ext cx="10434222" cy="239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dirty="0"/>
                  <a:t>Governing Acceleration Equation of OVM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/>
                          </m:ctrlPr>
                        </m:sSubPr>
                        <m:e>
                          <m:r>
                            <a:rPr lang="zh-CN" altLang="en-US" i="1"/>
                            <m:t>𝑄</m:t>
                          </m:r>
                        </m:e>
                        <m:sub>
                          <m:r>
                            <a:rPr lang="zh-CN" altLang="en-US" i="1"/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 i="1"/>
                            <m:t>𝜌</m:t>
                          </m:r>
                        </m:e>
                      </m:d>
                      <m:r>
                        <a:rPr lang="zh-CN" altLang="en-US"/>
                        <m:t>=</m:t>
                      </m:r>
                      <m:func>
                        <m:funcPr>
                          <m:ctrlPr>
                            <a:rPr lang="zh-CN" altLang="en-US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/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/>
                                  </m:ctrlPr>
                                </m:sSubPr>
                                <m:e>
                                  <m:r>
                                    <a:rPr lang="zh-CN" altLang="en-US" i="1"/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/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/>
                                <m:t>𝜌</m:t>
                              </m:r>
                              <m:r>
                                <a:rPr lang="zh-CN" altLang="en-US"/>
                                <m:t>,</m:t>
                              </m:r>
                              <m:f>
                                <m:fPr>
                                  <m:ctrlPr>
                                    <a:rPr lang="zh-CN" altLang="en-US" i="1"/>
                                  </m:ctrlPr>
                                </m:fPr>
                                <m:num>
                                  <m:r>
                                    <a:rPr lang="zh-CN" altLang="en-US"/>
                                    <m:t>1−</m:t>
                                  </m:r>
                                  <m:r>
                                    <a:rPr lang="zh-CN" altLang="en-US" i="1"/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zh-CN" altLang="en-US" i="1"/>
                                      </m:ctrlPr>
                                    </m:dPr>
                                    <m:e>
                                      <m:r>
                                        <a:rPr lang="zh-CN" altLang="en-US" i="1"/>
                                        <m:t>𝑙</m:t>
                                      </m:r>
                                      <m:r>
                                        <a:rPr lang="zh-CN" altLang="en-US"/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/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/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zh-CN" altLang="en-US"/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zh-CN" altLang="en-US" i="1"/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D7936B-702E-5D7B-E9A1-471179BDF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89" y="3792772"/>
                <a:ext cx="10434222" cy="2399503"/>
              </a:xfrm>
              <a:prstGeom prst="rect">
                <a:avLst/>
              </a:prstGeom>
              <a:blipFill>
                <a:blip r:embed="rId3"/>
                <a:stretch>
                  <a:fillRect l="-876" t="-2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E7CABA8-2852-4F88-8916-2226575D5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667" y="974024"/>
            <a:ext cx="7847619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422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3D879-478C-254F-1795-65D61C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41BD6-F27A-C646-4425-5678A9183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A21195-39B1-16B8-2930-B7089031DA4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4DFABA-A2E3-DED8-F87E-3B74C5FDBB4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291E20-13B9-C1CE-71FC-E8966546174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A26449-5D31-EF25-02EF-AA221588878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F376A3-6D6F-E864-F912-48F66C6BF43D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10.7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Full Velocity Difference Model</a:t>
            </a: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FVDM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8B96D1-D898-6F2B-8DAB-EC3BE1CD253F}"/>
                  </a:ext>
                </a:extLst>
              </p:cNvPr>
              <p:cNvSpPr txBox="1"/>
              <p:nvPr/>
            </p:nvSpPr>
            <p:spPr>
              <a:xfrm>
                <a:off x="534504" y="1162705"/>
                <a:ext cx="11352695" cy="368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en-US" altLang="zh-CN" dirty="0"/>
                  <a:t>A</a:t>
                </a:r>
                <a:r>
                  <a:rPr lang="zh-CN" altLang="zh-CN" dirty="0"/>
                  <a:t>chieve </a:t>
                </a:r>
                <a:r>
                  <a:rPr lang="zh-CN" altLang="zh-CN" b="1" dirty="0"/>
                  <a:t>accident-free simulations</a:t>
                </a:r>
                <a:r>
                  <a:rPr lang="zh-CN" altLang="zh-CN" dirty="0"/>
                  <a:t> with a realistic adaptation time of several seconds.</a:t>
                </a:r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/>
                        <m:t>Full</m:t>
                      </m:r>
                      <m:r>
                        <m:rPr>
                          <m:nor/>
                        </m:rPr>
                        <a:rPr lang="zh-CN" altLang="en-US"/>
                        <m:t> </m:t>
                      </m:r>
                      <m:r>
                        <m:rPr>
                          <m:nor/>
                        </m:rPr>
                        <a:rPr lang="zh-CN" altLang="en-US"/>
                        <m:t>Velocity</m:t>
                      </m:r>
                      <m:r>
                        <m:rPr>
                          <m:nor/>
                        </m:rPr>
                        <a:rPr lang="zh-CN" altLang="en-US"/>
                        <m:t> </m:t>
                      </m:r>
                      <m:r>
                        <m:rPr>
                          <m:nor/>
                        </m:rPr>
                        <a:rPr lang="zh-CN" altLang="en-US"/>
                        <m:t>Difference</m:t>
                      </m:r>
                      <m:r>
                        <m:rPr>
                          <m:nor/>
                        </m:rPr>
                        <a:rPr lang="zh-CN" altLang="en-US"/>
                        <m:t> </m:t>
                      </m:r>
                      <m:r>
                        <m:rPr>
                          <m:nor/>
                        </m:rPr>
                        <a:rPr lang="zh-CN" altLang="en-US"/>
                        <m:t>Model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en-US"/>
                          </m:ctrlPr>
                        </m:accPr>
                        <m:e>
                          <m:r>
                            <a:rPr lang="zh-CN" altLang="en-US" i="1"/>
                            <m:t>𝑣</m:t>
                          </m:r>
                        </m:e>
                      </m:acc>
                      <m:r>
                        <a:rPr lang="zh-CN" altLang="en-US"/>
                        <m:t>=</m:t>
                      </m:r>
                      <m:f>
                        <m:fPr>
                          <m:ctrlPr>
                            <a:rPr lang="zh-CN" alt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/>
                              </m:ctrlPr>
                            </m:sSubPr>
                            <m:e>
                              <m:r>
                                <a:rPr lang="zh-CN" altLang="en-US" i="1"/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/>
                                <m:t>opt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r>
                                <a:rPr lang="zh-CN" altLang="en-US" i="1"/>
                                <m:t>𝑠</m:t>
                              </m:r>
                            </m:e>
                          </m:d>
                          <m:r>
                            <a:rPr lang="zh-CN" altLang="en-US"/>
                            <m:t>−</m:t>
                          </m:r>
                          <m:r>
                            <a:rPr lang="zh-CN" altLang="en-US" i="1"/>
                            <m:t>𝑣</m:t>
                          </m:r>
                        </m:num>
                        <m:den>
                          <m:r>
                            <a:rPr lang="zh-CN" altLang="en-US" i="1"/>
                            <m:t>𝜏</m:t>
                          </m:r>
                        </m:den>
                      </m:f>
                      <m:r>
                        <a:rPr lang="zh-CN" altLang="en-US"/>
                        <m:t>−</m:t>
                      </m:r>
                      <m:r>
                        <a:rPr lang="zh-CN" altLang="en-US" i="1"/>
                        <m:t>𝛾</m:t>
                      </m:r>
                      <m:r>
                        <m:rPr>
                          <m:sty m:val="p"/>
                        </m:rPr>
                        <a:rPr lang="zh-CN" altLang="en-US"/>
                        <m:t>Δ</m:t>
                      </m:r>
                      <m:r>
                        <a:rPr lang="zh-CN" altLang="en-US" i="1"/>
                        <m:t>𝑣</m:t>
                      </m:r>
                      <m:r>
                        <a:rPr lang="zh-CN" altLang="en-US"/>
                        <m:t>  </m:t>
                      </m:r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/>
                            <m:t>10.23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FVDM is driven by two components: 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</a:t>
                </a:r>
                <a:r>
                  <a:rPr lang="zh-CN" altLang="zh-CN" dirty="0"/>
                  <a:t>he OVM optimal velocity relaxation term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/>
                        </m:ctrlPr>
                      </m:fPr>
                      <m:num>
                        <m:sSub>
                          <m:sSubPr>
                            <m:ctrlPr>
                              <a:rPr lang="zh-CN" altLang="en-US"/>
                            </m:ctrlPr>
                          </m:sSubPr>
                          <m:e>
                            <m:r>
                              <a:rPr lang="zh-CN" altLang="en-US" b="0" i="1"/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/>
                              <m:t>opt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b="0" i="1"/>
                              <m:t>𝑠</m:t>
                            </m:r>
                          </m:e>
                        </m:d>
                        <m:r>
                          <a:rPr lang="zh-CN" altLang="en-US" b="0"/>
                          <m:t>−</m:t>
                        </m:r>
                        <m:r>
                          <a:rPr lang="zh-CN" altLang="en-US" b="0" i="1"/>
                          <m:t>𝑣</m:t>
                        </m:r>
                      </m:num>
                      <m:den>
                        <m:r>
                          <a:rPr lang="zh-CN" altLang="en-US" b="0" i="1"/>
                          <m:t>𝜏</m:t>
                        </m:r>
                      </m:den>
                    </m:f>
                  </m:oMath>
                </a14:m>
                <a:r>
                  <a:rPr lang="zh-CN" altLang="zh-CN" dirty="0"/>
                  <a:t>, describing speed adjustment toward the gap-dependent target speed; 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</a:t>
                </a:r>
                <a:r>
                  <a:rPr lang="zh-CN" altLang="zh-CN" dirty="0"/>
                  <a:t>he linear speed difference stimulus term 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zh-CN" altLang="en-US" b="0"/>
                      <m:t>−</m:t>
                    </m:r>
                    <m:r>
                      <a:rPr lang="zh-CN" altLang="en-US" b="0" i="1"/>
                      <m:t>𝛾𝛥</m:t>
                    </m:r>
                    <m:r>
                      <a:rPr lang="zh-CN" altLang="en-US" b="0" i="1"/>
                      <m:t>𝑣</m:t>
                    </m:r>
                  </m:oMath>
                </a14:m>
                <a:r>
                  <a:rPr lang="zh-CN" altLang="zh-CN" dirty="0"/>
                  <a:t>, describing the driver's direct reaction to the relative speed with the leading vehicle.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8B96D1-D898-6F2B-8DAB-EC3BE1CD2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04" y="1162705"/>
                <a:ext cx="11352695" cy="3688510"/>
              </a:xfrm>
              <a:prstGeom prst="rect">
                <a:avLst/>
              </a:prstGeom>
              <a:blipFill>
                <a:blip r:embed="rId3"/>
                <a:stretch>
                  <a:fillRect l="-859" t="-1322" b="-2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931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81F31-1C10-8CA0-4F1C-03504055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3956B-B0ED-6896-F132-4D3843650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9421B6-96DE-FF3B-69F9-06BDFF4E4F7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4084D6-7176-4A21-8764-00B31069C415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6A73BE-5255-77DF-E0AC-0B6663296DD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33F24D-4AFC-0803-4562-525F93A97971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854E98-C841-F21B-7C43-F192704B6699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10.7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Full Velocity Difference Model</a:t>
            </a: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FVDM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E3080E-DEBA-4904-2EFB-68ADE8CF0996}"/>
                  </a:ext>
                </a:extLst>
              </p:cNvPr>
              <p:cNvSpPr txBox="1"/>
              <p:nvPr/>
            </p:nvSpPr>
            <p:spPr>
              <a:xfrm>
                <a:off x="534504" y="1162705"/>
                <a:ext cx="11657496" cy="4753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dirty="0"/>
                  <a:t>The speed difference term </a:t>
                </a:r>
                <a:r>
                  <a:rPr lang="en-US" altLang="zh-CN" dirty="0"/>
                  <a:t> in </a:t>
                </a:r>
                <a:r>
                  <a:rPr lang="zh-CN" altLang="zh-CN" dirty="0"/>
                  <a:t>(10.23) is </a:t>
                </a:r>
                <a:r>
                  <a:rPr lang="zh-CN" altLang="zh-CN" b="1" dirty="0"/>
                  <a:t>completely independent of the gap </a:t>
                </a:r>
                <a14:m>
                  <m:oMath xmlns:m="http://schemas.openxmlformats.org/officeDocument/2006/math">
                    <m:r>
                      <a:rPr lang="zh-CN" altLang="en-US" i="1"/>
                      <m:t>𝑠</m:t>
                    </m:r>
                  </m:oMath>
                </a14:m>
                <a:r>
                  <a:rPr lang="zh-CN" altLang="zh-CN" dirty="0"/>
                  <a:t>. Consequently, simulated vehicles </a:t>
                </a:r>
                <a:r>
                  <a:rPr lang="zh-CN" altLang="zh-CN" b="1" dirty="0"/>
                  <a:t>cannot reach their desired speed</a:t>
                </a:r>
                <a:r>
                  <a:rPr lang="zh-CN" altLang="zh-CN" dirty="0"/>
                  <a:t> even on long empty roads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which makes it incomplete.</a:t>
                </a:r>
              </a:p>
              <a:p>
                <a:endParaRPr lang="en-US" altLang="zh-CN" dirty="0"/>
              </a:p>
              <a:p>
                <a:r>
                  <a:rPr lang="en-US" altLang="zh-CN" b="1" dirty="0"/>
                  <a:t>Improved logic: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	</a:t>
                </a:r>
                <a:r>
                  <a:rPr lang="zh-CN" altLang="zh-CN" dirty="0"/>
                  <a:t>Sensitivity to speed difference must decrease with distance gap </a:t>
                </a:r>
                <a14:m>
                  <m:oMath xmlns:m="http://schemas.openxmlformats.org/officeDocument/2006/math">
                    <m:r>
                      <a:rPr lang="zh-CN" altLang="en-US" i="1"/>
                      <m:t>𝑠</m:t>
                    </m:r>
                  </m:oMath>
                </a14:m>
                <a:r>
                  <a:rPr lang="zh-CN" altLang="zh-CN" dirty="0"/>
                  <a:t>and approach zero as </a:t>
                </a:r>
                <a14:m>
                  <m:oMath xmlns:m="http://schemas.openxmlformats.org/officeDocument/2006/math">
                    <m:r>
                      <a:rPr lang="zh-CN" altLang="en-US" i="1"/>
                      <m:t>𝑠</m:t>
                    </m:r>
                    <m:r>
                      <a:rPr lang="zh-CN" altLang="en-US"/>
                      <m:t>→∞</m:t>
                    </m:r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	</a:t>
                </a:r>
                <a:r>
                  <a:rPr lang="zh-CN" altLang="zh-CN" dirty="0"/>
                  <a:t>If replacing </a:t>
                </a:r>
                <a14:m>
                  <m:oMath xmlns:m="http://schemas.openxmlformats.org/officeDocument/2006/math">
                    <m:r>
                      <a:rPr lang="zh-CN" altLang="en-US"/>
                      <m:t>−</m:t>
                    </m:r>
                    <m:r>
                      <a:rPr lang="zh-CN" altLang="en-US" i="1"/>
                      <m:t>𝛾</m:t>
                    </m:r>
                    <m:r>
                      <m:rPr>
                        <m:sty m:val="p"/>
                      </m:rPr>
                      <a:rPr lang="zh-CN" altLang="en-US"/>
                      <m:t>Δ</m:t>
                    </m:r>
                    <m:r>
                      <a:rPr lang="zh-CN" altLang="en-US" i="1"/>
                      <m:t>𝑣</m:t>
                    </m:r>
                  </m:oMath>
                </a14:m>
                <a:r>
                  <a:rPr lang="zh-CN" altLang="zh-CN" dirty="0"/>
                  <a:t>directly with </a:t>
                </a:r>
                <a14:m>
                  <m:oMath xmlns:m="http://schemas.openxmlformats.org/officeDocument/2006/math">
                    <m:r>
                      <a:rPr lang="zh-CN" altLang="en-US"/>
                      <m:t>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acc>
                          <m:accPr>
                            <m:chr m:val="˜"/>
                            <m:ctrlPr>
                              <a:rPr lang="zh-CN" altLang="en-US" i="1"/>
                            </m:ctrlPr>
                          </m:accPr>
                          <m:e>
                            <m:r>
                              <a:rPr lang="zh-CN" altLang="en-US" i="1"/>
                              <m:t>𝛾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altLang="en-US"/>
                          <m:t>Δ</m:t>
                        </m:r>
                        <m:r>
                          <a:rPr lang="zh-CN" altLang="en-US" i="1"/>
                          <m:t>𝑣</m:t>
                        </m:r>
                      </m:num>
                      <m:den>
                        <m:r>
                          <a:rPr lang="zh-CN" altLang="en-US" i="1"/>
                          <m:t>𝑠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  <a:r>
                  <a:rPr lang="zh-CN" altLang="zh-CN" dirty="0"/>
                  <a:t>As </a:t>
                </a:r>
                <a14:m>
                  <m:oMath xmlns:m="http://schemas.openxmlformats.org/officeDocument/2006/math">
                    <m:r>
                      <a:rPr lang="zh-CN" altLang="en-US" i="1"/>
                      <m:t>𝑠</m:t>
                    </m:r>
                    <m:r>
                      <a:rPr lang="zh-CN" altLang="en-US"/>
                      <m:t>→0</m:t>
                    </m:r>
                  </m:oMath>
                </a14:m>
                <a:r>
                  <a:rPr lang="zh-CN" altLang="zh-CN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/>
                        </m:ctrlPr>
                      </m:fPr>
                      <m:num>
                        <m:acc>
                          <m:accPr>
                            <m:chr m:val="˜"/>
                            <m:ctrlPr>
                              <a:rPr lang="zh-CN" altLang="en-US"/>
                            </m:ctrlPr>
                          </m:accPr>
                          <m:e>
                            <m:r>
                              <a:rPr lang="zh-CN" altLang="en-US" i="1"/>
                              <m:t>𝛾</m:t>
                            </m:r>
                          </m:e>
                        </m:acc>
                      </m:num>
                      <m:den>
                        <m:r>
                          <a:rPr lang="zh-CN" altLang="en-US" i="1"/>
                          <m:t>𝑠</m:t>
                        </m:r>
                      </m:den>
                    </m:f>
                    <m:r>
                      <a:rPr lang="zh-CN" altLang="en-US"/>
                      <m:t>→∞</m:t>
                    </m:r>
                  </m:oMath>
                </a14:m>
                <a:r>
                  <a:rPr lang="zh-CN" altLang="zh-CN" dirty="0"/>
                  <a:t>, causing sensitivity to diverge, which is unphysical</a:t>
                </a:r>
                <a:r>
                  <a:rPr lang="en-US" altLang="zh-CN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	A</a:t>
                </a:r>
                <a:r>
                  <a:rPr lang="zh-CN" altLang="zh-CN" dirty="0"/>
                  <a:t>pply inverse gap decay only when the gap </a:t>
                </a:r>
                <a14:m>
                  <m:oMath xmlns:m="http://schemas.openxmlformats.org/officeDocument/2006/math">
                    <m:r>
                      <a:rPr lang="zh-CN" altLang="en-US" b="0" i="1"/>
                      <m:t>𝑠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exceeds the interaction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b="0" i="1"/>
                          <m:t>𝑣</m:t>
                        </m:r>
                      </m:e>
                      <m:sub>
                        <m:r>
                          <a:rPr lang="zh-CN" altLang="en-US" b="0"/>
                          <m:t>0</m:t>
                        </m:r>
                      </m:sub>
                    </m:sSub>
                    <m:r>
                      <a:rPr lang="zh-CN" altLang="en-US" b="0" i="1"/>
                      <m:t>𝑇</m:t>
                    </m:r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en-US"/>
                          </m:ctrlPr>
                        </m:accPr>
                        <m:e>
                          <m:r>
                            <a:rPr lang="zh-CN" altLang="en-US" i="1"/>
                            <m:t>𝑣</m:t>
                          </m:r>
                        </m:e>
                      </m:acc>
                      <m:r>
                        <a:rPr lang="zh-CN" altLang="en-US"/>
                        <m:t>=</m:t>
                      </m:r>
                      <m:f>
                        <m:fPr>
                          <m:ctrlPr>
                            <a:rPr lang="zh-CN" alt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/>
                              </m:ctrlPr>
                            </m:sSubPr>
                            <m:e>
                              <m:r>
                                <a:rPr lang="zh-CN" altLang="en-US" i="1"/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/>
                                <m:t>opt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r>
                                <a:rPr lang="zh-CN" altLang="en-US" i="1"/>
                                <m:t>𝑠</m:t>
                              </m:r>
                            </m:e>
                          </m:d>
                          <m:r>
                            <a:rPr lang="zh-CN" altLang="en-US"/>
                            <m:t>−</m:t>
                          </m:r>
                          <m:r>
                            <a:rPr lang="zh-CN" altLang="en-US" i="1"/>
                            <m:t>𝑣</m:t>
                          </m:r>
                        </m:num>
                        <m:den>
                          <m:r>
                            <a:rPr lang="zh-CN" altLang="en-US" i="1"/>
                            <m:t>𝜏</m:t>
                          </m:r>
                        </m:den>
                      </m:f>
                      <m:r>
                        <a:rPr lang="zh-CN" altLang="en-US"/>
                        <m:t>−</m:t>
                      </m:r>
                      <m:f>
                        <m:fPr>
                          <m:ctrlPr>
                            <a:rPr lang="zh-CN" altLang="en-US" i="1"/>
                          </m:ctrlPr>
                        </m:fPr>
                        <m:num>
                          <m:r>
                            <a:rPr lang="zh-CN" altLang="en-US" i="1"/>
                            <m:t>𝛾</m:t>
                          </m:r>
                          <m:r>
                            <m:rPr>
                              <m:sty m:val="p"/>
                            </m:rPr>
                            <a:rPr lang="zh-CN" altLang="en-US"/>
                            <m:t>Δ</m:t>
                          </m:r>
                          <m:r>
                            <a:rPr lang="zh-CN" altLang="en-US" i="1"/>
                            <m:t>𝑣</m:t>
                          </m:r>
                        </m:num>
                        <m:den>
                          <m:func>
                            <m:funcPr>
                              <m:ctrlPr>
                                <a:rPr lang="zh-CN" altLang="en-US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/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/>
                                    <m:t>1, </m:t>
                                  </m:r>
                                  <m:r>
                                    <a:rPr lang="zh-CN" altLang="en-US" i="1"/>
                                    <m:t>𝑠</m:t>
                                  </m:r>
                                  <m:r>
                                    <a:rPr lang="zh-CN" altLang="en-US"/>
                                    <m:t>/</m:t>
                                  </m:r>
                                  <m:d>
                                    <m:dPr>
                                      <m:ctrlPr>
                                        <a:rPr lang="zh-CN" alt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/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/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zh-CN" altLang="en-US"/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zh-CN" altLang="en-US" i="1"/>
                                        <m:t>𝑇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  <m:r>
                        <a:rPr lang="zh-CN" altLang="en-US"/>
                        <m:t> </m:t>
                      </m:r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/>
                            <m:t>10.24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E3080E-DEBA-4904-2EFB-68ADE8CF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04" y="1162705"/>
                <a:ext cx="11657496" cy="4753353"/>
              </a:xfrm>
              <a:prstGeom prst="rect">
                <a:avLst/>
              </a:prstGeom>
              <a:blipFill>
                <a:blip r:embed="rId3"/>
                <a:stretch>
                  <a:fillRect l="-837" t="-1027" r="-1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714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14244-5877-1A2B-E81E-471CB35C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CE858-7A9B-6998-3238-440B87C0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26F0E6-7E51-96DB-629C-7E049E2AC49C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D9ECFC-517E-D12C-30BB-C08411BA6383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03E7BA-1504-6BC3-5F90-7B5AA9FD116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BC98B6-976F-901B-8523-0114E38F944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8A1F0-A34B-D35D-D38B-9A4A1A16BF82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10.8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Newell’s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B26D0B-F42D-03E8-A77A-936431D31F8B}"/>
                  </a:ext>
                </a:extLst>
              </p:cNvPr>
              <p:cNvSpPr txBox="1"/>
              <p:nvPr/>
            </p:nvSpPr>
            <p:spPr>
              <a:xfrm>
                <a:off x="534504" y="1162705"/>
                <a:ext cx="11692132" cy="4617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Basic Formulation of Newell's Model</a:t>
                </a:r>
                <a:r>
                  <a:rPr lang="en-US" altLang="zh-CN" dirty="0"/>
                  <a:t>:</a:t>
                </a:r>
                <a:r>
                  <a:rPr lang="zh-CN" altLang="zh-CN" dirty="0"/>
                  <a:t> </a:t>
                </a:r>
                <a:endParaRPr lang="en-US" altLang="zh-CN" i="1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/>
                      <m:t>𝑣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a:rPr lang="zh-CN" altLang="en-US" i="1"/>
                          <m:t>𝑇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/>
                      <m:t>, 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r>
                      <a:rPr lang="zh-CN" altLang="en-US"/>
                      <m:t>=</m:t>
                    </m:r>
                    <m:func>
                      <m:funcPr>
                        <m:ctrlPr>
                          <a:rPr lang="zh-CN" alt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/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/>
                                </m:ctrlPr>
                              </m:sSubPr>
                              <m:e>
                                <m:r>
                                  <a:rPr lang="zh-CN" altLang="en-US" i="1"/>
                                  <m:t>𝑣</m:t>
                                </m:r>
                              </m:e>
                              <m:sub>
                                <m:r>
                                  <a:rPr lang="zh-CN" altLang="en-US"/>
                                  <m:t>0</m:t>
                                </m:r>
                              </m:sub>
                            </m:sSub>
                            <m:r>
                              <a:rPr lang="zh-CN" altLang="en-US"/>
                              <m:t>,</m:t>
                            </m:r>
                            <m:f>
                              <m:fPr>
                                <m:ctrlPr>
                                  <a:rPr lang="zh-CN" altLang="en-US" i="1"/>
                                </m:ctrlPr>
                              </m:fPr>
                              <m:num>
                                <m:r>
                                  <a:rPr lang="zh-CN" altLang="en-US" i="1"/>
                                  <m:t>𝑠</m:t>
                                </m:r>
                              </m:num>
                              <m:den>
                                <m:r>
                                  <a:rPr lang="zh-CN" altLang="en-US" i="1"/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dirty="0"/>
                  <a:t>	(10.25)</a:t>
                </a:r>
                <a:endParaRPr lang="zh-CN" altLang="zh-CN" dirty="0"/>
              </a:p>
              <a:p>
                <a:r>
                  <a:rPr lang="en-US" altLang="zh-CN" dirty="0"/>
                  <a:t>	V</a:t>
                </a:r>
                <a:r>
                  <a:rPr lang="zh-CN" altLang="zh-CN" dirty="0"/>
                  <a:t>ehicle's speed at time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  <m:r>
                      <a:rPr lang="zh-CN" altLang="en-US"/>
                      <m:t>+</m:t>
                    </m:r>
                    <m:r>
                      <a:rPr lang="zh-CN" altLang="en-US" i="1"/>
                      <m:t>𝑇</m:t>
                    </m:r>
                  </m:oMath>
                </a14:m>
                <a:r>
                  <a:rPr lang="zh-CN" altLang="zh-CN" dirty="0"/>
                  <a:t>is directly governed by the optimal speed function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evaluated at the spatial gap </a:t>
                </a:r>
                <a14:m>
                  <m:oMath xmlns:m="http://schemas.openxmlformats.org/officeDocument/2006/math">
                    <m:r>
                      <a:rPr lang="zh-CN" altLang="en-US" i="1"/>
                      <m:t>𝑠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at time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Kinematic Wave Velocity Formula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zh-CN" altLang="en-US" i="1"/>
                      <m:t>𝑤</m:t>
                    </m:r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cong</m:t>
                        </m:r>
                      </m:sub>
                    </m:sSub>
                    <m:r>
                      <a:rPr lang="zh-CN" altLang="en-US"/>
                      <m:t>=−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𝑙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/>
                              <m:t>eff</m:t>
                            </m:r>
                          </m:sub>
                        </m:sSub>
                      </m:num>
                      <m:den>
                        <m:r>
                          <a:rPr lang="zh-CN" altLang="en-US" i="1"/>
                          <m:t>𝑇</m:t>
                        </m:r>
                      </m:den>
                    </m:f>
                  </m:oMath>
                </a14:m>
                <a:r>
                  <a:rPr lang="en-US" altLang="zh-CN" dirty="0"/>
                  <a:t>	</a:t>
                </a:r>
              </a:p>
              <a:p>
                <a:r>
                  <a:rPr lang="en-US" altLang="zh-CN" dirty="0"/>
                  <a:t>	T</a:t>
                </a:r>
                <a:r>
                  <a:rPr lang="zh-CN" altLang="zh-CN" dirty="0"/>
                  <a:t>he backward propagation speed of kinematic waves in congested traffic. It shows that traffic perturbations propagate upstream at a constant wave velocity </a:t>
                </a:r>
                <a14:m>
                  <m:oMath xmlns:m="http://schemas.openxmlformats.org/officeDocument/2006/math">
                    <m:r>
                      <a:rPr lang="zh-CN" altLang="en-US" i="1"/>
                      <m:t>𝑤</m:t>
                    </m:r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Relation to OVM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𝑥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m:rPr>
                            <m:sty m:val="p"/>
                          </m:rPr>
                          <a:rPr lang="zh-CN" altLang="en-US"/>
                          <m:t>Δ</m:t>
                        </m:r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𝑥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+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m:rPr>
                            <m:sty m:val="p"/>
                          </m:rPr>
                          <a:rPr lang="zh-CN" altLang="en-US"/>
                          <m:t>Δ</m:t>
                        </m:r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zh-CN" altLang="en-US"/>
                      <m:t>Δ</m:t>
                    </m:r>
                    <m:r>
                      <a:rPr lang="zh-CN" altLang="en-US" i="1"/>
                      <m:t>𝑡</m:t>
                    </m:r>
                  </m:oMath>
                </a14:m>
                <a:r>
                  <a:rPr lang="en-US" altLang="zh-CN" dirty="0"/>
                  <a:t>	(10.26)</a:t>
                </a:r>
              </a:p>
              <a:p>
                <a:r>
                  <a:rPr lang="en-US" altLang="zh-CN" dirty="0"/>
                  <a:t>	I</a:t>
                </a:r>
                <a:r>
                  <a:rPr lang="zh-CN" altLang="zh-CN" dirty="0"/>
                  <a:t>n congested traffic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 i="1"/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r>
                      <a:rPr lang="zh-CN" altLang="en-US"/>
                      <m:t>&lt;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/>
                          <m:t>0</m:t>
                        </m:r>
                      </m:sub>
                    </m:sSub>
                  </m:oMath>
                </a14:m>
                <a:r>
                  <a:rPr lang="zh-CN" altLang="zh-CN" dirty="0"/>
                  <a:t>), Newell's model is mathematically equivalent to the OVM when using this positional update scheme with adaptation time </a:t>
                </a:r>
                <a14:m>
                  <m:oMath xmlns:m="http://schemas.openxmlformats.org/officeDocument/2006/math">
                    <m:r>
                      <a:rPr lang="zh-CN" altLang="en-US" i="1"/>
                      <m:t>𝜏</m:t>
                    </m:r>
                    <m:r>
                      <a:rPr lang="zh-CN" altLang="en-US"/>
                      <m:t>=</m:t>
                    </m:r>
                    <m:r>
                      <a:rPr lang="zh-CN" altLang="en-US" i="1"/>
                      <m:t>𝑇</m:t>
                    </m:r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B26D0B-F42D-03E8-A77A-936431D31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04" y="1162705"/>
                <a:ext cx="11692132" cy="4617226"/>
              </a:xfrm>
              <a:prstGeom prst="rect">
                <a:avLst/>
              </a:prstGeom>
              <a:blipFill>
                <a:blip r:embed="rId3"/>
                <a:stretch>
                  <a:fillRect l="-834" t="-1057" r="-104" b="-2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386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315BD-97C1-33D9-8F34-E31A1845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D1799-AEE5-B822-A630-9A29BEF96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CE8C0-BBF7-E504-5A8E-86FBDC83B0B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3D3E81-1097-AEFB-B249-059C235AD49D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856420-110B-3F5C-380E-86AFF369900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742BA2-ECE9-62A7-0DF8-3F34FB17E66A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B425EF-4AC4-1E10-EEFC-779D8201AA80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10.8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Newell’s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FE3A3B8-D11F-B0AF-09BF-CA6742875DE2}"/>
                  </a:ext>
                </a:extLst>
              </p:cNvPr>
              <p:cNvSpPr txBox="1"/>
              <p:nvPr/>
            </p:nvSpPr>
            <p:spPr>
              <a:xfrm>
                <a:off x="534504" y="3429000"/>
                <a:ext cx="11692132" cy="2404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endParaRPr lang="en-US" altLang="zh-CN" dirty="0"/>
              </a:p>
              <a:p>
                <a:r>
                  <a:rPr lang="zh-CN" altLang="zh-CN" dirty="0"/>
                  <a:t>Trajectory Recursion from Driver's Point of View </a:t>
                </a:r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𝑥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a:rPr lang="zh-CN" altLang="en-US" i="1"/>
                          <m:t>𝑇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𝑥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  <m:r>
                          <a:rPr lang="zh-CN" altLang="en-US"/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+</m:t>
                    </m:r>
                    <m:r>
                      <a:rPr lang="zh-CN" altLang="en-US" i="1"/>
                      <m:t>𝑤𝑇</m:t>
                    </m:r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𝑥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  <m:r>
                          <a:rPr lang="zh-CN" altLang="en-US"/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−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𝑙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eff</m:t>
                        </m:r>
                      </m:sub>
                    </m:sSub>
                    <m:r>
                      <a:rPr lang="zh-CN" altLang="en-US"/>
                      <m:t>, 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a:rPr lang="zh-CN" altLang="en-US" i="1"/>
                          <m:t>𝑇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  <m:r>
                          <a:rPr lang="zh-CN" altLang="en-US"/>
                          <m:t>−1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	(10.27)</a:t>
                </a:r>
              </a:p>
              <a:p>
                <a:r>
                  <a:rPr lang="en-US" altLang="zh-CN" dirty="0"/>
                  <a:t>	Model </a:t>
                </a:r>
                <a:r>
                  <a:rPr lang="zh-CN" altLang="zh-CN" dirty="0"/>
                  <a:t>states that the position of follower </a:t>
                </a:r>
                <a14:m>
                  <m:oMath xmlns:m="http://schemas.openxmlformats.org/officeDocument/2006/math">
                    <m:r>
                      <a:rPr lang="zh-CN" altLang="en-US" i="1"/>
                      <m:t>𝛼</m:t>
                    </m:r>
                  </m:oMath>
                </a14:m>
                <a:r>
                  <a:rPr lang="zh-CN" altLang="zh-CN" dirty="0"/>
                  <a:t>at time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  <m:r>
                      <a:rPr lang="zh-CN" altLang="en-US"/>
                      <m:t>+</m:t>
                    </m:r>
                    <m:r>
                      <a:rPr lang="zh-CN" altLang="en-US" i="1"/>
                      <m:t>𝑇</m:t>
                    </m:r>
                  </m:oMath>
                </a14:m>
                <a:r>
                  <a:rPr lang="zh-CN" altLang="zh-CN" dirty="0"/>
                  <a:t>is exactly the position of leader </a:t>
                </a:r>
                <a14:m>
                  <m:oMath xmlns:m="http://schemas.openxmlformats.org/officeDocument/2006/math">
                    <m:r>
                      <a:rPr lang="zh-CN" altLang="en-US" i="1"/>
                      <m:t>𝛼</m:t>
                    </m:r>
                    <m:r>
                      <a:rPr lang="zh-CN" altLang="en-US"/>
                      <m:t>−1</m:t>
                    </m:r>
                  </m:oMath>
                </a14:m>
                <a:r>
                  <a:rPr lang="zh-CN" altLang="zh-CN" dirty="0"/>
                  <a:t>at time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</m:oMath>
                </a14:m>
                <a:r>
                  <a:rPr lang="zh-CN" altLang="zh-CN" dirty="0"/>
                  <a:t>minus the effective vehicle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𝑙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eff</m:t>
                        </m:r>
                      </m:sub>
                    </m:sSub>
                  </m:oMath>
                </a14:m>
                <a:r>
                  <a:rPr lang="zh-CN" altLang="zh-CN" dirty="0"/>
                  <a:t>, and the follower's speed profile exact duplicates that of its leader with a time delay </a:t>
                </a:r>
                <a14:m>
                  <m:oMath xmlns:m="http://schemas.openxmlformats.org/officeDocument/2006/math">
                    <m:r>
                      <a:rPr lang="zh-CN" altLang="en-US" i="1"/>
                      <m:t>𝑇</m:t>
                    </m:r>
                  </m:oMath>
                </a14:m>
                <a:r>
                  <a:rPr lang="zh-CN" altLang="zh-CN" dirty="0"/>
                  <a:t>.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FE3A3B8-D11F-B0AF-09BF-CA6742875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04" y="3429000"/>
                <a:ext cx="11692132" cy="2404697"/>
              </a:xfrm>
              <a:prstGeom prst="rect">
                <a:avLst/>
              </a:prstGeom>
              <a:blipFill>
                <a:blip r:embed="rId3"/>
                <a:stretch>
                  <a:fillRect l="-834" r="-365" b="-4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9C6A4935-AF92-D15E-C468-FCB219272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989" y="952500"/>
            <a:ext cx="4940021" cy="288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96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86BF8-A246-2A34-E670-6E98FFB2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E2237-8DD0-A0A1-838A-1C36FEADC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17ADDB-4AD1-65DD-072C-2376ADD7F1D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D209A8-B629-9C07-CC44-4953B5BC093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33CD28-8DFE-7DAD-70A6-06F6B81347B9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79A29B-8FFB-E0C0-1C9B-BF494E307D8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014DC9-91FD-8681-67D9-DF87C88D8546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10.8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Newell’s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AAAA02-AF46-B104-9223-060E0B843742}"/>
                  </a:ext>
                </a:extLst>
              </p:cNvPr>
              <p:cNvSpPr txBox="1"/>
              <p:nvPr/>
            </p:nvSpPr>
            <p:spPr>
              <a:xfrm>
                <a:off x="-91210" y="1162705"/>
                <a:ext cx="11692132" cy="5163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b="1" dirty="0"/>
                  <a:t>Derivation Formulas toward Macroscopic Payne's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a:rPr lang="zh-CN" altLang="en-US" i="1"/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=</m:t>
                    </m:r>
                    <m:r>
                      <a:rPr lang="zh-CN" altLang="en-US" i="1"/>
                      <m:t>𝑉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  <m:sub>
                            <m:r>
                              <a:rPr lang="zh-CN" altLang="en-US" i="1"/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𝑡</m:t>
                            </m:r>
                          </m:e>
                        </m:d>
                        <m:r>
                          <a:rPr lang="zh-CN" altLang="en-US"/>
                          <m:t>,</m:t>
                        </m:r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=</m:t>
                    </m:r>
                    <m:r>
                      <a:rPr lang="zh-CN" altLang="en-US" i="1"/>
                      <m:t>𝑉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𝑥</m:t>
                        </m:r>
                        <m:r>
                          <a:rPr lang="zh-CN" altLang="en-US"/>
                          <m:t>,</m:t>
                        </m:r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	(10.28)</a:t>
                </a:r>
                <a:endParaRPr lang="zh-CN" altLang="zh-CN" dirty="0"/>
              </a:p>
              <a:p>
                <a:r>
                  <a:rPr lang="zh-CN" altLang="zh-CN" dirty="0"/>
                  <a:t>Micro-to-macro speed mapping, assuming individual vehicle speed equals the macroscopic speed field value evaluated at its spatial position.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b="1" dirty="0"/>
                  <a:t>Payne's macroscopic traffic model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dirty="0"/>
                  <a:t>	(10.31)</a:t>
                </a:r>
              </a:p>
              <a:p>
                <a:r>
                  <a:rPr lang="en-US" altLang="zh-CN" dirty="0"/>
                  <a:t>	</a:t>
                </a:r>
                <a:r>
                  <a:rPr lang="zh-CN" altLang="zh-CN" dirty="0"/>
                  <a:t>First-order Taylor expansion of the left-hand 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zh-CN" dirty="0"/>
                  <a:t>of Newell's model</a:t>
                </a:r>
                <a:r>
                  <a:rPr lang="en-US" altLang="zh-CN" dirty="0"/>
                  <a:t>.</a:t>
                </a:r>
                <a:r>
                  <a:rPr lang="zh-CN" altLang="zh-CN" dirty="0"/>
                  <a:t>First-order Taylor expansion of the right-hand 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zh-CN" dirty="0"/>
                  <a:t>of Newell's model. Equating</a:t>
                </a:r>
                <a:r>
                  <a:rPr lang="en-US" altLang="zh-CN" dirty="0"/>
                  <a:t> the </a:t>
                </a:r>
                <a:r>
                  <a:rPr lang="en-US" altLang="zh-CN" dirty="0" err="1"/>
                  <a:t>function,we</a:t>
                </a:r>
                <a:r>
                  <a:rPr lang="en-US" altLang="zh-CN" dirty="0"/>
                  <a:t> get </a:t>
                </a:r>
                <a:r>
                  <a:rPr lang="zh-CN" altLang="zh-CN" b="1" dirty="0"/>
                  <a:t>Payne's macroscopic traffic model</a:t>
                </a:r>
                <a:r>
                  <a:rPr lang="zh-CN" altLang="zh-CN" dirty="0"/>
                  <a:t>. 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zh-CN" dirty="0"/>
                  <a:t> Newell's microscopic model is asymptotically equivalent to Payne's model in the macroscopic continuum limit.</a:t>
                </a: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AAAA02-AF46-B104-9223-060E0B843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210" y="1162705"/>
                <a:ext cx="11692132" cy="5163208"/>
              </a:xfrm>
              <a:prstGeom prst="rect">
                <a:avLst/>
              </a:prstGeom>
              <a:blipFill>
                <a:blip r:embed="rId3"/>
                <a:stretch>
                  <a:fillRect l="-782" t="-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336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701D3-B444-ABA1-2752-C96306EB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387B1-1C66-A6B8-4F4D-818F5C9C9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84E6EB-47DE-0F72-3DFC-C97154D71C18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497F3-2D46-6835-CD96-59A8F1741B5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FADCDB-7C39-19E1-E687-72CFDA175CB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53C7CA-51F7-7FF6-EB7D-22BDB9C00CBF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47A5F2-757C-5AF2-772A-23107223F0F7}"/>
              </a:ext>
            </a:extLst>
          </p:cNvPr>
          <p:cNvSpPr txBox="1"/>
          <p:nvPr/>
        </p:nvSpPr>
        <p:spPr>
          <a:xfrm>
            <a:off x="177800" y="460990"/>
            <a:ext cx="1204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10.8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Newell’s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CFB043D-4856-F06C-3B00-40577C85169C}"/>
                  </a:ext>
                </a:extLst>
              </p:cNvPr>
              <p:cNvSpPr txBox="1"/>
              <p:nvPr/>
            </p:nvSpPr>
            <p:spPr>
              <a:xfrm>
                <a:off x="398268" y="1162705"/>
                <a:ext cx="11692132" cy="460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/>
                </a:lvl1pPr>
              </a:lstStyle>
              <a:p>
                <a:r>
                  <a:rPr lang="zh-CN" altLang="zh-CN" b="1" dirty="0"/>
                  <a:t>Extended Newell Model with Anticipation and Relation to FVDM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/>
                      <m:t>𝑣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r>
                          <a:rPr lang="zh-CN" altLang="en-US" i="1"/>
                          <m:t>𝑇</m:t>
                        </m:r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𝑡</m:t>
                            </m:r>
                          </m:e>
                        </m:d>
                        <m:r>
                          <a:rPr lang="zh-CN" altLang="en-US"/>
                          <m:t>−</m:t>
                        </m:r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𝑇</m:t>
                            </m:r>
                          </m:e>
                          <m:sub>
                            <m:r>
                              <a:rPr lang="zh-CN" altLang="en-US" i="1"/>
                              <m:t>𝑎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altLang="en-US"/>
                          <m:t>Δ</m:t>
                        </m:r>
                        <m:r>
                          <a:rPr lang="zh-CN" altLang="en-US" i="1"/>
                          <m:t>𝑣</m:t>
                        </m:r>
                      </m:e>
                    </m:d>
                    <m:r>
                      <a:rPr lang="zh-CN" altLang="en-US"/>
                      <m:t>≈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/>
                      <m:t>−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/>
                          <m:t>opt</m:t>
                        </m:r>
                      </m:sub>
                    </m:sSub>
                    <m:r>
                      <a:rPr lang="zh-CN" altLang="en-US"/>
                      <m:t>′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𝑠</m:t>
                        </m:r>
                      </m:e>
                    </m:d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𝑇</m:t>
                        </m:r>
                      </m:e>
                      <m:sub>
                        <m:r>
                          <a:rPr lang="zh-CN" altLang="en-US" i="1"/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/>
                      <m:t>Δ</m:t>
                    </m:r>
                    <m:r>
                      <a:rPr lang="zh-CN" altLang="en-US" i="1"/>
                      <m:t>𝑣</m:t>
                    </m:r>
                  </m:oMath>
                </a14:m>
                <a:r>
                  <a:rPr lang="en-US" altLang="zh-CN" dirty="0"/>
                  <a:t>	(10.32)</a:t>
                </a:r>
                <a:endParaRPr lang="zh-CN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zh-CN" dirty="0"/>
                  <a:t>To compensate for the delay </a:t>
                </a:r>
                <a14:m>
                  <m:oMath xmlns:m="http://schemas.openxmlformats.org/officeDocument/2006/math">
                    <m:r>
                      <a:rPr lang="zh-CN" altLang="en-US" i="1"/>
                      <m:t>𝑇</m:t>
                    </m:r>
                  </m:oMath>
                </a14:m>
                <a:r>
                  <a:rPr lang="zh-CN" altLang="zh-CN" dirty="0"/>
                  <a:t>, drivers are assumed to anticipate the future spatial gap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en-US"/>
                        </m:ctrlPr>
                      </m:accPr>
                      <m:e>
                        <m:r>
                          <a:rPr lang="zh-CN" altLang="en-US" i="1"/>
                          <m:t>𝑠</m:t>
                        </m:r>
                      </m:e>
                    </m:acc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  <m:r>
                          <a:rPr lang="zh-CN" altLang="en-US"/>
                          <m:t>+</m:t>
                        </m:r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𝑇</m:t>
                            </m:r>
                          </m:e>
                          <m:sub>
                            <m:r>
                              <a:rPr lang="zh-CN" altLang="en-US" i="1"/>
                              <m:t>𝑎</m:t>
                            </m:r>
                          </m:sub>
                        </m:sSub>
                      </m:e>
                    </m:d>
                    <m:r>
                      <a:rPr lang="zh-CN" altLang="en-US"/>
                      <m:t>=</m:t>
                    </m:r>
                    <m:r>
                      <a:rPr lang="zh-CN" altLang="en-US" i="1"/>
                      <m:t>𝑠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−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𝑇</m:t>
                        </m:r>
                      </m:e>
                      <m:sub>
                        <m:r>
                          <a:rPr lang="zh-CN" altLang="en-US" i="1"/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/>
                      <m:t>Δ</m:t>
                    </m:r>
                    <m:r>
                      <a:rPr lang="zh-CN" altLang="en-US" i="1"/>
                      <m:t>𝑣</m:t>
                    </m:r>
                  </m:oMath>
                </a14:m>
                <a:r>
                  <a:rPr lang="zh-CN" altLang="zh-CN" dirty="0"/>
                  <a:t>based on velocity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/>
                      <m:t>Δ</m:t>
                    </m:r>
                    <m:r>
                      <a:rPr lang="zh-CN" altLang="en-US" i="1"/>
                      <m:t>𝑣</m:t>
                    </m:r>
                  </m:oMath>
                </a14:m>
                <a:r>
                  <a:rPr lang="zh-CN" altLang="zh-CN" dirty="0"/>
                  <a:t>. Taylor-expanding this anticipated optimal velocity yields the generalized Newell model.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dirty="0"/>
                  <a:t>	</a:t>
                </a:r>
                <a:r>
                  <a:rPr lang="zh-CN" altLang="zh-CN" dirty="0"/>
                  <a:t>Converts equation (10.32) into a time-continuous differential equation form, which is structurally identical to the </a:t>
                </a:r>
                <a:r>
                  <a:rPr lang="zh-CN" altLang="zh-CN" b="1" dirty="0"/>
                  <a:t>Full Velocity Difference Model</a:t>
                </a:r>
                <a:r>
                  <a:rPr lang="en-US" altLang="zh-CN" b="1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/>
                            <m:t>d</m:t>
                          </m:r>
                          <m:r>
                            <a:rPr lang="zh-CN" altLang="en-US" i="1"/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/>
                            <m:t>d</m:t>
                          </m:r>
                          <m:r>
                            <a:rPr lang="zh-CN" altLang="en-US" i="1"/>
                            <m:t>𝑡</m:t>
                          </m:r>
                        </m:den>
                      </m:f>
                      <m:r>
                        <a:rPr lang="zh-CN" altLang="en-US"/>
                        <m:t>=</m:t>
                      </m:r>
                      <m:f>
                        <m:fPr>
                          <m:ctrlPr>
                            <a:rPr lang="zh-CN" alt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/>
                              </m:ctrlPr>
                            </m:sSubPr>
                            <m:e>
                              <m:r>
                                <a:rPr lang="zh-CN" altLang="en-US" i="1"/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/>
                                <m:t>opt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r>
                                <a:rPr lang="zh-CN" altLang="en-US" i="1"/>
                                <m:t>𝑠</m:t>
                              </m:r>
                            </m:e>
                          </m:d>
                          <m:r>
                            <a:rPr lang="zh-CN" altLang="en-US"/>
                            <m:t>−</m:t>
                          </m:r>
                          <m:r>
                            <a:rPr lang="zh-CN" altLang="en-US" i="1"/>
                            <m:t>𝑣</m:t>
                          </m:r>
                        </m:num>
                        <m:den>
                          <m:r>
                            <a:rPr lang="zh-CN" altLang="en-US" i="1"/>
                            <m:t>𝑇</m:t>
                          </m:r>
                        </m:den>
                      </m:f>
                      <m:r>
                        <a:rPr lang="zh-CN" altLang="en-US"/>
                        <m:t>−</m:t>
                      </m:r>
                      <m:f>
                        <m:fPr>
                          <m:ctrlPr>
                            <a:rPr lang="zh-CN" alt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/>
                              </m:ctrlPr>
                            </m:sSubPr>
                            <m:e>
                              <m:r>
                                <a:rPr lang="zh-CN" altLang="en-US" i="1"/>
                                <m:t>𝑇</m:t>
                              </m:r>
                            </m:e>
                            <m:sub>
                              <m:r>
                                <a:rPr lang="zh-CN" altLang="en-US" i="1"/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/>
                              </m:ctrlPr>
                            </m:sSubPr>
                            <m:e>
                              <m:r>
                                <a:rPr lang="zh-CN" altLang="en-US" i="1"/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/>
                                <m:t>opt</m:t>
                              </m:r>
                            </m:sub>
                          </m:sSub>
                          <m:r>
                            <a:rPr lang="zh-CN" altLang="en-US"/>
                            <m:t>′</m:t>
                          </m:r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r>
                                <a:rPr lang="zh-CN" altLang="en-US" i="1"/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zh-CN" altLang="en-US" i="1"/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/>
                        <m:t>Δ</m:t>
                      </m:r>
                      <m:r>
                        <a:rPr lang="zh-CN" altLang="en-US" i="1"/>
                        <m:t>𝑣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b="1" dirty="0"/>
              </a:p>
              <a:p>
                <a:endParaRPr lang="en-US" altLang="zh-CN" b="1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CFB043D-4856-F06C-3B00-40577C851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68" y="1162705"/>
                <a:ext cx="11692132" cy="4601965"/>
              </a:xfrm>
              <a:prstGeom prst="rect">
                <a:avLst/>
              </a:prstGeom>
              <a:blipFill>
                <a:blip r:embed="rId3"/>
                <a:stretch>
                  <a:fillRect l="-782" t="-1060" r="-5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679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zYjYzNzI1MzUyYTQ0YjZkNmEyMmM5MzQzZmQzY2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5634</Words>
  <Application>Microsoft Office PowerPoint</Application>
  <PresentationFormat>宽屏</PresentationFormat>
  <Paragraphs>183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Novecento wide Bold</vt:lpstr>
      <vt:lpstr>仿宋</vt:lpstr>
      <vt:lpstr>微软雅黑</vt:lpstr>
      <vt:lpstr>Arial</vt:lpstr>
      <vt:lpstr>Calibri</vt:lpstr>
      <vt:lpstr>Cambria Math</vt:lpstr>
      <vt:lpstr>Office 主题</vt:lpstr>
      <vt:lpstr>PowerPoint 演示文稿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no</dc:creator>
  <cp:lastModifiedBy>na no</cp:lastModifiedBy>
  <cp:revision>130</cp:revision>
  <dcterms:created xsi:type="dcterms:W3CDTF">2022-05-16T07:12:00Z</dcterms:created>
  <dcterms:modified xsi:type="dcterms:W3CDTF">2026-08-05T15:23:35Z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458416FB77DC43F4A912D0A22C2D45B9_13</vt:lpwstr>
  </property>
  <property fmtid="{D5CDD505-2E9C-101B-9397-08002B2CF9AE}" pid="3" name="KSOProductBuildVer">
    <vt:lpwstr>2052-12.1.0.28043</vt:lpwstr>
  </property>
</Properties>
</file>