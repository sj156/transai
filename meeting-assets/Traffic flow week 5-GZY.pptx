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73" r:id="rId2"/>
    <p:sldId id="257" r:id="rId3"/>
    <p:sldId id="363" r:id="rId4"/>
    <p:sldId id="431" r:id="rId5"/>
    <p:sldId id="432" r:id="rId6"/>
    <p:sldId id="433" r:id="rId7"/>
    <p:sldId id="434" r:id="rId8"/>
    <p:sldId id="436" r:id="rId9"/>
    <p:sldId id="435" r:id="rId10"/>
    <p:sldId id="437" r:id="rId11"/>
    <p:sldId id="438" r:id="rId12"/>
    <p:sldId id="440" r:id="rId13"/>
    <p:sldId id="439" r:id="rId14"/>
    <p:sldId id="442" r:id="rId15"/>
    <p:sldId id="441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0A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01" autoAdjust="0"/>
    <p:restoredTop sz="92832" autoAdjust="0"/>
  </p:normalViewPr>
  <p:slideViewPr>
    <p:cSldViewPr snapToGrid="0">
      <p:cViewPr varScale="1">
        <p:scale>
          <a:sx n="44" d="100"/>
          <a:sy n="44" d="100"/>
        </p:scale>
        <p:origin x="69" y="8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-1" y="0"/>
            <a:ext cx="12191998" cy="6858000"/>
          </a:xfrm>
          <a:prstGeom prst="rect">
            <a:avLst/>
          </a:prstGeom>
          <a:gradFill>
            <a:gsLst>
              <a:gs pos="68000">
                <a:srgbClr val="D9D8D6"/>
              </a:gs>
              <a:gs pos="0">
                <a:srgbClr val="FEFEFE"/>
              </a:gs>
              <a:gs pos="100000">
                <a:srgbClr val="B5B4B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 rot="10800000">
            <a:off x="-16279" y="5352126"/>
            <a:ext cx="12200019" cy="652824"/>
            <a:chOff x="-8024" y="4499811"/>
            <a:chExt cx="12200019" cy="652824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组合 23"/>
          <p:cNvGrpSpPr/>
          <p:nvPr/>
        </p:nvGrpSpPr>
        <p:grpSpPr>
          <a:xfrm>
            <a:off x="-8024" y="4499811"/>
            <a:ext cx="12200019" cy="652824"/>
            <a:chOff x="-8024" y="4499811"/>
            <a:chExt cx="12200019" cy="652824"/>
          </a:xfrm>
        </p:grpSpPr>
        <p:cxnSp>
          <p:nvCxnSpPr>
            <p:cNvPr id="23" name="直接连接符 22"/>
            <p:cNvCxnSpPr/>
            <p:nvPr/>
          </p:nvCxnSpPr>
          <p:spPr>
            <a:xfrm>
              <a:off x="-8024" y="5152635"/>
              <a:ext cx="1219199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-8023" y="5056382"/>
              <a:ext cx="12191995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-8022" y="4968150"/>
              <a:ext cx="1219199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-8021" y="4871898"/>
              <a:ext cx="12191995" cy="0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-8021" y="4775645"/>
              <a:ext cx="12191995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0" y="4679393"/>
              <a:ext cx="12191995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0" y="4591161"/>
              <a:ext cx="12191995" cy="0"/>
            </a:xfrm>
            <a:prstGeom prst="line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0" y="4499811"/>
              <a:ext cx="1219199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4" name="平行四边形 133"/>
          <p:cNvSpPr/>
          <p:nvPr/>
        </p:nvSpPr>
        <p:spPr>
          <a:xfrm flipH="1">
            <a:off x="7702259" y="4369873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3" name="平行四边形 132"/>
          <p:cNvSpPr/>
          <p:nvPr/>
        </p:nvSpPr>
        <p:spPr>
          <a:xfrm>
            <a:off x="2609309" y="4400259"/>
            <a:ext cx="2068393" cy="2468910"/>
          </a:xfrm>
          <a:prstGeom prst="parallelogram">
            <a:avLst>
              <a:gd name="adj" fmla="val 30430"/>
            </a:avLst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9" name="直接连接符 138"/>
          <p:cNvCxnSpPr/>
          <p:nvPr/>
        </p:nvCxnSpPr>
        <p:spPr>
          <a:xfrm>
            <a:off x="8347141" y="-30386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>
            <a:off x="5551349" y="897382"/>
            <a:ext cx="1286818" cy="817239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4816336" y="1585803"/>
            <a:ext cx="2910840" cy="3901440"/>
            <a:chOff x="-1783080" y="-1767840"/>
            <a:chExt cx="2910840" cy="3901440"/>
          </a:xfrm>
        </p:grpSpPr>
        <p:sp>
          <p:nvSpPr>
            <p:cNvPr id="51" name="矩形 50"/>
            <p:cNvSpPr/>
            <p:nvPr/>
          </p:nvSpPr>
          <p:spPr>
            <a:xfrm>
              <a:off x="-1783080" y="-1752600"/>
              <a:ext cx="472440" cy="1143000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/>
            <p:cNvSpPr/>
            <p:nvPr/>
          </p:nvSpPr>
          <p:spPr>
            <a:xfrm>
              <a:off x="-1182933" y="340634"/>
              <a:ext cx="436173" cy="1777725"/>
            </a:xfrm>
            <a:prstGeom prst="rect">
              <a:avLst/>
            </a:pr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-1783080" y="-1767840"/>
              <a:ext cx="1021080" cy="3901440"/>
            </a:xfrm>
            <a:custGeom>
              <a:avLst/>
              <a:gdLst>
                <a:gd name="connsiteX0" fmla="*/ 563880 w 1021080"/>
                <a:gd name="connsiteY0" fmla="*/ 0 h 3901440"/>
                <a:gd name="connsiteX1" fmla="*/ 579120 w 1021080"/>
                <a:gd name="connsiteY1" fmla="*/ 1264920 h 3901440"/>
                <a:gd name="connsiteX2" fmla="*/ 0 w 1021080"/>
                <a:gd name="connsiteY2" fmla="*/ 1722120 h 3901440"/>
                <a:gd name="connsiteX3" fmla="*/ 0 w 1021080"/>
                <a:gd name="connsiteY3" fmla="*/ 3901440 h 3901440"/>
                <a:gd name="connsiteX4" fmla="*/ 457200 w 1021080"/>
                <a:gd name="connsiteY4" fmla="*/ 3901440 h 3901440"/>
                <a:gd name="connsiteX5" fmla="*/ 457200 w 1021080"/>
                <a:gd name="connsiteY5" fmla="*/ 1950720 h 3901440"/>
                <a:gd name="connsiteX6" fmla="*/ 1021080 w 1021080"/>
                <a:gd name="connsiteY6" fmla="*/ 1447800 h 3901440"/>
                <a:gd name="connsiteX7" fmla="*/ 1021080 w 1021080"/>
                <a:gd name="connsiteY7" fmla="*/ 15240 h 3901440"/>
                <a:gd name="connsiteX8" fmla="*/ 563880 w 1021080"/>
                <a:gd name="connsiteY8" fmla="*/ 0 h 390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21080" h="3901440">
                  <a:moveTo>
                    <a:pt x="563880" y="0"/>
                  </a:moveTo>
                  <a:lnTo>
                    <a:pt x="579120" y="1264920"/>
                  </a:lnTo>
                  <a:lnTo>
                    <a:pt x="0" y="1722120"/>
                  </a:lnTo>
                  <a:lnTo>
                    <a:pt x="0" y="3901440"/>
                  </a:lnTo>
                  <a:lnTo>
                    <a:pt x="457200" y="3901440"/>
                  </a:lnTo>
                  <a:lnTo>
                    <a:pt x="457200" y="1950720"/>
                  </a:lnTo>
                  <a:lnTo>
                    <a:pt x="1021080" y="1447800"/>
                  </a:lnTo>
                  <a:lnTo>
                    <a:pt x="1021080" y="15240"/>
                  </a:lnTo>
                  <a:lnTo>
                    <a:pt x="563880" y="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-579120" y="-1752600"/>
              <a:ext cx="1706880" cy="3870960"/>
            </a:xfrm>
            <a:custGeom>
              <a:avLst/>
              <a:gdLst>
                <a:gd name="connsiteX0" fmla="*/ 1691640 w 1706880"/>
                <a:gd name="connsiteY0" fmla="*/ 457200 h 3870960"/>
                <a:gd name="connsiteX1" fmla="*/ 457200 w 1706880"/>
                <a:gd name="connsiteY1" fmla="*/ 472440 h 3870960"/>
                <a:gd name="connsiteX2" fmla="*/ 472440 w 1706880"/>
                <a:gd name="connsiteY2" fmla="*/ 2819400 h 3870960"/>
                <a:gd name="connsiteX3" fmla="*/ 640080 w 1706880"/>
                <a:gd name="connsiteY3" fmla="*/ 2804160 h 3870960"/>
                <a:gd name="connsiteX4" fmla="*/ 640080 w 1706880"/>
                <a:gd name="connsiteY4" fmla="*/ 655320 h 3870960"/>
                <a:gd name="connsiteX5" fmla="*/ 1691640 w 1706880"/>
                <a:gd name="connsiteY5" fmla="*/ 655320 h 3870960"/>
                <a:gd name="connsiteX6" fmla="*/ 1691640 w 1706880"/>
                <a:gd name="connsiteY6" fmla="*/ 3870960 h 3870960"/>
                <a:gd name="connsiteX7" fmla="*/ 0 w 1706880"/>
                <a:gd name="connsiteY7" fmla="*/ 3855720 h 3870960"/>
                <a:gd name="connsiteX8" fmla="*/ 0 w 1706880"/>
                <a:gd name="connsiteY8" fmla="*/ 3413760 h 3870960"/>
                <a:gd name="connsiteX9" fmla="*/ 1249680 w 1706880"/>
                <a:gd name="connsiteY9" fmla="*/ 3429000 h 3870960"/>
                <a:gd name="connsiteX10" fmla="*/ 1234440 w 1706880"/>
                <a:gd name="connsiteY10" fmla="*/ 1082040 h 3870960"/>
                <a:gd name="connsiteX11" fmla="*/ 1082040 w 1706880"/>
                <a:gd name="connsiteY11" fmla="*/ 1082040 h 3870960"/>
                <a:gd name="connsiteX12" fmla="*/ 1082040 w 1706880"/>
                <a:gd name="connsiteY12" fmla="*/ 3276600 h 3870960"/>
                <a:gd name="connsiteX13" fmla="*/ 0 w 1706880"/>
                <a:gd name="connsiteY13" fmla="*/ 3276600 h 3870960"/>
                <a:gd name="connsiteX14" fmla="*/ 0 w 1706880"/>
                <a:gd name="connsiteY14" fmla="*/ 0 h 3870960"/>
                <a:gd name="connsiteX15" fmla="*/ 1706880 w 1706880"/>
                <a:gd name="connsiteY15" fmla="*/ 0 h 3870960"/>
                <a:gd name="connsiteX16" fmla="*/ 1691640 w 1706880"/>
                <a:gd name="connsiteY16" fmla="*/ 457200 h 387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06880" h="3870960">
                  <a:moveTo>
                    <a:pt x="1691640" y="457200"/>
                  </a:moveTo>
                  <a:lnTo>
                    <a:pt x="457200" y="472440"/>
                  </a:lnTo>
                  <a:lnTo>
                    <a:pt x="472440" y="2819400"/>
                  </a:lnTo>
                  <a:lnTo>
                    <a:pt x="640080" y="2804160"/>
                  </a:lnTo>
                  <a:lnTo>
                    <a:pt x="640080" y="655320"/>
                  </a:lnTo>
                  <a:lnTo>
                    <a:pt x="1691640" y="655320"/>
                  </a:lnTo>
                  <a:lnTo>
                    <a:pt x="1691640" y="3870960"/>
                  </a:lnTo>
                  <a:lnTo>
                    <a:pt x="0" y="3855720"/>
                  </a:lnTo>
                  <a:lnTo>
                    <a:pt x="0" y="3413760"/>
                  </a:lnTo>
                  <a:lnTo>
                    <a:pt x="1249680" y="3429000"/>
                  </a:lnTo>
                  <a:lnTo>
                    <a:pt x="1234440" y="1082040"/>
                  </a:lnTo>
                  <a:lnTo>
                    <a:pt x="1082040" y="1082040"/>
                  </a:lnTo>
                  <a:lnTo>
                    <a:pt x="1082040" y="3276600"/>
                  </a:lnTo>
                  <a:lnTo>
                    <a:pt x="0" y="3276600"/>
                  </a:lnTo>
                  <a:lnTo>
                    <a:pt x="0" y="0"/>
                  </a:lnTo>
                  <a:lnTo>
                    <a:pt x="1706880" y="0"/>
                  </a:lnTo>
                  <a:lnTo>
                    <a:pt x="1691640" y="457200"/>
                  </a:lnTo>
                  <a:close/>
                </a:path>
              </a:pathLst>
            </a:custGeom>
            <a:solidFill>
              <a:srgbClr val="CEB48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8" name="直接连接符 137"/>
          <p:cNvCxnSpPr/>
          <p:nvPr/>
        </p:nvCxnSpPr>
        <p:spPr>
          <a:xfrm>
            <a:off x="3963128" y="0"/>
            <a:ext cx="0" cy="686916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" name="图片 4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050" b="97717" l="9845" r="94560">
                        <a14:foregroundMark x1="29016" y1="19292" x2="28627" y2="18950"/>
                        <a14:foregroundMark x1="28238" y1="19749" x2="27850" y2="19406"/>
                        <a14:foregroundMark x1="30052" y1="19635" x2="28238" y2="19292"/>
                        <a14:foregroundMark x1="60751" y1="88128" x2="55440" y2="91553"/>
                        <a14:foregroundMark x1="35363" y1="88242" x2="34715" y2="94635"/>
                        <a14:foregroundMark x1="32902" y1="96918" x2="34067" y2="97945"/>
                        <a14:foregroundMark x1="87306" y1="75228" x2="91192" y2="71575"/>
                        <a14:foregroundMark x1="88860" y1="37671" x2="90674" y2="47260"/>
                        <a14:foregroundMark x1="90674" y1="47260" x2="87306" y2="48402"/>
                        <a14:foregroundMark x1="93394" y1="39726" x2="94560" y2="46689"/>
                        <a14:foregroundMark x1="52850" y1="11416" x2="46891" y2="6050"/>
                        <a14:foregroundMark x1="45337" y1="10616" x2="40285" y2="6279"/>
                        <a14:backgroundMark x1="26813" y1="12900" x2="28022" y2="17389"/>
                        <a14:backgroundMark x1="24741" y1="23288" x2="25259" y2="27626"/>
                        <a14:backgroundMark x1="26813" y1="23630" x2="28368" y2="33447"/>
                        <a14:backgroundMark x1="37435" y1="24087" x2="37694" y2="28311"/>
                        <a14:backgroundMark x1="34974" y1="12900" x2="42228" y2="14612"/>
                        <a14:backgroundMark x1="47150" y1="18607" x2="79404" y2="34703"/>
                        <a14:backgroundMark x1="57383" y1="17694" x2="69171" y2="25000"/>
                        <a14:backgroundMark x1="76813" y1="23630" x2="80959" y2="27283"/>
                        <a14:backgroundMark x1="54534" y1="34475" x2="63212" y2="36758"/>
                        <a14:backgroundMark x1="63212" y1="36758" x2="78368" y2="48059"/>
                        <a14:backgroundMark x1="78368" y1="48059" x2="78756" y2="48516"/>
                        <a14:backgroundMark x1="48316" y1="49429" x2="64767" y2="59247"/>
                        <a14:backgroundMark x1="64767" y1="59247" x2="61269" y2="65525"/>
                        <a14:backgroundMark x1="71114" y1="61530" x2="74870" y2="64155"/>
                        <a14:backgroundMark x1="36917" y1="51826" x2="42746" y2="67123"/>
                        <a14:backgroundMark x1="44560" y1="74543" x2="43782" y2="72831"/>
                        <a14:backgroundMark x1="52461" y1="76712" x2="59715" y2="79452"/>
                        <a14:backgroundMark x1="78238" y1="81164" x2="80181" y2="76712"/>
                        <a14:backgroundMark x1="22539" y1="73858" x2="27202" y2="77397"/>
                        <a14:backgroundMark x1="33290" y1="30365" x2="33161" y2="28311"/>
                        <a14:backgroundMark x1="63990" y1="13242" x2="82383" y2="14612"/>
                        <a14:backgroundMark x1="79793" y1="19977" x2="81088" y2="20662"/>
                        <a14:backgroundMark x1="63472" y1="14269" x2="67746" y2="14726"/>
                        <a14:backgroundMark x1="61269" y1="13242" x2="64378" y2="14269"/>
                        <a14:backgroundMark x1="58938" y1="14041" x2="63472" y2="14612"/>
                        <a14:backgroundMark x1="59715" y1="55479" x2="64249" y2="64612"/>
                        <a14:backgroundMark x1="64249" y1="64612" x2="55570" y2="61416"/>
                        <a14:backgroundMark x1="35104" y1="35388" x2="35104" y2="35388"/>
                        <a14:backgroundMark x1="33679" y1="26712" x2="33549" y2="26256"/>
                        <a14:backgroundMark x1="38472" y1="24315" x2="38472" y2="27968"/>
                        <a14:backgroundMark x1="33161" y1="24429" x2="33679" y2="28653"/>
                        <a14:backgroundMark x1="60492" y1="23973" x2="66451" y2="28995"/>
                        <a14:backgroundMark x1="68394" y1="21347" x2="69948" y2="27397"/>
                        <a14:backgroundMark x1="80570" y1="22032" x2="80311" y2="21347"/>
                        <a14:backgroundMark x1="79922" y1="20320" x2="81606" y2="22374"/>
                      </a14:backgroundRemoval>
                    </a14:imgEffect>
                    <a14:imgEffect>
                      <a14:brightnessContrast contrast="20000"/>
                    </a14:imgEffect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2058" y="892689"/>
            <a:ext cx="4894336" cy="555367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0" y="2862580"/>
            <a:ext cx="12192000" cy="108712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336758"/>
            <a:ext cx="2799347" cy="529160"/>
            <a:chOff x="0" y="3336758"/>
            <a:chExt cx="2799347" cy="529160"/>
          </a:xfrm>
        </p:grpSpPr>
        <p:sp>
          <p:nvSpPr>
            <p:cNvPr id="7" name="矩形 6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矩形 130"/>
          <p:cNvSpPr/>
          <p:nvPr/>
        </p:nvSpPr>
        <p:spPr>
          <a:xfrm>
            <a:off x="2702735" y="1509832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 rot="10800000">
            <a:off x="9392652" y="3338857"/>
            <a:ext cx="2799347" cy="529160"/>
            <a:chOff x="0" y="3336758"/>
            <a:chExt cx="2799347" cy="529160"/>
          </a:xfrm>
        </p:grpSpPr>
        <p:sp>
          <p:nvSpPr>
            <p:cNvPr id="29" name="矩形 28"/>
            <p:cNvSpPr/>
            <p:nvPr/>
          </p:nvSpPr>
          <p:spPr>
            <a:xfrm>
              <a:off x="1010653" y="3501190"/>
              <a:ext cx="178869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0" y="3637778"/>
              <a:ext cx="1010653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1147010" y="3637777"/>
              <a:ext cx="1652337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1" y="3501190"/>
              <a:ext cx="866274" cy="7619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1050756" y="3629570"/>
              <a:ext cx="45719" cy="204494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915604" y="3336758"/>
              <a:ext cx="45719" cy="266679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915603" y="3731817"/>
              <a:ext cx="45719" cy="102247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flipH="1">
              <a:off x="1051958" y="3336758"/>
              <a:ext cx="45719" cy="138342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2720735" y="3342241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2720736" y="3782940"/>
              <a:ext cx="78611" cy="82978"/>
            </a:xfrm>
            <a:prstGeom prst="rect">
              <a:avLst/>
            </a:prstGeom>
            <a:solidFill>
              <a:srgbClr val="96733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4" name="矩形 143"/>
          <p:cNvSpPr/>
          <p:nvPr/>
        </p:nvSpPr>
        <p:spPr>
          <a:xfrm>
            <a:off x="2948305" y="6005195"/>
            <a:ext cx="6511290" cy="762000"/>
          </a:xfrm>
          <a:prstGeom prst="rect">
            <a:avLst/>
          </a:prstGeom>
          <a:solidFill>
            <a:srgbClr val="292829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27305" y="3059430"/>
            <a:ext cx="12148185" cy="720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44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Traffic Flow Dynamic</a:t>
            </a:r>
            <a:endParaRPr lang="zh-CN" altLang="en-US" sz="44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1122141" y="1509832"/>
            <a:ext cx="1732597" cy="1155465"/>
            <a:chOff x="1098451" y="-835893"/>
            <a:chExt cx="1732597" cy="1155465"/>
          </a:xfrm>
        </p:grpSpPr>
        <p:grpSp>
          <p:nvGrpSpPr>
            <p:cNvPr id="59" name="组合 58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57" name="矩形 5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64" name="矩形 63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矩形 64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70" name="矩形 69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5" name="组合 74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76" name="矩形 75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78" name="组合 77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82" name="矩形 81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4" name="组合 8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85" name="矩形 8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0" name="组合 89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91" name="矩形 9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2" name="矩形 131"/>
          <p:cNvSpPr/>
          <p:nvPr/>
        </p:nvSpPr>
        <p:spPr>
          <a:xfrm>
            <a:off x="8358136" y="1497586"/>
            <a:ext cx="1260393" cy="1350579"/>
          </a:xfrm>
          <a:prstGeom prst="rect">
            <a:avLst/>
          </a:prstGeom>
          <a:solidFill>
            <a:srgbClr val="C4C3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4" name="组合 93"/>
          <p:cNvGrpSpPr/>
          <p:nvPr/>
        </p:nvGrpSpPr>
        <p:grpSpPr>
          <a:xfrm>
            <a:off x="9486499" y="1511695"/>
            <a:ext cx="1732597" cy="1155465"/>
            <a:chOff x="1098451" y="-835893"/>
            <a:chExt cx="1732597" cy="1155465"/>
          </a:xfrm>
        </p:grpSpPr>
        <p:grpSp>
          <p:nvGrpSpPr>
            <p:cNvPr id="95" name="组合 94"/>
            <p:cNvGrpSpPr/>
            <p:nvPr/>
          </p:nvGrpSpPr>
          <p:grpSpPr>
            <a:xfrm>
              <a:off x="1109166" y="-835893"/>
              <a:ext cx="142016" cy="129147"/>
              <a:chOff x="1109166" y="-835893"/>
              <a:chExt cx="142016" cy="129147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6" name="组合 95"/>
            <p:cNvGrpSpPr/>
            <p:nvPr/>
          </p:nvGrpSpPr>
          <p:grpSpPr>
            <a:xfrm>
              <a:off x="1729376" y="-835893"/>
              <a:ext cx="142016" cy="129147"/>
              <a:chOff x="1109166" y="-835893"/>
              <a:chExt cx="142016" cy="129147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7" name="组合 96"/>
            <p:cNvGrpSpPr/>
            <p:nvPr/>
          </p:nvGrpSpPr>
          <p:grpSpPr>
            <a:xfrm>
              <a:off x="2060219" y="-835893"/>
              <a:ext cx="142016" cy="129147"/>
              <a:chOff x="1109166" y="-835893"/>
              <a:chExt cx="142016" cy="129147"/>
            </a:xfrm>
          </p:grpSpPr>
          <p:sp>
            <p:nvSpPr>
              <p:cNvPr id="125" name="矩形 12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2689032" y="-835893"/>
              <a:ext cx="142016" cy="129147"/>
              <a:chOff x="1109166" y="-835893"/>
              <a:chExt cx="142016" cy="129147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1098451" y="-309473"/>
              <a:ext cx="142016" cy="129147"/>
              <a:chOff x="1109166" y="-835893"/>
              <a:chExt cx="142016" cy="129147"/>
            </a:xfrm>
          </p:grpSpPr>
          <p:sp>
            <p:nvSpPr>
              <p:cNvPr id="121" name="矩形 12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/>
            <p:cNvGrpSpPr/>
            <p:nvPr/>
          </p:nvGrpSpPr>
          <p:grpSpPr>
            <a:xfrm>
              <a:off x="1718661" y="-309473"/>
              <a:ext cx="142016" cy="129147"/>
              <a:chOff x="1109166" y="-835893"/>
              <a:chExt cx="142016" cy="129147"/>
            </a:xfrm>
          </p:grpSpPr>
          <p:sp>
            <p:nvSpPr>
              <p:cNvPr id="119" name="矩形 11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/>
            <p:cNvGrpSpPr/>
            <p:nvPr/>
          </p:nvGrpSpPr>
          <p:grpSpPr>
            <a:xfrm>
              <a:off x="2049504" y="-309473"/>
              <a:ext cx="142016" cy="129147"/>
              <a:chOff x="1109166" y="-835893"/>
              <a:chExt cx="142016" cy="129147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2" name="组合 101"/>
            <p:cNvGrpSpPr/>
            <p:nvPr/>
          </p:nvGrpSpPr>
          <p:grpSpPr>
            <a:xfrm>
              <a:off x="2678317" y="-309473"/>
              <a:ext cx="142016" cy="129147"/>
              <a:chOff x="1109166" y="-835893"/>
              <a:chExt cx="142016" cy="129147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3" name="组合 102"/>
            <p:cNvGrpSpPr/>
            <p:nvPr/>
          </p:nvGrpSpPr>
          <p:grpSpPr>
            <a:xfrm>
              <a:off x="1098451" y="190425"/>
              <a:ext cx="142016" cy="129147"/>
              <a:chOff x="1109166" y="-835893"/>
              <a:chExt cx="142016" cy="129147"/>
            </a:xfrm>
          </p:grpSpPr>
          <p:sp>
            <p:nvSpPr>
              <p:cNvPr id="113" name="矩形 112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4" name="组合 103"/>
            <p:cNvGrpSpPr/>
            <p:nvPr/>
          </p:nvGrpSpPr>
          <p:grpSpPr>
            <a:xfrm>
              <a:off x="1718661" y="190425"/>
              <a:ext cx="142016" cy="129147"/>
              <a:chOff x="1109166" y="-835893"/>
              <a:chExt cx="142016" cy="129147"/>
            </a:xfrm>
          </p:grpSpPr>
          <p:sp>
            <p:nvSpPr>
              <p:cNvPr id="111" name="矩形 110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5" name="组合 104"/>
            <p:cNvGrpSpPr/>
            <p:nvPr/>
          </p:nvGrpSpPr>
          <p:grpSpPr>
            <a:xfrm>
              <a:off x="2049504" y="190425"/>
              <a:ext cx="142016" cy="129147"/>
              <a:chOff x="1109166" y="-835893"/>
              <a:chExt cx="142016" cy="129147"/>
            </a:xfrm>
          </p:grpSpPr>
          <p:sp>
            <p:nvSpPr>
              <p:cNvPr id="109" name="矩形 108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2678317" y="190425"/>
              <a:ext cx="142016" cy="129147"/>
              <a:chOff x="1109166" y="-835893"/>
              <a:chExt cx="142016" cy="129147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1109166" y="-835893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1109166" y="-759922"/>
                <a:ext cx="142016" cy="53176"/>
              </a:xfrm>
              <a:prstGeom prst="rect">
                <a:avLst/>
              </a:prstGeom>
              <a:solidFill>
                <a:srgbClr val="D3D3D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35" name="矩形 134"/>
          <p:cNvSpPr/>
          <p:nvPr/>
        </p:nvSpPr>
        <p:spPr>
          <a:xfrm>
            <a:off x="3673495" y="15099"/>
            <a:ext cx="4954317" cy="905506"/>
          </a:xfrm>
          <a:prstGeom prst="rect">
            <a:avLst/>
          </a:prstGeom>
          <a:solidFill>
            <a:srgbClr val="EEEE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1" name="直接连接符 140"/>
          <p:cNvCxnSpPr/>
          <p:nvPr/>
        </p:nvCxnSpPr>
        <p:spPr>
          <a:xfrm flipV="1">
            <a:off x="-2" y="892586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-7" y="1483199"/>
            <a:ext cx="12192002" cy="35639"/>
          </a:xfrm>
          <a:prstGeom prst="line">
            <a:avLst/>
          </a:prstGeom>
          <a:ln>
            <a:solidFill>
              <a:schemeClr val="bg1">
                <a:lumMod val="65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文本框 144"/>
          <p:cNvSpPr txBox="1"/>
          <p:nvPr/>
        </p:nvSpPr>
        <p:spPr>
          <a:xfrm>
            <a:off x="469265" y="6005195"/>
            <a:ext cx="11807190" cy="83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300" b="1" dirty="0">
                <a:solidFill>
                  <a:srgbClr val="E5BC86"/>
                </a:solidFill>
                <a:latin typeface="微软雅黑" panose="020B0503020204020204" charset="-122"/>
                <a:ea typeface="微软雅黑" panose="020B0503020204020204" charset="-122"/>
              </a:rPr>
              <a:t>Gong Ziyang</a:t>
            </a:r>
          </a:p>
          <a:p>
            <a:pPr algn="ctr"/>
            <a:endParaRPr lang="en-US" altLang="zh-CN" sz="2300" b="1" dirty="0">
              <a:solidFill>
                <a:srgbClr val="E5BC8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2949575" y="6767195"/>
            <a:ext cx="6510020" cy="102235"/>
          </a:xfrm>
          <a:prstGeom prst="rect">
            <a:avLst/>
          </a:prstGeom>
          <a:solidFill>
            <a:srgbClr val="891C0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 rot="10800000">
            <a:off x="2798965" y="5947622"/>
            <a:ext cx="150861" cy="954038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/>
          <p:cNvSpPr/>
          <p:nvPr/>
        </p:nvSpPr>
        <p:spPr>
          <a:xfrm rot="10800000">
            <a:off x="9467370" y="5947621"/>
            <a:ext cx="150855" cy="954035"/>
          </a:xfrm>
          <a:prstGeom prst="rect">
            <a:avLst/>
          </a:prstGeom>
          <a:gradFill>
            <a:gsLst>
              <a:gs pos="0">
                <a:srgbClr val="292829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77" t="61091" r="46946" b="28282"/>
          <a:stretch>
            <a:fillRect/>
          </a:stretch>
        </p:blipFill>
        <p:spPr>
          <a:xfrm>
            <a:off x="5800130" y="1640826"/>
            <a:ext cx="788596" cy="7885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F:\设计相关\莱茵PPT\20210803125144!Avg_avg_ac15_6.png20210803125144!Avg_avg_ac15_6"/>
          <p:cNvPicPr>
            <a:picLocks noChangeAspect="1"/>
          </p:cNvPicPr>
          <p:nvPr/>
        </p:nvPicPr>
        <p:blipFill>
          <a:blip r:embed="rId3">
            <a:alphaModFix amt="40000"/>
          </a:blip>
          <a:srcRect t="-6983" b="4347"/>
          <a:stretch>
            <a:fillRect/>
          </a:stretch>
        </p:blipFill>
        <p:spPr>
          <a:xfrm>
            <a:off x="6350" y="-76518"/>
            <a:ext cx="12185650" cy="7011035"/>
          </a:xfrm>
          <a:prstGeom prst="rect">
            <a:avLst/>
          </a:prstGeom>
          <a:ln>
            <a:noFill/>
          </a:ln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16050" y="179705"/>
            <a:ext cx="2640330" cy="1202690"/>
          </a:xfrm>
        </p:spPr>
        <p:txBody>
          <a:bodyPr/>
          <a:lstStyle/>
          <a:p>
            <a:r>
              <a:rPr lang="en-US" altLang="zh-CN" sz="2000">
                <a:latin typeface="Novecento wide Bold" panose="00000805000000000000" charset="0"/>
                <a:cs typeface="Novecento wide Bold" panose="00000805000000000000" charset="0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 flipV="1">
            <a:off x="11085195" y="6539230"/>
            <a:ext cx="402590" cy="15494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343015" y="286639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248390" y="2870835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43015" y="348742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1248390" y="3460750"/>
            <a:ext cx="76200" cy="762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332855" y="3746500"/>
            <a:ext cx="591185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419215" y="2999085"/>
            <a:ext cx="16555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  <a:sym typeface="+mn-ea"/>
              </a:rPr>
              <a:t>Chapt18.</a:t>
            </a:r>
          </a:p>
        </p:txBody>
      </p:sp>
      <p:sp>
        <p:nvSpPr>
          <p:cNvPr id="11" name="矩形 10"/>
          <p:cNvSpPr/>
          <p:nvPr/>
        </p:nvSpPr>
        <p:spPr>
          <a:xfrm>
            <a:off x="2908935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562610" y="349694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62610" y="287591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600305" y="2866390"/>
            <a:ext cx="288226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>
                <a:highlight>
                  <a:srgbClr val="FFFF00"/>
                </a:highlight>
              </a:rPr>
              <a:t>建议使用：带图小标题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br>
              <a:rPr lang="zh-CN" altLang="en-US">
                <a:highlight>
                  <a:srgbClr val="FFFF00"/>
                </a:highlight>
              </a:rPr>
            </a:b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可以修改右侧文字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r>
              <a:rPr lang="zh-CN" altLang="en-US">
                <a:highlight>
                  <a:srgbClr val="FFFF00"/>
                </a:highlight>
              </a:rPr>
              <a:t>介绍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英文字体：Novecento wide 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中文字体：思源黑体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/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40030" y="423545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18.3 "stylized facts" of congested traffic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422754" y="952182"/>
                <a:ext cx="11346491" cy="608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2400" b="1" dirty="0"/>
                  <a:t>Congestion patterns are either localized or extended</a:t>
                </a:r>
              </a:p>
              <a:p>
                <a:pPr lvl="0"/>
                <a:r>
                  <a:rPr lang="en-US" altLang="zh-CN" sz="2400" dirty="0"/>
                  <a:t>	</a:t>
                </a:r>
                <a:r>
                  <a:rPr lang="zh-CN" altLang="zh-CN" sz="2400" dirty="0"/>
                  <a:t>Localized patterns maintain a nearly constant spatial extension on the order of 1 km, whereas extended patterns exhibit a time-dependent spatial extension typically spanning several kilometers.</a:t>
                </a:r>
                <a:endParaRPr lang="en-US" altLang="zh-CN" sz="2400" dirty="0"/>
              </a:p>
              <a:p>
                <a:r>
                  <a:rPr lang="zh-CN" altLang="zh-CN" sz="2400" b="1" dirty="0"/>
                  <a:t>The downstream front is either stationary or moves upstream at a fixed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cong</m:t>
                        </m:r>
                      </m:sub>
                    </m:sSub>
                  </m:oMath>
                </a14:m>
                <a:endParaRPr lang="zh-CN" altLang="zh-CN" sz="2400" b="1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The "downstream front" denotes the transition zone where drivers leave the congested area and accelerate back to free flow.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Stationary downstream fronts are always fixed at a bottleneck, while moving downstream fronts correspond to jams propagating through an essentially homogeneous road section.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Moving fronts occur when (i) single waves are emitted by a bottleneck, (ii) a fixed downstream front detaches itself from the bottleneck, or (iii) a temporary bottleneck ceases to exist.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Combining Facts 1 and 2, localized jams are either stationary at a bottleneck or propagate upstream at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cong</m:t>
                        </m:r>
                      </m:sub>
                    </m:sSub>
                  </m:oMath>
                </a14:m>
                <a:r>
                  <a:rPr lang="zh-CN" altLang="zh-CN" sz="2400" dirty="0"/>
                  <a:t>.</a:t>
                </a: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182"/>
                <a:ext cx="11346491" cy="6083204"/>
              </a:xfrm>
              <a:prstGeom prst="rect">
                <a:avLst/>
              </a:prstGeom>
              <a:blipFill>
                <a:blip r:embed="rId3"/>
                <a:stretch>
                  <a:fillRect l="-806" t="-802" r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71953-7C9F-B9E7-A9C1-91060140F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8DA086-DCF4-97FE-436C-23C9E5549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F67084-5298-1CB6-DF5E-BFD0569B5B41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4A04CF-F9B8-0B43-EF11-373602BE250F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C84845-8184-696C-BE6F-0C7E731BAC65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F00392-D7F7-C39E-9C47-C1E151DA7094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B8EA345-6F00-4B1A-9837-FA83C1CFCDA3}"/>
              </a:ext>
            </a:extLst>
          </p:cNvPr>
          <p:cNvSpPr txBox="1"/>
          <p:nvPr/>
        </p:nvSpPr>
        <p:spPr>
          <a:xfrm>
            <a:off x="240030" y="423545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18.3 "stylized facts" of congested traffic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C785CD7-BA77-168E-04FA-58E792DBFA19}"/>
                  </a:ext>
                </a:extLst>
              </p:cNvPr>
              <p:cNvSpPr txBox="1"/>
              <p:nvPr/>
            </p:nvSpPr>
            <p:spPr>
              <a:xfrm>
                <a:off x="422754" y="952182"/>
                <a:ext cx="11346491" cy="6083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US" altLang="zh-CN" sz="2400" b="1" dirty="0"/>
                  <a:t>The upstream front of spatially extended congestion patterns has no characteristic speed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The propagation velocity of the upstream front depends entirely on the dynamic balance between traffic demand and bottleneck capacity, following the shock-wave formula.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/>
                  <a:t> When traffic demand exceeds capacity, the upstream front propagates upstream; when demand drops below capacity, it propagates downstream.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/>
                  <a:t> </a:t>
                </a:r>
                <a:r>
                  <a:rPr lang="en-US" altLang="zh-CN" sz="2400" dirty="0"/>
                  <a:t>Traffic jams completely dissolve when the retreating upstream front meets and merges with the downstream front.</a:t>
                </a:r>
              </a:p>
              <a:p>
                <a:r>
                  <a:rPr lang="zh-CN" altLang="zh-CN" sz="2400" b="1" dirty="0"/>
                  <a:t>The propagation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b="0" i="0"/>
                          <m:t>cong</m:t>
                        </m:r>
                      </m:sub>
                    </m:sSub>
                  </m:oMath>
                </a14:m>
                <a:r>
                  <a:rPr lang="zh-CN" altLang="zh-CN" sz="2400" b="1" dirty="0"/>
                  <a:t>of all internal structures is unique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All variations of speed and density inside a congested pattern propagate at the exact same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i="0"/>
                          <m:t>cong</m:t>
                        </m:r>
                      </m:sub>
                    </m:sSub>
                  </m:oMath>
                </a14:m>
                <a:r>
                  <a:rPr lang="zh-CN" altLang="zh-CN" sz="2400" dirty="0"/>
                  <a:t>, regardless of whether they are caused by stop-and-go waves or bottleneck variations.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zh-CN" altLang="zh-CN" sz="2400" dirty="0"/>
                  <a:t>Consequently, in graphical spatiotemporal representations of local speed, all wave structures inside congested patterns are strictly parallel to each other.</a:t>
                </a: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C785CD7-BA77-168E-04FA-58E792DBF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54" y="952182"/>
                <a:ext cx="11346491" cy="6083204"/>
              </a:xfrm>
              <a:prstGeom prst="rect">
                <a:avLst/>
              </a:prstGeom>
              <a:blipFill>
                <a:blip r:embed="rId3"/>
                <a:stretch>
                  <a:fillRect l="-806" t="-802" r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340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AC5FC-7E66-F9E7-3312-57EE7D61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CDA4A8-053B-D3FC-55ED-7CB54F51F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D94D6C-1569-8B0F-1A15-6C611EA2A40F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2AA584-9135-0156-D4AB-84AA372FF11A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179956-FD80-5C8A-43FD-8515DC4CB1C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42DA1ED-E5F0-1E06-5CBD-95A3ED977FAE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1C4A128-A4BB-70C9-5BC7-3D100B141F7C}"/>
              </a:ext>
            </a:extLst>
          </p:cNvPr>
          <p:cNvSpPr txBox="1"/>
          <p:nvPr/>
        </p:nvSpPr>
        <p:spPr>
          <a:xfrm>
            <a:off x="240030" y="423545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18.3 "stylized facts" of congested traffic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E80F1F-7E8C-D5B4-CF79-478E0FF0ABBA}"/>
              </a:ext>
            </a:extLst>
          </p:cNvPr>
          <p:cNvSpPr txBox="1"/>
          <p:nvPr/>
        </p:nvSpPr>
        <p:spPr>
          <a:xfrm>
            <a:off x="240030" y="958443"/>
            <a:ext cx="1176924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The frequency of traffic waves increases with the bottleneck strength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Typical periods of internal quasi-periodic oscillations vary between 4 min and 60 min, corresponding to wavelengths between 1 km and 15 km.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The stronger the bottleneck producing the congestion (such as a lane-blocking accident compared to a mild uphill gradient), the higher the frequency of the resulting stop-and-go waves.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Due to the unique propagation velocity in Fact 4, temporal frequency and wavelength are directly coupled: increasing frequencies correspond to decreasing wavelengths.</a:t>
            </a:r>
            <a:endParaRPr lang="en-US" altLang="zh-CN" sz="2400" dirty="0"/>
          </a:p>
          <a:p>
            <a:r>
              <a:rPr lang="zh-CN" altLang="zh-CN" sz="2400" b="1" dirty="0"/>
              <a:t>The amplitude of traffic waves increases during propagation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Traffic waves grow in amplitude (sometimes to full saturation) as they propagate upstream.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This empirical fact provides strong evidence that traffic flow inside extended congested patterns is convectively unstable.</a:t>
            </a:r>
          </a:p>
          <a:p>
            <a:pPr lvl="0"/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0853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276B2A-B09E-AED1-04C4-C013980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1C9A6-F058-B1F3-D59D-CE2D449E63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0B932D-743F-8BBF-AC69-F0F46C81B4A9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98A3A1-5E50-0C2C-E23C-37D27F387B9E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99D104-3BE6-7B8B-FA46-7765E387598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F546B9-AD14-843A-DF99-DBB7B9366680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349F79-C653-275C-808E-29ABE07EC7DA}"/>
              </a:ext>
            </a:extLst>
          </p:cNvPr>
          <p:cNvSpPr txBox="1"/>
          <p:nvPr/>
        </p:nvSpPr>
        <p:spPr>
          <a:xfrm>
            <a:off x="240030" y="423545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18.3 "stylized facts" of congested traffic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769428C-076C-BBC8-8667-E798FDD3713B}"/>
              </a:ext>
            </a:extLst>
          </p:cNvPr>
          <p:cNvSpPr txBox="1"/>
          <p:nvPr/>
        </p:nvSpPr>
        <p:spPr>
          <a:xfrm>
            <a:off x="240030" y="958443"/>
            <a:ext cx="117692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Light or very strong bottlenecks may cause homogeneous extended traffic patterns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Light bottlenecks or extremely severe bottlenecks can generate homogeneous extended traffic patterns without pronounced wave oscillations.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For strong bottlenecks, this empirical evidence remains debated, because at high congested densities the oscillation periods reach the detector aggregation interval and smoothing window, making oscillations hardly distinguishable from noise.</a:t>
            </a:r>
          </a:p>
          <a:p>
            <a:pPr lvl="0"/>
            <a:endParaRPr lang="zh-CN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22349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2521E9-DAA0-AFCE-9655-0C8DE31F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2D4B7D-A20A-3EE1-A1CC-D2680BF3F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D52C80-F5D4-5152-5679-15AE1BDE9FDE}"/>
              </a:ext>
            </a:extLst>
          </p:cNvPr>
          <p:cNvSpPr/>
          <p:nvPr/>
        </p:nvSpPr>
        <p:spPr>
          <a:xfrm>
            <a:off x="11231880" y="6203950"/>
            <a:ext cx="349250" cy="1670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5614A2-D0A4-F0AE-93C4-60A94179D76B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E4B465-06AE-BB02-11A8-65A6CA05668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297C2C-0149-A1DB-00F7-EA2CCCF1995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7248D4-F326-30A6-6F6E-66EED6CBB378}"/>
              </a:ext>
            </a:extLst>
          </p:cNvPr>
          <p:cNvSpPr txBox="1"/>
          <p:nvPr/>
        </p:nvSpPr>
        <p:spPr>
          <a:xfrm>
            <a:off x="139700" y="436131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18.3 </a:t>
            </a:r>
            <a:r>
              <a:rPr lang="zh-CN" altLang="zh-CN" sz="2400" b="1" dirty="0">
                <a:latin typeface="+mj-ea"/>
                <a:ea typeface="+mj-ea"/>
              </a:rPr>
              <a:t>Role </a:t>
            </a:r>
            <a:r>
              <a:rPr lang="en-US" altLang="zh-CN" sz="2400" b="1" dirty="0">
                <a:latin typeface="+mj-ea"/>
                <a:ea typeface="+mj-ea"/>
              </a:rPr>
              <a:t>That </a:t>
            </a:r>
            <a:r>
              <a:rPr lang="zh-CN" altLang="zh-CN" sz="2400" b="1" dirty="0">
                <a:latin typeface="+mj-ea"/>
                <a:ea typeface="+mj-ea"/>
              </a:rPr>
              <a:t>These Stylized Facts Play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81134B5-928D-AC84-24F6-C85A9FCF76CC}"/>
              </a:ext>
            </a:extLst>
          </p:cNvPr>
          <p:cNvSpPr txBox="1"/>
          <p:nvPr/>
        </p:nvSpPr>
        <p:spPr>
          <a:xfrm>
            <a:off x="240030" y="958443"/>
            <a:ext cx="117692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S</a:t>
            </a:r>
            <a:r>
              <a:rPr lang="zh-CN" altLang="zh-CN" sz="2400" dirty="0"/>
              <a:t>erve as the standard for validating microscopic car-following and macroscopic models; any model failing to reproduce these seven facts is physically flawed.</a:t>
            </a:r>
            <a:endParaRPr lang="en-US" altLang="zh-C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</a:t>
            </a:r>
            <a:r>
              <a:rPr lang="zh-CN" altLang="zh-CN" sz="2400" dirty="0"/>
              <a:t>rovide quantitative criteria for engineers to diagnose bottleneck types, estimate queue dissipation, and design targeted control strategies.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11825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C3EE08-8F9A-FDD8-D79B-9D9DF620E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CCAD5DA-ECD8-3606-F5D8-9C9C66471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871" y="1595021"/>
            <a:ext cx="5932129" cy="526297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C2F3B96-5738-00E5-11E3-61985C5554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92FFDE-30DC-F3CF-74D8-ADF5C29DAB44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33862D-3B88-8E7A-0958-3CD085AD3D87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97641E-5C86-A5EB-EBF5-AB8EE6B71372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4DF0DE-8F03-97BB-3147-12589FB3E423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18.4 Empirical Reality: Complex Patterns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11468-4DA4-099D-A91D-BA796BA80118}"/>
              </a:ext>
            </a:extLst>
          </p:cNvPr>
          <p:cNvSpPr txBox="1"/>
          <p:nvPr/>
        </p:nvSpPr>
        <p:spPr>
          <a:xfrm>
            <a:off x="256558" y="2703016"/>
            <a:ext cx="814079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Moving jams may propagate through other congestions essentially unaffected</a:t>
            </a:r>
          </a:p>
          <a:p>
            <a:pPr lvl="0"/>
            <a:r>
              <a:rPr lang="en-US" altLang="zh-CN" sz="2400" dirty="0"/>
              <a:t>	</a:t>
            </a:r>
            <a:r>
              <a:rPr lang="zh-CN" altLang="zh-CN" sz="2400" dirty="0"/>
              <a:t>The jam caused by an accident at road 43.5 km on the Autobahn A8-East (Fig. 18.1a) propagates through the congested zone previously induced by the hilly region ("Irschenberg") near road 40 km.</a:t>
            </a:r>
          </a:p>
          <a:p>
            <a:pPr lvl="0"/>
            <a:r>
              <a:rPr lang="en-US" altLang="zh-CN" sz="2400" dirty="0"/>
              <a:t>	</a:t>
            </a:r>
            <a:r>
              <a:rPr lang="zh-CN" altLang="zh-CN" sz="2400" dirty="0"/>
              <a:t>However, it is also possible that a moving traffic wave gets "caught" by a deactivated or activated bottleneck.In the first case, the bottleneck generally becomes activated.</a:t>
            </a:r>
            <a:endParaRPr lang="en-US" altLang="zh-CN" sz="2400" dirty="0"/>
          </a:p>
          <a:p>
            <a:pPr lvl="0"/>
            <a:endParaRPr lang="zh-CN" altLang="zh-CN" sz="2400" dirty="0"/>
          </a:p>
          <a:p>
            <a:pPr lvl="0"/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5481CB-7155-DEB9-6696-0382E6DFB518}"/>
              </a:ext>
            </a:extLst>
          </p:cNvPr>
          <p:cNvSpPr txBox="1"/>
          <p:nvPr/>
        </p:nvSpPr>
        <p:spPr>
          <a:xfrm>
            <a:off x="139700" y="733793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2400" dirty="0"/>
              <a:t>Congested traffic flow patterns are rarely isolated from each other</a:t>
            </a:r>
            <a:r>
              <a:rPr lang="en-US" altLang="zh-CN" sz="2400" dirty="0"/>
              <a:t>.</a:t>
            </a:r>
            <a:r>
              <a:rPr lang="zh-CN" altLang="zh-CN" sz="2400" dirty="0"/>
              <a:t>In most cases, they interact with each other resulting in complex traffic patterns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144223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30360-AA7D-3030-13C0-1CB447E93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FA68292A-212A-2ABE-1DB5-72F1630BB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43" y="-1"/>
            <a:ext cx="4939657" cy="68318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8D75766-DA1C-C606-8F1A-463C8A472D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00111E-2041-2220-BE70-459A5D1DBC2A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DCD43F-0882-132A-FE9F-8531E4BFB33F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8497508-34E2-4373-048C-543C6BE4004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0A1CAE-F2AE-D3B3-1D62-A78D06D7A582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18.4 Empirical Reality: Complex Patterns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BB323A-2110-2FBC-50FE-876B9A940819}"/>
              </a:ext>
            </a:extLst>
          </p:cNvPr>
          <p:cNvSpPr txBox="1"/>
          <p:nvPr/>
        </p:nvSpPr>
        <p:spPr>
          <a:xfrm>
            <a:off x="339519" y="914400"/>
            <a:ext cx="79662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Moving jams may activate permanent bottlenecks.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en-US" altLang="zh-CN" sz="2400" dirty="0"/>
              <a:t>	In Fig. 18.2a–c, single MLC or TSG waves interact with deactivated and activated bottlenecks further upstream.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en-US" altLang="zh-CN" sz="2400" dirty="0"/>
              <a:t>	The single MLC originating from the interchange at road 488 km crosses a deactivated bottleneck at 482 km and activates it to produce a PLC pattern (Fig. 18.2c).</a:t>
            </a:r>
            <a:r>
              <a:rPr lang="zh-CN" altLang="en-US" sz="2400" dirty="0"/>
              <a:t> </a:t>
            </a:r>
            <a:r>
              <a:rPr lang="en-US" altLang="zh-CN" sz="2400" dirty="0"/>
              <a:t>The moving jam itself propagates essentially unaffected.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pPr lvl="0"/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246743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62020-76D4-EBA7-1D27-005E1FE7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2F3ED616-FAA7-1431-0591-3734CE882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43" y="-1"/>
            <a:ext cx="4939657" cy="68318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6BB2FBB-8F4F-30EE-3DDA-9F34E2C8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B33ACD2-345C-57C3-3969-4D41FB11BF72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A579F2E-37EA-B19F-2111-B55357E36E7C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CCC2F7-1253-DA8B-49C7-98ACDD772736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63BD7D-054E-F9D1-390E-588ECFF00DDE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18.4 Empirical Reality: Complex Patterns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358C4E-9A72-F6C7-3756-6C2C1CDE817C}"/>
              </a:ext>
            </a:extLst>
          </p:cNvPr>
          <p:cNvSpPr txBox="1"/>
          <p:nvPr/>
        </p:nvSpPr>
        <p:spPr>
          <a:xfrm>
            <a:off x="339519" y="914400"/>
            <a:ext cx="848213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Congested traffic may cause new temporary bottlenecks</a:t>
            </a:r>
          </a:p>
          <a:p>
            <a:r>
              <a:rPr lang="en-US" altLang="zh-CN" sz="2400" dirty="0"/>
              <a:t>	This is part of the complex situation on the German Autobahn A5 depicted in Fig. 18.2b.</a:t>
            </a:r>
            <a:r>
              <a:rPr lang="zh-CN" altLang="en-US" sz="2400" dirty="0"/>
              <a:t> </a:t>
            </a:r>
            <a:endParaRPr lang="en-US" altLang="zh-CN" sz="2400" dirty="0"/>
          </a:p>
          <a:p>
            <a:r>
              <a:rPr lang="en-US" altLang="zh-CN" sz="2400" dirty="0"/>
              <a:t>	An isolated traffic wave detaches from a PLC state at the interchange "Bad Homburg" at about 8:30 h and causes a temporary bottleneck at road 476 km.</a:t>
            </a:r>
          </a:p>
          <a:p>
            <a:r>
              <a:rPr lang="en-US" altLang="zh-CN" sz="2400" dirty="0"/>
              <a:t>	The new bottleneck generates an extended OCT state.</a:t>
            </a:r>
            <a:r>
              <a:rPr lang="zh-CN" altLang="en-US" sz="2400" dirty="0"/>
              <a:t> </a:t>
            </a:r>
            <a:r>
              <a:rPr lang="en-US" altLang="zh-CN" sz="2400" dirty="0"/>
              <a:t>Later on, both the original MLC and the OCT of the temporary bottleneck intersect with an already activated bottleneck and its OCT pattern further upstream.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87689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61AD2-AD84-1189-871C-25811D4C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E2EE190-6659-1B89-377F-B9111B37A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43" y="-1"/>
            <a:ext cx="4939657" cy="683183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56DF707-8BEE-5A90-6788-45FEAE24C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F82EFE-66A3-6070-5C3B-0CBE71D69B3B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A9919E-8480-621F-0113-70AFEEA16990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76D825-72D8-806F-B292-9E7B45321A61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3669F6-0818-F9A7-78F1-ADE55F15CC1D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18.4 Empirical Reality: Complex Patterns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E673A6-523B-4A32-382C-2B7E0F673ED2}"/>
              </a:ext>
            </a:extLst>
          </p:cNvPr>
          <p:cNvSpPr txBox="1"/>
          <p:nvPr/>
        </p:nvSpPr>
        <p:spPr>
          <a:xfrm>
            <a:off x="339519" y="914400"/>
            <a:ext cx="84887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Bottleneck activation may alleviate the situation further downstream.</a:t>
            </a:r>
          </a:p>
          <a:p>
            <a:r>
              <a:rPr lang="en-US" altLang="zh-CN" sz="2400" dirty="0"/>
              <a:t>	The capacity drop due to the temporary bottleneck at road 476 km reduces the flow </a:t>
            </a:r>
            <a:r>
              <a:rPr lang="en-US" altLang="zh-CN" sz="2400" dirty="0" err="1"/>
              <a:t>downstream.The</a:t>
            </a:r>
            <a:r>
              <a:rPr lang="en-US" altLang="zh-CN" sz="2400" dirty="0"/>
              <a:t> original PLC at road 482 km dissolves.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0453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5737A-6834-CA74-8B3F-A2C6C2BB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95140D-2D2B-94E1-9F76-455290D3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72C402-F0FC-8E2E-F61F-7EFF8F7B9DC5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0AEDDBF-C427-CF3E-7AEE-5C3E4D2E481E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566250-F822-00BC-B9A1-EADB5B562087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987D23-4E2F-040E-6FD7-BC9776FB18D2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18.5 Fundamentals of Traffic State Estimation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94DFB98-FD2C-7E03-8F62-EE4CD047AF4B}"/>
              </a:ext>
            </a:extLst>
          </p:cNvPr>
          <p:cNvSpPr txBox="1"/>
          <p:nvPr/>
        </p:nvSpPr>
        <p:spPr>
          <a:xfrm>
            <a:off x="318688" y="1064912"/>
            <a:ext cx="11077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400" dirty="0"/>
              <a:t>	</a:t>
            </a:r>
            <a:r>
              <a:rPr lang="zh-CN" altLang="zh-CN" sz="2400" dirty="0"/>
              <a:t>Systems like dynamic routing, in-car navigation, and automated jam warnings require real-time estimation of the current network state and accurate 30-minute short-term forecasts of congestion evolution and travel times.</a:t>
            </a:r>
            <a:endParaRPr lang="en-US" altLang="zh-CN" sz="2400" dirty="0"/>
          </a:p>
          <a:p>
            <a:pPr lvl="0"/>
            <a:r>
              <a:rPr lang="en-US" altLang="zh-CN" sz="2400" dirty="0"/>
              <a:t>	</a:t>
            </a:r>
            <a:r>
              <a:rPr lang="zh-CN" altLang="zh-CN" sz="2400" dirty="0"/>
              <a:t>Stationary detectors in real-world networks are sparse, leaving massive data gaps; simultaneously, complex interacting traffic patterns cannot be solved purely through simple analytical formulas in an automated manner.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65634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83D58D-473F-E1FC-920F-268E1DD5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A70AD-3338-ED8D-C745-F0C8C8709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7600265-6FB6-5FD6-4334-E89DD3930DA4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A722E45-F63D-96A3-E50C-6D84B87E5E43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48FC9B-E4F8-F35B-2BF7-8FAE2B15A5C3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010271-2CC9-CA87-27D3-362931180739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18.5 Fundamentals of Traffic State Estimation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864154F-1A68-714C-6437-D51F6874C6B1}"/>
              </a:ext>
            </a:extLst>
          </p:cNvPr>
          <p:cNvSpPr txBox="1"/>
          <p:nvPr/>
        </p:nvSpPr>
        <p:spPr>
          <a:xfrm>
            <a:off x="264689" y="703563"/>
            <a:ext cx="106807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/>
              <a:t>Adopting Robust First-Order Macroscopic Models (CTM) for Super-Real-Time Rolling Simulation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First-order models with a triangular fundamental diagram (such as the Cell-Transmission Model, CTM, or section-based models) are selected because they are robust and computationally fast.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sz="2400" dirty="0"/>
              <a:t>The system utilizes a rolling horizon (e.g., refreshing inputs every 5 minutes for a 30-minute prediction window), executing simulations at multiple times real-time speed.</a:t>
            </a:r>
          </a:p>
        </p:txBody>
      </p:sp>
    </p:spTree>
    <p:extLst>
      <p:ext uri="{BB962C8B-B14F-4D97-AF65-F5344CB8AC3E}">
        <p14:creationId xmlns:p14="http://schemas.microsoft.com/office/powerpoint/2010/main" val="2027102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1A64AF-D47B-C7D8-08F7-CF5262C8D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989F59-EED5-32C3-6BD4-9FE828182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212E6F-E41B-06B2-E1C9-9AB31C57DC42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CF9FF2-9150-E330-900A-F5A846B14C25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93D247-C1E8-6D4D-5723-175971318C29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54C0AB-0AC2-7BEC-2DF0-2145D87B849B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18.5 Fundamentals of Traffic State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888C1B-24AC-9CE1-3B07-A7E22F72BD1E}"/>
                  </a:ext>
                </a:extLst>
              </p:cNvPr>
              <p:cNvSpPr txBox="1"/>
              <p:nvPr/>
            </p:nvSpPr>
            <p:spPr>
              <a:xfrm>
                <a:off x="430530" y="777875"/>
                <a:ext cx="11583670" cy="3293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3200" b="1" dirty="0"/>
                  <a:t>Embedding Stylized Facts as Physics-Informed Priors to Overcome Incomplete Data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zh-CN" sz="2400" b="1" dirty="0"/>
                  <a:t>Leveraging Known Bottlenecks to Fix Downstream Fronts</a:t>
                </a:r>
                <a:r>
                  <a:rPr lang="zh-CN" altLang="zh-CN" sz="2400" dirty="0"/>
                  <a:t> :</a:t>
                </a:r>
              </a:p>
              <a:p>
                <a:pPr lvl="0"/>
                <a:r>
                  <a:rPr lang="zh-CN" altLang="zh-CN" sz="2400" dirty="0"/>
                  <a:t>Most bottlenecks are permanent infrastructure features whose locations are known a priori, allowing the downstream jam fronts to be fixed without extra sensor data.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zh-CN" sz="2400" b="1" dirty="0"/>
                  <a:t>Using Capacity Regularity to Determine Predominant Congestion Patterns</a:t>
                </a:r>
                <a:r>
                  <a:rPr lang="zh-CN" altLang="zh-CN" sz="2400" dirty="0"/>
                  <a:t>:</a:t>
                </a:r>
              </a:p>
              <a:p>
                <a:pPr lvl="0"/>
                <a:r>
                  <a:rPr lang="zh-CN" altLang="zh-CN" sz="2400" dirty="0"/>
                  <a:t>The dynamic capacity of activated bottlenecks varies predictably, allowing engineers to estimate the bottleneck strength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CN" altLang="en-US" sz="2400" i="0" smtClean="0">
                        <a:latin typeface="Cambria Math" panose="02040503050406030204" pitchFamily="18" charset="0"/>
                      </a:rPr>
                      <m:t>ΔQ</m:t>
                    </m:r>
                  </m:oMath>
                </a14:m>
                <a:r>
                  <a:rPr lang="zh-CN" altLang="zh-CN" sz="2400" dirty="0"/>
                  <a:t>and deduce the expected congestion pattern.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1888C1B-24AC-9CE1-3B07-A7E22F72B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" y="777875"/>
                <a:ext cx="11583670" cy="3293209"/>
              </a:xfrm>
              <a:prstGeom prst="rect">
                <a:avLst/>
              </a:prstGeom>
              <a:blipFill>
                <a:blip r:embed="rId3"/>
                <a:stretch>
                  <a:fillRect l="-1368" t="-2407" r="-1158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3224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0DFAEA-77AB-95B8-5AF0-FCCB8D4C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84B70-E67D-C824-731F-19AB988D38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5400" y="0"/>
            <a:ext cx="2727325" cy="777875"/>
          </a:xfrm>
        </p:spPr>
        <p:txBody>
          <a:bodyPr>
            <a:normAutofit/>
          </a:bodyPr>
          <a:lstStyle/>
          <a:p>
            <a:r>
              <a:rPr lang="en-US" altLang="zh-CN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F6693A-EE9C-7F9A-C0CB-A7B91CECADA9}"/>
              </a:ext>
            </a:extLst>
          </p:cNvPr>
          <p:cNvSpPr/>
          <p:nvPr/>
        </p:nvSpPr>
        <p:spPr>
          <a:xfrm>
            <a:off x="101600" y="5959475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4A87A5-F36A-CAE2-24C5-C0988DFE6AF9}"/>
              </a:ext>
            </a:extLst>
          </p:cNvPr>
          <p:cNvSpPr/>
          <p:nvPr/>
        </p:nvSpPr>
        <p:spPr>
          <a:xfrm>
            <a:off x="101600" y="914400"/>
            <a:ext cx="76200" cy="76200"/>
          </a:xfrm>
          <a:prstGeom prst="rect">
            <a:avLst/>
          </a:prstGeom>
          <a:solidFill>
            <a:schemeClr val="dk1">
              <a:alpha val="57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3AF34B-B6B9-1889-9F1A-D7DD2D6B8EFB}"/>
              </a:ext>
            </a:extLst>
          </p:cNvPr>
          <p:cNvSpPr txBox="1"/>
          <p:nvPr/>
        </p:nvSpPr>
        <p:spPr>
          <a:xfrm>
            <a:off x="1080770" y="845820"/>
            <a:ext cx="685165" cy="76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500">
                <a:solidFill>
                  <a:schemeClr val="tx1">
                    <a:alpha val="2000"/>
                  </a:schemeClr>
                </a:solidFill>
                <a:latin typeface="Novecento wide Bold" panose="00000805000000000000" charset="0"/>
                <a:cs typeface="Novecento wide Bold" panose="00000805000000000000" charset="0"/>
              </a:rPr>
              <a:t>rhodeskesi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084D1C-66D1-8B3C-7F1C-DC74BB602D2F}"/>
              </a:ext>
            </a:extLst>
          </p:cNvPr>
          <p:cNvSpPr txBox="1"/>
          <p:nvPr/>
        </p:nvSpPr>
        <p:spPr>
          <a:xfrm>
            <a:off x="101600" y="243188"/>
            <a:ext cx="820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j-ea"/>
                <a:ea typeface="+mj-ea"/>
              </a:rPr>
              <a:t>18.5 Fundamentals of Traffic State Estimation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922A9-E2A5-CBF7-DADD-71827C1B2AC6}"/>
                  </a:ext>
                </a:extLst>
              </p:cNvPr>
              <p:cNvSpPr txBox="1"/>
              <p:nvPr/>
            </p:nvSpPr>
            <p:spPr>
              <a:xfrm>
                <a:off x="430530" y="777875"/>
                <a:ext cx="11659870" cy="52214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3200" b="1" dirty="0"/>
                  <a:t>Embedding Stylized Facts as Physics-Informed Priors to Overcome Incomplete Data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zh-CN" sz="2400" b="1" dirty="0"/>
                  <a:t>Identifying Incident-Induced Bottlenecks via Unique Data Signatures:</a:t>
                </a:r>
              </a:p>
              <a:p>
                <a:pPr lvl="0"/>
                <a:r>
                  <a:rPr lang="zh-CN" altLang="zh-CN" sz="2400" dirty="0"/>
                  <a:t>Temporary accident bottlenecks leave distinct signatures in the data, allowing their location and duration to be reconstructed using shock-wave dynamics.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zh-CN" sz="2400" b="1" dirty="0"/>
                  <a:t>Robust Online Model Calibration via the Unique Wave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1" i="0" smtClean="0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 b="1"/>
                          <m:t>cong</m:t>
                        </m:r>
                      </m:sub>
                    </m:sSub>
                  </m:oMath>
                </a14:m>
                <a:r>
                  <a:rPr lang="zh-CN" altLang="zh-CN" sz="2400" b="1" dirty="0"/>
                  <a:t>:</a:t>
                </a:r>
              </a:p>
              <a:p>
                <a:pPr lvl="0"/>
                <a:r>
                  <a:rPr lang="zh-CN" altLang="zh-CN" sz="2400" dirty="0"/>
                  <a:t>The propagation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 smtClean="0"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m:rPr>
                            <m:nor/>
                          </m:rPr>
                          <a:rPr lang="zh-CN" altLang="en-US" sz="2400"/>
                          <m:t>cong</m:t>
                        </m:r>
                      </m:sub>
                    </m:sSub>
                  </m:oMath>
                </a14:m>
                <a:r>
                  <a:rPr lang="zh-CN" altLang="zh-CN" sz="2400" dirty="0"/>
                  <a:t>and maximum outflow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240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zh-CN" altLang="zh-CN" sz="2400" dirty="0"/>
                  <a:t>are constant and measurable without bias from stationary detectors, enabling robust online calibration of the triangular fundamental diagram alongside desired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zh-CN" altLang="en-US" sz="240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2400" dirty="0"/>
                  <a:t>.</a:t>
                </a:r>
              </a:p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zh-CN" sz="2400" b="1" dirty="0"/>
                  <a:t>Predicting Queue Dynamics and Jam Dissolution via Shock-Wave Dynamics :</a:t>
                </a:r>
              </a:p>
              <a:p>
                <a:pPr lvl="0"/>
                <a:r>
                  <a:rPr lang="zh-CN" altLang="zh-CN" sz="2400" dirty="0"/>
                  <a:t>Combining the two known downstream velocities with analytical upstream shock-wave equations enables direct calculation and prognosis of queue growth, retreat, and complete dissolution.</a:t>
                </a: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C5922A9-E2A5-CBF7-DADD-71827C1B2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" y="777875"/>
                <a:ext cx="11659870" cy="5221429"/>
              </a:xfrm>
              <a:prstGeom prst="rect">
                <a:avLst/>
              </a:prstGeom>
              <a:blipFill>
                <a:blip r:embed="rId3"/>
                <a:stretch>
                  <a:fillRect l="-1360" t="-1519" b="-17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434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AzYjYzNzI1MzUyYTQ0YjZkNmEyMmM5MzQzZmQzY2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5481</Words>
  <Application>Microsoft Office PowerPoint</Application>
  <PresentationFormat>宽屏</PresentationFormat>
  <Paragraphs>101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Novecento wide Bold</vt:lpstr>
      <vt:lpstr>仿宋</vt:lpstr>
      <vt:lpstr>微软雅黑</vt:lpstr>
      <vt:lpstr>Arial</vt:lpstr>
      <vt:lpstr>Calibri</vt:lpstr>
      <vt:lpstr>Cambria Math</vt:lpstr>
      <vt:lpstr>Office 主题</vt:lpstr>
      <vt:lpstr>PowerPoint 演示文稿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  <vt:lpstr>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no</dc:creator>
  <cp:lastModifiedBy>na no</cp:lastModifiedBy>
  <cp:revision>147</cp:revision>
  <dcterms:created xsi:type="dcterms:W3CDTF">2022-05-16T07:12:00Z</dcterms:created>
  <dcterms:modified xsi:type="dcterms:W3CDTF">2026-08-20T01:13:51Z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458416FB77DC43F4A912D0A22C2D45B9_13</vt:lpwstr>
  </property>
  <property fmtid="{D5CDD505-2E9C-101B-9397-08002B2CF9AE}" pid="3" name="KSOProductBuildVer">
    <vt:lpwstr>2052-12.1.0.28043</vt:lpwstr>
  </property>
</Properties>
</file>