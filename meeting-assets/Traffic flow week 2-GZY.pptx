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73" r:id="rId2"/>
    <p:sldId id="257" r:id="rId3"/>
    <p:sldId id="363" r:id="rId4"/>
    <p:sldId id="364" r:id="rId5"/>
    <p:sldId id="365" r:id="rId6"/>
    <p:sldId id="366" r:id="rId7"/>
    <p:sldId id="367" r:id="rId8"/>
    <p:sldId id="368" r:id="rId9"/>
    <p:sldId id="369" r:id="rId10"/>
    <p:sldId id="370" r:id="rId11"/>
    <p:sldId id="371" r:id="rId12"/>
    <p:sldId id="372" r:id="rId13"/>
    <p:sldId id="373" r:id="rId14"/>
    <p:sldId id="374" r:id="rId15"/>
    <p:sldId id="376" r:id="rId16"/>
    <p:sldId id="377" r:id="rId17"/>
    <p:sldId id="378" r:id="rId18"/>
    <p:sldId id="375" r:id="rId19"/>
    <p:sldId id="379" r:id="rId20"/>
    <p:sldId id="380" r:id="rId21"/>
    <p:sldId id="381" r:id="rId22"/>
    <p:sldId id="382" r:id="rId23"/>
    <p:sldId id="383" r:id="rId24"/>
    <p:sldId id="384" r:id="rId25"/>
    <p:sldId id="385" r:id="rId26"/>
    <p:sldId id="386" r:id="rId27"/>
    <p:sldId id="387" r:id="rId28"/>
    <p:sldId id="388" r:id="rId29"/>
    <p:sldId id="389" r:id="rId30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1515"/>
    <a:srgbClr val="C0A1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3" autoAdjust="0"/>
    <p:restoredTop sz="92832" autoAdjust="0"/>
  </p:normalViewPr>
  <p:slideViewPr>
    <p:cSldViewPr snapToGrid="0">
      <p:cViewPr varScale="1">
        <p:scale>
          <a:sx n="81" d="100"/>
          <a:sy n="81" d="100"/>
        </p:scale>
        <p:origin x="34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-1" y="0"/>
            <a:ext cx="12191998" cy="6858000"/>
          </a:xfrm>
          <a:prstGeom prst="rect">
            <a:avLst/>
          </a:prstGeom>
          <a:gradFill>
            <a:gsLst>
              <a:gs pos="68000">
                <a:srgbClr val="D9D8D6"/>
              </a:gs>
              <a:gs pos="0">
                <a:srgbClr val="FEFEFE"/>
              </a:gs>
              <a:gs pos="100000">
                <a:srgbClr val="B5B4B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 rot="10800000">
            <a:off x="-16279" y="5352126"/>
            <a:ext cx="12200019" cy="652824"/>
            <a:chOff x="-8024" y="4499811"/>
            <a:chExt cx="12200019" cy="652824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-8024" y="5152635"/>
              <a:ext cx="12191995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-8023" y="5056382"/>
              <a:ext cx="12191995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-8022" y="4968150"/>
              <a:ext cx="12191995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-8021" y="4871898"/>
              <a:ext cx="12191995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-8021" y="4775645"/>
              <a:ext cx="1219199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>
              <a:off x="0" y="4679393"/>
              <a:ext cx="12191995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>
              <a:off x="0" y="4591161"/>
              <a:ext cx="12191995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>
              <a:off x="0" y="4499811"/>
              <a:ext cx="1219199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/>
          <p:cNvGrpSpPr/>
          <p:nvPr/>
        </p:nvGrpSpPr>
        <p:grpSpPr>
          <a:xfrm>
            <a:off x="-8024" y="4499811"/>
            <a:ext cx="12200019" cy="652824"/>
            <a:chOff x="-8024" y="4499811"/>
            <a:chExt cx="12200019" cy="652824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-8024" y="5152635"/>
              <a:ext cx="12191995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-8023" y="5056382"/>
              <a:ext cx="12191995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-8022" y="4968150"/>
              <a:ext cx="12191995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-8021" y="4871898"/>
              <a:ext cx="12191995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-8021" y="4775645"/>
              <a:ext cx="1219199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0" y="4679393"/>
              <a:ext cx="12191995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0" y="4591161"/>
              <a:ext cx="12191995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/>
          </p:nvCxnSpPr>
          <p:spPr>
            <a:xfrm>
              <a:off x="0" y="4499811"/>
              <a:ext cx="1219199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4" name="平行四边形 133"/>
          <p:cNvSpPr/>
          <p:nvPr/>
        </p:nvSpPr>
        <p:spPr>
          <a:xfrm flipH="1">
            <a:off x="7702259" y="4369873"/>
            <a:ext cx="2068393" cy="2468910"/>
          </a:xfrm>
          <a:prstGeom prst="parallelogram">
            <a:avLst>
              <a:gd name="adj" fmla="val 30430"/>
            </a:avLst>
          </a:prstGeom>
          <a:solidFill>
            <a:srgbClr val="C4C3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平行四边形 132"/>
          <p:cNvSpPr/>
          <p:nvPr/>
        </p:nvSpPr>
        <p:spPr>
          <a:xfrm>
            <a:off x="2609309" y="4400259"/>
            <a:ext cx="2068393" cy="2468910"/>
          </a:xfrm>
          <a:prstGeom prst="parallelogram">
            <a:avLst>
              <a:gd name="adj" fmla="val 30430"/>
            </a:avLst>
          </a:prstGeom>
          <a:solidFill>
            <a:srgbClr val="C4C3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9" name="直接连接符 138"/>
          <p:cNvCxnSpPr/>
          <p:nvPr/>
        </p:nvCxnSpPr>
        <p:spPr>
          <a:xfrm>
            <a:off x="8347141" y="-30386"/>
            <a:ext cx="0" cy="6869169"/>
          </a:xfrm>
          <a:prstGeom prst="line">
            <a:avLst/>
          </a:prstGeom>
          <a:ln>
            <a:solidFill>
              <a:schemeClr val="bg1">
                <a:lumMod val="6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矩形 135"/>
          <p:cNvSpPr/>
          <p:nvPr/>
        </p:nvSpPr>
        <p:spPr>
          <a:xfrm>
            <a:off x="5551349" y="897382"/>
            <a:ext cx="1286818" cy="817239"/>
          </a:xfrm>
          <a:prstGeom prst="rect">
            <a:avLst/>
          </a:prstGeom>
          <a:solidFill>
            <a:srgbClr val="EEEE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6" name="组合 55"/>
          <p:cNvGrpSpPr/>
          <p:nvPr/>
        </p:nvGrpSpPr>
        <p:grpSpPr>
          <a:xfrm>
            <a:off x="4816336" y="1585803"/>
            <a:ext cx="2910840" cy="3901440"/>
            <a:chOff x="-1783080" y="-1767840"/>
            <a:chExt cx="2910840" cy="3901440"/>
          </a:xfrm>
        </p:grpSpPr>
        <p:sp>
          <p:nvSpPr>
            <p:cNvPr id="51" name="矩形 50"/>
            <p:cNvSpPr/>
            <p:nvPr/>
          </p:nvSpPr>
          <p:spPr>
            <a:xfrm>
              <a:off x="-1783080" y="-1752600"/>
              <a:ext cx="472440" cy="1143000"/>
            </a:xfrm>
            <a:prstGeom prst="rect">
              <a:avLst/>
            </a:prstGeom>
            <a:solidFill>
              <a:srgbClr val="CEB48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-1182933" y="340634"/>
              <a:ext cx="436173" cy="1777725"/>
            </a:xfrm>
            <a:prstGeom prst="rect">
              <a:avLst/>
            </a:prstGeom>
            <a:solidFill>
              <a:srgbClr val="CEB48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-1783080" y="-1767840"/>
              <a:ext cx="1021080" cy="3901440"/>
            </a:xfrm>
            <a:custGeom>
              <a:avLst/>
              <a:gdLst>
                <a:gd name="connsiteX0" fmla="*/ 563880 w 1021080"/>
                <a:gd name="connsiteY0" fmla="*/ 0 h 3901440"/>
                <a:gd name="connsiteX1" fmla="*/ 579120 w 1021080"/>
                <a:gd name="connsiteY1" fmla="*/ 1264920 h 3901440"/>
                <a:gd name="connsiteX2" fmla="*/ 0 w 1021080"/>
                <a:gd name="connsiteY2" fmla="*/ 1722120 h 3901440"/>
                <a:gd name="connsiteX3" fmla="*/ 0 w 1021080"/>
                <a:gd name="connsiteY3" fmla="*/ 3901440 h 3901440"/>
                <a:gd name="connsiteX4" fmla="*/ 457200 w 1021080"/>
                <a:gd name="connsiteY4" fmla="*/ 3901440 h 3901440"/>
                <a:gd name="connsiteX5" fmla="*/ 457200 w 1021080"/>
                <a:gd name="connsiteY5" fmla="*/ 1950720 h 3901440"/>
                <a:gd name="connsiteX6" fmla="*/ 1021080 w 1021080"/>
                <a:gd name="connsiteY6" fmla="*/ 1447800 h 3901440"/>
                <a:gd name="connsiteX7" fmla="*/ 1021080 w 1021080"/>
                <a:gd name="connsiteY7" fmla="*/ 15240 h 3901440"/>
                <a:gd name="connsiteX8" fmla="*/ 563880 w 1021080"/>
                <a:gd name="connsiteY8" fmla="*/ 0 h 39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21080" h="3901440">
                  <a:moveTo>
                    <a:pt x="563880" y="0"/>
                  </a:moveTo>
                  <a:lnTo>
                    <a:pt x="579120" y="1264920"/>
                  </a:lnTo>
                  <a:lnTo>
                    <a:pt x="0" y="1722120"/>
                  </a:lnTo>
                  <a:lnTo>
                    <a:pt x="0" y="3901440"/>
                  </a:lnTo>
                  <a:lnTo>
                    <a:pt x="457200" y="3901440"/>
                  </a:lnTo>
                  <a:lnTo>
                    <a:pt x="457200" y="1950720"/>
                  </a:lnTo>
                  <a:lnTo>
                    <a:pt x="1021080" y="1447800"/>
                  </a:lnTo>
                  <a:lnTo>
                    <a:pt x="1021080" y="15240"/>
                  </a:lnTo>
                  <a:lnTo>
                    <a:pt x="563880" y="0"/>
                  </a:lnTo>
                  <a:close/>
                </a:path>
              </a:pathLst>
            </a:custGeom>
            <a:solidFill>
              <a:srgbClr val="CEB48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-579120" y="-1752600"/>
              <a:ext cx="1706880" cy="3870960"/>
            </a:xfrm>
            <a:custGeom>
              <a:avLst/>
              <a:gdLst>
                <a:gd name="connsiteX0" fmla="*/ 1691640 w 1706880"/>
                <a:gd name="connsiteY0" fmla="*/ 457200 h 3870960"/>
                <a:gd name="connsiteX1" fmla="*/ 457200 w 1706880"/>
                <a:gd name="connsiteY1" fmla="*/ 472440 h 3870960"/>
                <a:gd name="connsiteX2" fmla="*/ 472440 w 1706880"/>
                <a:gd name="connsiteY2" fmla="*/ 2819400 h 3870960"/>
                <a:gd name="connsiteX3" fmla="*/ 640080 w 1706880"/>
                <a:gd name="connsiteY3" fmla="*/ 2804160 h 3870960"/>
                <a:gd name="connsiteX4" fmla="*/ 640080 w 1706880"/>
                <a:gd name="connsiteY4" fmla="*/ 655320 h 3870960"/>
                <a:gd name="connsiteX5" fmla="*/ 1691640 w 1706880"/>
                <a:gd name="connsiteY5" fmla="*/ 655320 h 3870960"/>
                <a:gd name="connsiteX6" fmla="*/ 1691640 w 1706880"/>
                <a:gd name="connsiteY6" fmla="*/ 3870960 h 3870960"/>
                <a:gd name="connsiteX7" fmla="*/ 0 w 1706880"/>
                <a:gd name="connsiteY7" fmla="*/ 3855720 h 3870960"/>
                <a:gd name="connsiteX8" fmla="*/ 0 w 1706880"/>
                <a:gd name="connsiteY8" fmla="*/ 3413760 h 3870960"/>
                <a:gd name="connsiteX9" fmla="*/ 1249680 w 1706880"/>
                <a:gd name="connsiteY9" fmla="*/ 3429000 h 3870960"/>
                <a:gd name="connsiteX10" fmla="*/ 1234440 w 1706880"/>
                <a:gd name="connsiteY10" fmla="*/ 1082040 h 3870960"/>
                <a:gd name="connsiteX11" fmla="*/ 1082040 w 1706880"/>
                <a:gd name="connsiteY11" fmla="*/ 1082040 h 3870960"/>
                <a:gd name="connsiteX12" fmla="*/ 1082040 w 1706880"/>
                <a:gd name="connsiteY12" fmla="*/ 3276600 h 3870960"/>
                <a:gd name="connsiteX13" fmla="*/ 0 w 1706880"/>
                <a:gd name="connsiteY13" fmla="*/ 3276600 h 3870960"/>
                <a:gd name="connsiteX14" fmla="*/ 0 w 1706880"/>
                <a:gd name="connsiteY14" fmla="*/ 0 h 3870960"/>
                <a:gd name="connsiteX15" fmla="*/ 1706880 w 1706880"/>
                <a:gd name="connsiteY15" fmla="*/ 0 h 3870960"/>
                <a:gd name="connsiteX16" fmla="*/ 1691640 w 1706880"/>
                <a:gd name="connsiteY16" fmla="*/ 457200 h 387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06880" h="3870960">
                  <a:moveTo>
                    <a:pt x="1691640" y="457200"/>
                  </a:moveTo>
                  <a:lnTo>
                    <a:pt x="457200" y="472440"/>
                  </a:lnTo>
                  <a:lnTo>
                    <a:pt x="472440" y="2819400"/>
                  </a:lnTo>
                  <a:lnTo>
                    <a:pt x="640080" y="2804160"/>
                  </a:lnTo>
                  <a:lnTo>
                    <a:pt x="640080" y="655320"/>
                  </a:lnTo>
                  <a:lnTo>
                    <a:pt x="1691640" y="655320"/>
                  </a:lnTo>
                  <a:lnTo>
                    <a:pt x="1691640" y="3870960"/>
                  </a:lnTo>
                  <a:lnTo>
                    <a:pt x="0" y="3855720"/>
                  </a:lnTo>
                  <a:lnTo>
                    <a:pt x="0" y="3413760"/>
                  </a:lnTo>
                  <a:lnTo>
                    <a:pt x="1249680" y="3429000"/>
                  </a:lnTo>
                  <a:lnTo>
                    <a:pt x="1234440" y="1082040"/>
                  </a:lnTo>
                  <a:lnTo>
                    <a:pt x="1082040" y="1082040"/>
                  </a:lnTo>
                  <a:lnTo>
                    <a:pt x="1082040" y="3276600"/>
                  </a:lnTo>
                  <a:lnTo>
                    <a:pt x="0" y="3276600"/>
                  </a:lnTo>
                  <a:lnTo>
                    <a:pt x="0" y="0"/>
                  </a:lnTo>
                  <a:lnTo>
                    <a:pt x="1706880" y="0"/>
                  </a:lnTo>
                  <a:lnTo>
                    <a:pt x="1691640" y="457200"/>
                  </a:lnTo>
                  <a:close/>
                </a:path>
              </a:pathLst>
            </a:custGeom>
            <a:solidFill>
              <a:srgbClr val="CEB48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38" name="直接连接符 137"/>
          <p:cNvCxnSpPr/>
          <p:nvPr/>
        </p:nvCxnSpPr>
        <p:spPr>
          <a:xfrm>
            <a:off x="3963128" y="0"/>
            <a:ext cx="0" cy="6869169"/>
          </a:xfrm>
          <a:prstGeom prst="line">
            <a:avLst/>
          </a:prstGeom>
          <a:ln>
            <a:solidFill>
              <a:schemeClr val="bg1">
                <a:lumMod val="6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图片 4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050" b="97717" l="9845" r="94560">
                        <a14:foregroundMark x1="29016" y1="19292" x2="28627" y2="18950"/>
                        <a14:foregroundMark x1="28238" y1="19749" x2="27850" y2="19406"/>
                        <a14:foregroundMark x1="30052" y1="19635" x2="28238" y2="19292"/>
                        <a14:foregroundMark x1="60751" y1="88128" x2="55440" y2="91553"/>
                        <a14:foregroundMark x1="35363" y1="88242" x2="34715" y2="94635"/>
                        <a14:foregroundMark x1="32902" y1="96918" x2="34067" y2="97945"/>
                        <a14:foregroundMark x1="87306" y1="75228" x2="91192" y2="71575"/>
                        <a14:foregroundMark x1="88860" y1="37671" x2="90674" y2="47260"/>
                        <a14:foregroundMark x1="90674" y1="47260" x2="87306" y2="48402"/>
                        <a14:foregroundMark x1="93394" y1="39726" x2="94560" y2="46689"/>
                        <a14:foregroundMark x1="52850" y1="11416" x2="46891" y2="6050"/>
                        <a14:foregroundMark x1="45337" y1="10616" x2="40285" y2="6279"/>
                        <a14:backgroundMark x1="26813" y1="12900" x2="28022" y2="17389"/>
                        <a14:backgroundMark x1="24741" y1="23288" x2="25259" y2="27626"/>
                        <a14:backgroundMark x1="26813" y1="23630" x2="28368" y2="33447"/>
                        <a14:backgroundMark x1="37435" y1="24087" x2="37694" y2="28311"/>
                        <a14:backgroundMark x1="34974" y1="12900" x2="42228" y2="14612"/>
                        <a14:backgroundMark x1="47150" y1="18607" x2="79404" y2="34703"/>
                        <a14:backgroundMark x1="57383" y1="17694" x2="69171" y2="25000"/>
                        <a14:backgroundMark x1="76813" y1="23630" x2="80959" y2="27283"/>
                        <a14:backgroundMark x1="54534" y1="34475" x2="63212" y2="36758"/>
                        <a14:backgroundMark x1="63212" y1="36758" x2="78368" y2="48059"/>
                        <a14:backgroundMark x1="78368" y1="48059" x2="78756" y2="48516"/>
                        <a14:backgroundMark x1="48316" y1="49429" x2="64767" y2="59247"/>
                        <a14:backgroundMark x1="64767" y1="59247" x2="61269" y2="65525"/>
                        <a14:backgroundMark x1="71114" y1="61530" x2="74870" y2="64155"/>
                        <a14:backgroundMark x1="36917" y1="51826" x2="42746" y2="67123"/>
                        <a14:backgroundMark x1="44560" y1="74543" x2="43782" y2="72831"/>
                        <a14:backgroundMark x1="52461" y1="76712" x2="59715" y2="79452"/>
                        <a14:backgroundMark x1="78238" y1="81164" x2="80181" y2="76712"/>
                        <a14:backgroundMark x1="22539" y1="73858" x2="27202" y2="77397"/>
                        <a14:backgroundMark x1="33290" y1="30365" x2="33161" y2="28311"/>
                        <a14:backgroundMark x1="63990" y1="13242" x2="82383" y2="14612"/>
                        <a14:backgroundMark x1="79793" y1="19977" x2="81088" y2="20662"/>
                        <a14:backgroundMark x1="63472" y1="14269" x2="67746" y2="14726"/>
                        <a14:backgroundMark x1="61269" y1="13242" x2="64378" y2="14269"/>
                        <a14:backgroundMark x1="58938" y1="14041" x2="63472" y2="14612"/>
                        <a14:backgroundMark x1="59715" y1="55479" x2="64249" y2="64612"/>
                        <a14:backgroundMark x1="64249" y1="64612" x2="55570" y2="61416"/>
                        <a14:backgroundMark x1="35104" y1="35388" x2="35104" y2="35388"/>
                        <a14:backgroundMark x1="33679" y1="26712" x2="33549" y2="26256"/>
                        <a14:backgroundMark x1="38472" y1="24315" x2="38472" y2="27968"/>
                        <a14:backgroundMark x1="33161" y1="24429" x2="33679" y2="28653"/>
                        <a14:backgroundMark x1="60492" y1="23973" x2="66451" y2="28995"/>
                        <a14:backgroundMark x1="68394" y1="21347" x2="69948" y2="27397"/>
                        <a14:backgroundMark x1="80570" y1="22032" x2="80311" y2="21347"/>
                        <a14:backgroundMark x1="79922" y1="20320" x2="81606" y2="22374"/>
                      </a14:backgroundRemoval>
                    </a14:imgEffect>
                    <a14:imgEffect>
                      <a14:brightnessContrast contrast="20000"/>
                    </a14:imgEffect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82058" y="892689"/>
            <a:ext cx="4894336" cy="555367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0" y="2862580"/>
            <a:ext cx="12192000" cy="108712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7" name="组合 26"/>
          <p:cNvGrpSpPr/>
          <p:nvPr/>
        </p:nvGrpSpPr>
        <p:grpSpPr>
          <a:xfrm>
            <a:off x="0" y="3336758"/>
            <a:ext cx="2799347" cy="529160"/>
            <a:chOff x="0" y="3336758"/>
            <a:chExt cx="2799347" cy="529160"/>
          </a:xfrm>
        </p:grpSpPr>
        <p:sp>
          <p:nvSpPr>
            <p:cNvPr id="7" name="矩形 6"/>
            <p:cNvSpPr/>
            <p:nvPr/>
          </p:nvSpPr>
          <p:spPr>
            <a:xfrm>
              <a:off x="1010653" y="3501190"/>
              <a:ext cx="1788694" cy="7619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0" y="3637778"/>
              <a:ext cx="1010653" cy="7619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1147010" y="3637777"/>
              <a:ext cx="1652337" cy="7619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1" y="3501190"/>
              <a:ext cx="866274" cy="7619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1050756" y="3629570"/>
              <a:ext cx="45719" cy="204494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915604" y="3336758"/>
              <a:ext cx="45719" cy="26667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915603" y="3731817"/>
              <a:ext cx="45719" cy="102247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 flipH="1">
              <a:off x="1051958" y="3336758"/>
              <a:ext cx="45719" cy="138342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2720735" y="3342241"/>
              <a:ext cx="78611" cy="82978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2720736" y="3782940"/>
              <a:ext cx="78611" cy="82978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1" name="矩形 130"/>
          <p:cNvSpPr/>
          <p:nvPr/>
        </p:nvSpPr>
        <p:spPr>
          <a:xfrm>
            <a:off x="2702735" y="1509832"/>
            <a:ext cx="1260393" cy="1350579"/>
          </a:xfrm>
          <a:prstGeom prst="rect">
            <a:avLst/>
          </a:prstGeom>
          <a:solidFill>
            <a:srgbClr val="C4C3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8" name="组合 27"/>
          <p:cNvGrpSpPr/>
          <p:nvPr/>
        </p:nvGrpSpPr>
        <p:grpSpPr>
          <a:xfrm rot="10800000">
            <a:off x="9392652" y="3338857"/>
            <a:ext cx="2799347" cy="529160"/>
            <a:chOff x="0" y="3336758"/>
            <a:chExt cx="2799347" cy="529160"/>
          </a:xfrm>
        </p:grpSpPr>
        <p:sp>
          <p:nvSpPr>
            <p:cNvPr id="29" name="矩形 28"/>
            <p:cNvSpPr/>
            <p:nvPr/>
          </p:nvSpPr>
          <p:spPr>
            <a:xfrm>
              <a:off x="1010653" y="3501190"/>
              <a:ext cx="1788694" cy="7619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0" y="3637778"/>
              <a:ext cx="1010653" cy="7619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1147010" y="3637777"/>
              <a:ext cx="1652337" cy="7619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1" y="3501190"/>
              <a:ext cx="866274" cy="7619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1050756" y="3629570"/>
              <a:ext cx="45719" cy="204494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915604" y="3336758"/>
              <a:ext cx="45719" cy="26667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915603" y="3731817"/>
              <a:ext cx="45719" cy="102247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 flipH="1">
              <a:off x="1051958" y="3336758"/>
              <a:ext cx="45719" cy="138342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/>
            <p:cNvSpPr/>
            <p:nvPr/>
          </p:nvSpPr>
          <p:spPr>
            <a:xfrm>
              <a:off x="2720735" y="3342241"/>
              <a:ext cx="78611" cy="82978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2720736" y="3782940"/>
              <a:ext cx="78611" cy="82978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4" name="矩形 143"/>
          <p:cNvSpPr/>
          <p:nvPr/>
        </p:nvSpPr>
        <p:spPr>
          <a:xfrm>
            <a:off x="2948305" y="6005195"/>
            <a:ext cx="6511290" cy="762000"/>
          </a:xfrm>
          <a:prstGeom prst="rect">
            <a:avLst/>
          </a:prstGeom>
          <a:solidFill>
            <a:srgbClr val="292829"/>
          </a:solidFill>
          <a:ln>
            <a:noFill/>
          </a:ln>
          <a:effectLst>
            <a:outerShdw blurRad="63500" sx="105000" sy="105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27305" y="3059430"/>
            <a:ext cx="12148185" cy="720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400" b="1" dirty="0">
                <a:solidFill>
                  <a:srgbClr val="E5BC86"/>
                </a:solidFill>
                <a:latin typeface="微软雅黑" panose="020B0503020204020204" charset="-122"/>
                <a:ea typeface="微软雅黑" panose="020B0503020204020204" charset="-122"/>
              </a:rPr>
              <a:t>Traffic Flow Dynamic</a:t>
            </a:r>
            <a:endParaRPr lang="zh-CN" altLang="en-US" sz="4400" b="1" dirty="0">
              <a:solidFill>
                <a:srgbClr val="E5BC8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3" name="组合 92"/>
          <p:cNvGrpSpPr/>
          <p:nvPr/>
        </p:nvGrpSpPr>
        <p:grpSpPr>
          <a:xfrm>
            <a:off x="1122141" y="1509832"/>
            <a:ext cx="1732597" cy="1155465"/>
            <a:chOff x="1098451" y="-835893"/>
            <a:chExt cx="1732597" cy="1155465"/>
          </a:xfrm>
        </p:grpSpPr>
        <p:grpSp>
          <p:nvGrpSpPr>
            <p:cNvPr id="59" name="组合 58"/>
            <p:cNvGrpSpPr/>
            <p:nvPr/>
          </p:nvGrpSpPr>
          <p:grpSpPr>
            <a:xfrm>
              <a:off x="1109166" y="-835893"/>
              <a:ext cx="142016" cy="129147"/>
              <a:chOff x="1109166" y="-835893"/>
              <a:chExt cx="142016" cy="129147"/>
            </a:xfrm>
          </p:grpSpPr>
          <p:sp>
            <p:nvSpPr>
              <p:cNvPr id="57" name="矩形 56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矩形 57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0" name="组合 59"/>
            <p:cNvGrpSpPr/>
            <p:nvPr/>
          </p:nvGrpSpPr>
          <p:grpSpPr>
            <a:xfrm>
              <a:off x="1729376" y="-835893"/>
              <a:ext cx="142016" cy="129147"/>
              <a:chOff x="1109166" y="-835893"/>
              <a:chExt cx="142016" cy="129147"/>
            </a:xfrm>
          </p:grpSpPr>
          <p:sp>
            <p:nvSpPr>
              <p:cNvPr id="61" name="矩形 60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矩形 61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3" name="组合 62"/>
            <p:cNvGrpSpPr/>
            <p:nvPr/>
          </p:nvGrpSpPr>
          <p:grpSpPr>
            <a:xfrm>
              <a:off x="2060219" y="-835893"/>
              <a:ext cx="142016" cy="129147"/>
              <a:chOff x="1109166" y="-835893"/>
              <a:chExt cx="142016" cy="129147"/>
            </a:xfrm>
          </p:grpSpPr>
          <p:sp>
            <p:nvSpPr>
              <p:cNvPr id="64" name="矩形 63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矩形 64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2689032" y="-835893"/>
              <a:ext cx="142016" cy="129147"/>
              <a:chOff x="1109166" y="-835893"/>
              <a:chExt cx="142016" cy="129147"/>
            </a:xfrm>
          </p:grpSpPr>
          <p:sp>
            <p:nvSpPr>
              <p:cNvPr id="67" name="矩形 66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矩形 67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9" name="组合 68"/>
            <p:cNvGrpSpPr/>
            <p:nvPr/>
          </p:nvGrpSpPr>
          <p:grpSpPr>
            <a:xfrm>
              <a:off x="1098451" y="-309473"/>
              <a:ext cx="142016" cy="129147"/>
              <a:chOff x="1109166" y="-835893"/>
              <a:chExt cx="142016" cy="129147"/>
            </a:xfrm>
          </p:grpSpPr>
          <p:sp>
            <p:nvSpPr>
              <p:cNvPr id="70" name="矩形 69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矩形 70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2" name="组合 71"/>
            <p:cNvGrpSpPr/>
            <p:nvPr/>
          </p:nvGrpSpPr>
          <p:grpSpPr>
            <a:xfrm>
              <a:off x="1718661" y="-309473"/>
              <a:ext cx="142016" cy="129147"/>
              <a:chOff x="1109166" y="-835893"/>
              <a:chExt cx="142016" cy="129147"/>
            </a:xfrm>
          </p:grpSpPr>
          <p:sp>
            <p:nvSpPr>
              <p:cNvPr id="73" name="矩形 72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矩形 73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5" name="组合 74"/>
            <p:cNvGrpSpPr/>
            <p:nvPr/>
          </p:nvGrpSpPr>
          <p:grpSpPr>
            <a:xfrm>
              <a:off x="2049504" y="-309473"/>
              <a:ext cx="142016" cy="129147"/>
              <a:chOff x="1109166" y="-835893"/>
              <a:chExt cx="142016" cy="129147"/>
            </a:xfrm>
          </p:grpSpPr>
          <p:sp>
            <p:nvSpPr>
              <p:cNvPr id="76" name="矩形 75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矩形 76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8" name="组合 77"/>
            <p:cNvGrpSpPr/>
            <p:nvPr/>
          </p:nvGrpSpPr>
          <p:grpSpPr>
            <a:xfrm>
              <a:off x="2678317" y="-309473"/>
              <a:ext cx="142016" cy="129147"/>
              <a:chOff x="1109166" y="-835893"/>
              <a:chExt cx="142016" cy="129147"/>
            </a:xfrm>
          </p:grpSpPr>
          <p:sp>
            <p:nvSpPr>
              <p:cNvPr id="79" name="矩形 78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" name="矩形 79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1" name="组合 80"/>
            <p:cNvGrpSpPr/>
            <p:nvPr/>
          </p:nvGrpSpPr>
          <p:grpSpPr>
            <a:xfrm>
              <a:off x="1098451" y="190425"/>
              <a:ext cx="142016" cy="129147"/>
              <a:chOff x="1109166" y="-835893"/>
              <a:chExt cx="142016" cy="129147"/>
            </a:xfrm>
          </p:grpSpPr>
          <p:sp>
            <p:nvSpPr>
              <p:cNvPr id="82" name="矩形 81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矩形 82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4" name="组合 83"/>
            <p:cNvGrpSpPr/>
            <p:nvPr/>
          </p:nvGrpSpPr>
          <p:grpSpPr>
            <a:xfrm>
              <a:off x="1718661" y="190425"/>
              <a:ext cx="142016" cy="129147"/>
              <a:chOff x="1109166" y="-835893"/>
              <a:chExt cx="142016" cy="129147"/>
            </a:xfrm>
          </p:grpSpPr>
          <p:sp>
            <p:nvSpPr>
              <p:cNvPr id="85" name="矩形 84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矩形 85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7" name="组合 86"/>
            <p:cNvGrpSpPr/>
            <p:nvPr/>
          </p:nvGrpSpPr>
          <p:grpSpPr>
            <a:xfrm>
              <a:off x="2049504" y="190425"/>
              <a:ext cx="142016" cy="129147"/>
              <a:chOff x="1109166" y="-835893"/>
              <a:chExt cx="142016" cy="129147"/>
            </a:xfrm>
          </p:grpSpPr>
          <p:sp>
            <p:nvSpPr>
              <p:cNvPr id="88" name="矩形 87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矩形 88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0" name="组合 89"/>
            <p:cNvGrpSpPr/>
            <p:nvPr/>
          </p:nvGrpSpPr>
          <p:grpSpPr>
            <a:xfrm>
              <a:off x="2678317" y="190425"/>
              <a:ext cx="142016" cy="129147"/>
              <a:chOff x="1109166" y="-835893"/>
              <a:chExt cx="142016" cy="129147"/>
            </a:xfrm>
          </p:grpSpPr>
          <p:sp>
            <p:nvSpPr>
              <p:cNvPr id="91" name="矩形 90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矩形 91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32" name="矩形 131"/>
          <p:cNvSpPr/>
          <p:nvPr/>
        </p:nvSpPr>
        <p:spPr>
          <a:xfrm>
            <a:off x="8358136" y="1497586"/>
            <a:ext cx="1260393" cy="1350579"/>
          </a:xfrm>
          <a:prstGeom prst="rect">
            <a:avLst/>
          </a:prstGeom>
          <a:solidFill>
            <a:srgbClr val="C4C3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94" name="组合 93"/>
          <p:cNvGrpSpPr/>
          <p:nvPr/>
        </p:nvGrpSpPr>
        <p:grpSpPr>
          <a:xfrm>
            <a:off x="9486499" y="1511695"/>
            <a:ext cx="1732597" cy="1155465"/>
            <a:chOff x="1098451" y="-835893"/>
            <a:chExt cx="1732597" cy="1155465"/>
          </a:xfrm>
        </p:grpSpPr>
        <p:grpSp>
          <p:nvGrpSpPr>
            <p:cNvPr id="95" name="组合 94"/>
            <p:cNvGrpSpPr/>
            <p:nvPr/>
          </p:nvGrpSpPr>
          <p:grpSpPr>
            <a:xfrm>
              <a:off x="1109166" y="-835893"/>
              <a:ext cx="142016" cy="129147"/>
              <a:chOff x="1109166" y="-835893"/>
              <a:chExt cx="142016" cy="129147"/>
            </a:xfrm>
          </p:grpSpPr>
          <p:sp>
            <p:nvSpPr>
              <p:cNvPr id="129" name="矩形 128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" name="矩形 129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6" name="组合 95"/>
            <p:cNvGrpSpPr/>
            <p:nvPr/>
          </p:nvGrpSpPr>
          <p:grpSpPr>
            <a:xfrm>
              <a:off x="1729376" y="-835893"/>
              <a:ext cx="142016" cy="129147"/>
              <a:chOff x="1109166" y="-835893"/>
              <a:chExt cx="142016" cy="129147"/>
            </a:xfrm>
          </p:grpSpPr>
          <p:sp>
            <p:nvSpPr>
              <p:cNvPr id="127" name="矩形 126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" name="矩形 127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7" name="组合 96"/>
            <p:cNvGrpSpPr/>
            <p:nvPr/>
          </p:nvGrpSpPr>
          <p:grpSpPr>
            <a:xfrm>
              <a:off x="2060219" y="-835893"/>
              <a:ext cx="142016" cy="129147"/>
              <a:chOff x="1109166" y="-835893"/>
              <a:chExt cx="142016" cy="129147"/>
            </a:xfrm>
          </p:grpSpPr>
          <p:sp>
            <p:nvSpPr>
              <p:cNvPr id="125" name="矩形 124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6" name="矩形 125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8" name="组合 97"/>
            <p:cNvGrpSpPr/>
            <p:nvPr/>
          </p:nvGrpSpPr>
          <p:grpSpPr>
            <a:xfrm>
              <a:off x="2689032" y="-835893"/>
              <a:ext cx="142016" cy="129147"/>
              <a:chOff x="1109166" y="-835893"/>
              <a:chExt cx="142016" cy="129147"/>
            </a:xfrm>
          </p:grpSpPr>
          <p:sp>
            <p:nvSpPr>
              <p:cNvPr id="123" name="矩形 122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4" name="矩形 123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9" name="组合 98"/>
            <p:cNvGrpSpPr/>
            <p:nvPr/>
          </p:nvGrpSpPr>
          <p:grpSpPr>
            <a:xfrm>
              <a:off x="1098451" y="-309473"/>
              <a:ext cx="142016" cy="129147"/>
              <a:chOff x="1109166" y="-835893"/>
              <a:chExt cx="142016" cy="129147"/>
            </a:xfrm>
          </p:grpSpPr>
          <p:sp>
            <p:nvSpPr>
              <p:cNvPr id="121" name="矩形 120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2" name="矩形 121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0" name="组合 99"/>
            <p:cNvGrpSpPr/>
            <p:nvPr/>
          </p:nvGrpSpPr>
          <p:grpSpPr>
            <a:xfrm>
              <a:off x="1718661" y="-309473"/>
              <a:ext cx="142016" cy="129147"/>
              <a:chOff x="1109166" y="-835893"/>
              <a:chExt cx="142016" cy="129147"/>
            </a:xfrm>
          </p:grpSpPr>
          <p:sp>
            <p:nvSpPr>
              <p:cNvPr id="119" name="矩形 118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0" name="矩形 119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1" name="组合 100"/>
            <p:cNvGrpSpPr/>
            <p:nvPr/>
          </p:nvGrpSpPr>
          <p:grpSpPr>
            <a:xfrm>
              <a:off x="2049504" y="-309473"/>
              <a:ext cx="142016" cy="129147"/>
              <a:chOff x="1109166" y="-835893"/>
              <a:chExt cx="142016" cy="129147"/>
            </a:xfrm>
          </p:grpSpPr>
          <p:sp>
            <p:nvSpPr>
              <p:cNvPr id="117" name="矩形 116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8" name="矩形 117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2" name="组合 101"/>
            <p:cNvGrpSpPr/>
            <p:nvPr/>
          </p:nvGrpSpPr>
          <p:grpSpPr>
            <a:xfrm>
              <a:off x="2678317" y="-309473"/>
              <a:ext cx="142016" cy="129147"/>
              <a:chOff x="1109166" y="-835893"/>
              <a:chExt cx="142016" cy="129147"/>
            </a:xfrm>
          </p:grpSpPr>
          <p:sp>
            <p:nvSpPr>
              <p:cNvPr id="115" name="矩形 114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6" name="矩形 115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3" name="组合 102"/>
            <p:cNvGrpSpPr/>
            <p:nvPr/>
          </p:nvGrpSpPr>
          <p:grpSpPr>
            <a:xfrm>
              <a:off x="1098451" y="190425"/>
              <a:ext cx="142016" cy="129147"/>
              <a:chOff x="1109166" y="-835893"/>
              <a:chExt cx="142016" cy="129147"/>
            </a:xfrm>
          </p:grpSpPr>
          <p:sp>
            <p:nvSpPr>
              <p:cNvPr id="113" name="矩形 112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" name="矩形 113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4" name="组合 103"/>
            <p:cNvGrpSpPr/>
            <p:nvPr/>
          </p:nvGrpSpPr>
          <p:grpSpPr>
            <a:xfrm>
              <a:off x="1718661" y="190425"/>
              <a:ext cx="142016" cy="129147"/>
              <a:chOff x="1109166" y="-835893"/>
              <a:chExt cx="142016" cy="129147"/>
            </a:xfrm>
          </p:grpSpPr>
          <p:sp>
            <p:nvSpPr>
              <p:cNvPr id="111" name="矩形 110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" name="矩形 111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5" name="组合 104"/>
            <p:cNvGrpSpPr/>
            <p:nvPr/>
          </p:nvGrpSpPr>
          <p:grpSpPr>
            <a:xfrm>
              <a:off x="2049504" y="190425"/>
              <a:ext cx="142016" cy="129147"/>
              <a:chOff x="1109166" y="-835893"/>
              <a:chExt cx="142016" cy="129147"/>
            </a:xfrm>
          </p:grpSpPr>
          <p:sp>
            <p:nvSpPr>
              <p:cNvPr id="109" name="矩形 108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" name="矩形 109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6" name="组合 105"/>
            <p:cNvGrpSpPr/>
            <p:nvPr/>
          </p:nvGrpSpPr>
          <p:grpSpPr>
            <a:xfrm>
              <a:off x="2678317" y="190425"/>
              <a:ext cx="142016" cy="129147"/>
              <a:chOff x="1109166" y="-835893"/>
              <a:chExt cx="142016" cy="129147"/>
            </a:xfrm>
          </p:grpSpPr>
          <p:sp>
            <p:nvSpPr>
              <p:cNvPr id="107" name="矩形 106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" name="矩形 107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35" name="矩形 134"/>
          <p:cNvSpPr/>
          <p:nvPr/>
        </p:nvSpPr>
        <p:spPr>
          <a:xfrm>
            <a:off x="3673495" y="15099"/>
            <a:ext cx="4954317" cy="905506"/>
          </a:xfrm>
          <a:prstGeom prst="rect">
            <a:avLst/>
          </a:prstGeom>
          <a:solidFill>
            <a:srgbClr val="EEEE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1" name="直接连接符 140"/>
          <p:cNvCxnSpPr/>
          <p:nvPr/>
        </p:nvCxnSpPr>
        <p:spPr>
          <a:xfrm flipV="1">
            <a:off x="-2" y="892586"/>
            <a:ext cx="12192002" cy="35639"/>
          </a:xfrm>
          <a:prstGeom prst="line">
            <a:avLst/>
          </a:prstGeom>
          <a:ln>
            <a:solidFill>
              <a:schemeClr val="bg1">
                <a:lumMod val="6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连接符 142"/>
          <p:cNvCxnSpPr/>
          <p:nvPr/>
        </p:nvCxnSpPr>
        <p:spPr>
          <a:xfrm flipV="1">
            <a:off x="-7" y="1483199"/>
            <a:ext cx="12192002" cy="35639"/>
          </a:xfrm>
          <a:prstGeom prst="line">
            <a:avLst/>
          </a:prstGeom>
          <a:ln>
            <a:solidFill>
              <a:schemeClr val="bg1">
                <a:lumMod val="6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文本框 144"/>
          <p:cNvSpPr txBox="1"/>
          <p:nvPr/>
        </p:nvSpPr>
        <p:spPr>
          <a:xfrm>
            <a:off x="469265" y="6005195"/>
            <a:ext cx="11807190" cy="8343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300" b="1" dirty="0">
                <a:solidFill>
                  <a:srgbClr val="E5BC86"/>
                </a:solidFill>
                <a:latin typeface="微软雅黑" panose="020B0503020204020204" charset="-122"/>
                <a:ea typeface="微软雅黑" panose="020B0503020204020204" charset="-122"/>
              </a:rPr>
              <a:t>Gong Ziyang</a:t>
            </a:r>
          </a:p>
          <a:p>
            <a:pPr algn="ctr"/>
            <a:endParaRPr lang="en-US" altLang="zh-CN" sz="2300" b="1" dirty="0">
              <a:solidFill>
                <a:srgbClr val="E5BC8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矩形 145"/>
          <p:cNvSpPr/>
          <p:nvPr/>
        </p:nvSpPr>
        <p:spPr>
          <a:xfrm>
            <a:off x="2949575" y="6767195"/>
            <a:ext cx="6510020" cy="102235"/>
          </a:xfrm>
          <a:prstGeom prst="rect">
            <a:avLst/>
          </a:prstGeom>
          <a:solidFill>
            <a:srgbClr val="891C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 rot="10800000">
            <a:off x="2798965" y="5947622"/>
            <a:ext cx="150861" cy="954038"/>
          </a:xfrm>
          <a:prstGeom prst="rect">
            <a:avLst/>
          </a:prstGeom>
          <a:gradFill>
            <a:gsLst>
              <a:gs pos="0">
                <a:srgbClr val="292829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矩形 53"/>
          <p:cNvSpPr/>
          <p:nvPr/>
        </p:nvSpPr>
        <p:spPr>
          <a:xfrm rot="10800000">
            <a:off x="9467370" y="5947621"/>
            <a:ext cx="150855" cy="954035"/>
          </a:xfrm>
          <a:prstGeom prst="rect">
            <a:avLst/>
          </a:prstGeom>
          <a:gradFill>
            <a:gsLst>
              <a:gs pos="0">
                <a:srgbClr val="292829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77" t="61091" r="46946" b="28282"/>
          <a:stretch>
            <a:fillRect/>
          </a:stretch>
        </p:blipFill>
        <p:spPr>
          <a:xfrm>
            <a:off x="5800130" y="1640826"/>
            <a:ext cx="788596" cy="7885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F:\设计相关\莱茵PPT\20210803125144!Avg_avg_ac15_6.png20210803125144!Avg_avg_ac15_6"/>
          <p:cNvPicPr>
            <a:picLocks noChangeAspect="1"/>
          </p:cNvPicPr>
          <p:nvPr/>
        </p:nvPicPr>
        <p:blipFill>
          <a:blip r:embed="rId3">
            <a:alphaModFix amt="40000"/>
          </a:blip>
          <a:srcRect t="-6983" b="4347"/>
          <a:stretch>
            <a:fillRect/>
          </a:stretch>
        </p:blipFill>
        <p:spPr>
          <a:xfrm>
            <a:off x="59055" y="-279400"/>
            <a:ext cx="12185650" cy="7011035"/>
          </a:xfrm>
          <a:prstGeom prst="rect">
            <a:avLst/>
          </a:prstGeom>
          <a:ln>
            <a:noFill/>
          </a:ln>
          <a:effectLst>
            <a:softEdge rad="317500"/>
          </a:effec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16050" y="179705"/>
            <a:ext cx="2640330" cy="1202690"/>
          </a:xfrm>
        </p:spPr>
        <p:txBody>
          <a:bodyPr/>
          <a:lstStyle/>
          <a:p>
            <a:r>
              <a:rPr lang="en-US" altLang="zh-CN" sz="2000">
                <a:latin typeface="Novecento wide Bold" panose="00000805000000000000" charset="0"/>
                <a:cs typeface="Novecento wide Bold" panose="00000805000000000000" charset="0"/>
              </a:rPr>
              <a:t>  </a:t>
            </a:r>
          </a:p>
        </p:txBody>
      </p:sp>
      <p:sp>
        <p:nvSpPr>
          <p:cNvPr id="4" name="矩形 3"/>
          <p:cNvSpPr/>
          <p:nvPr/>
        </p:nvSpPr>
        <p:spPr>
          <a:xfrm flipV="1">
            <a:off x="11085195" y="6539230"/>
            <a:ext cx="402590" cy="15494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343015" y="2866390"/>
            <a:ext cx="76200" cy="762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1248390" y="2870835"/>
            <a:ext cx="76200" cy="762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343015" y="3487420"/>
            <a:ext cx="76200" cy="762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1248390" y="3460750"/>
            <a:ext cx="76200" cy="762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6332855" y="3746500"/>
            <a:ext cx="591185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6419215" y="2994025"/>
            <a:ext cx="60655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Chapt6. General Aspects</a:t>
            </a:r>
          </a:p>
          <a:p>
            <a:pPr algn="l"/>
            <a:endParaRPr lang="en-US" altLang="zh-CN" sz="24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908935" y="349694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62610" y="349694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62610" y="287591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2600305" y="2866390"/>
            <a:ext cx="2882265" cy="1476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>
                <a:highlight>
                  <a:srgbClr val="FFFF00"/>
                </a:highlight>
              </a:rPr>
              <a:t>建议使用：带图小标题</a:t>
            </a:r>
            <a:r>
              <a:rPr lang="en-US" altLang="zh-CN">
                <a:highlight>
                  <a:srgbClr val="FFFF00"/>
                </a:highlight>
              </a:rPr>
              <a:t> </a:t>
            </a:r>
            <a:br>
              <a:rPr lang="zh-CN" altLang="en-US">
                <a:highlight>
                  <a:srgbClr val="FFFF00"/>
                </a:highlight>
              </a:rPr>
            </a:br>
            <a:br>
              <a:rPr lang="zh-CN" altLang="en-US">
                <a:highlight>
                  <a:srgbClr val="FFFF00"/>
                </a:highlight>
              </a:rPr>
            </a:br>
            <a:r>
              <a:rPr lang="zh-CN" altLang="en-US">
                <a:highlight>
                  <a:srgbClr val="FFFF00"/>
                </a:highlight>
              </a:rPr>
              <a:t>可以修改右侧文字</a:t>
            </a:r>
            <a:r>
              <a:rPr lang="en-US" altLang="zh-CN">
                <a:highlight>
                  <a:srgbClr val="FFFF00"/>
                </a:highlight>
              </a:rPr>
              <a:t> </a:t>
            </a:r>
            <a:r>
              <a:rPr lang="zh-CN" altLang="en-US">
                <a:highlight>
                  <a:srgbClr val="FFFF00"/>
                </a:highlight>
              </a:rPr>
              <a:t>介绍</a:t>
            </a:r>
            <a:br>
              <a:rPr lang="zh-CN" altLang="en-US">
                <a:highlight>
                  <a:srgbClr val="FFFF00"/>
                </a:highlight>
              </a:rPr>
            </a:br>
            <a:r>
              <a:rPr lang="zh-CN" altLang="en-US">
                <a:highlight>
                  <a:srgbClr val="FFFF00"/>
                </a:highlight>
              </a:rPr>
              <a:t>英文字体：Novecento wide </a:t>
            </a:r>
            <a:br>
              <a:rPr lang="zh-CN" altLang="en-US">
                <a:highlight>
                  <a:srgbClr val="FFFF00"/>
                </a:highlight>
              </a:rPr>
            </a:br>
            <a:r>
              <a:rPr lang="zh-CN" altLang="en-US">
                <a:highlight>
                  <a:srgbClr val="FFFF00"/>
                </a:highlight>
              </a:rPr>
              <a:t>中文字体：思源黑体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DDC48C-CCCB-E27F-9012-403502707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F79E77-5C64-2D69-6C47-5F5570F304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15638AC-6B35-3230-2033-7B9A9F557633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6DBC390-74DE-A0F6-AE23-9E8DBCA6F256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41ABCCA-40C8-CEBC-A637-649AA4712D1D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01D19F5-3792-7578-350C-7BC7ADE56EC9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D5E289-70D1-F3C9-3746-5EDE42FBA3A9}"/>
              </a:ext>
            </a:extLst>
          </p:cNvPr>
          <p:cNvSpPr txBox="1"/>
          <p:nvPr/>
        </p:nvSpPr>
        <p:spPr>
          <a:xfrm>
            <a:off x="177800" y="444414"/>
            <a:ext cx="626191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6.1 Model Classification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C3B9EBF-31D3-4A44-0D1F-1DBF10779F28}"/>
              </a:ext>
            </a:extLst>
          </p:cNvPr>
          <p:cNvSpPr txBox="1"/>
          <p:nvPr/>
        </p:nvSpPr>
        <p:spPr>
          <a:xfrm>
            <a:off x="330200" y="1090655"/>
            <a:ext cx="101092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ym typeface="+mn-ea"/>
              </a:rPr>
              <a:t>Traffic flow models can be categorized with respect to a number of aspects: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sym typeface="+mn-ea"/>
              </a:rPr>
              <a:t>Aggregation level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sym typeface="+mn-ea"/>
              </a:rPr>
              <a:t>Mathematical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sym typeface="+mn-ea"/>
              </a:rPr>
              <a:t>Conceptual aspects</a:t>
            </a:r>
            <a:endParaRPr lang="zh-CN" altLang="en-US" sz="24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309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C122AA-798C-D25A-8EEA-11136FBE9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C0451B-0973-F6E3-AB7B-A0D333BDFF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2048938-BB68-A6E4-13AD-836B9AA10DEA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AC97FD9-9333-A938-A87C-6A31A7C721D7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D6AA55-4B96-7F21-F806-F51D38E6BCA1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7192E0C-1124-4746-A2C1-7F5937F987A5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066EB6D-632C-9B69-14F8-D8EF4758AAD2}"/>
              </a:ext>
            </a:extLst>
          </p:cNvPr>
          <p:cNvSpPr txBox="1"/>
          <p:nvPr/>
        </p:nvSpPr>
        <p:spPr>
          <a:xfrm>
            <a:off x="177800" y="444414"/>
            <a:ext cx="9119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6.1.1 Model Classification-Aggregation Level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2391415-CBDB-FACF-9AB0-B81B34AB2D59}"/>
              </a:ext>
            </a:extLst>
          </p:cNvPr>
          <p:cNvSpPr txBox="1"/>
          <p:nvPr/>
        </p:nvSpPr>
        <p:spPr>
          <a:xfrm>
            <a:off x="226291" y="1125721"/>
            <a:ext cx="91960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sym typeface="+mn-ea"/>
              </a:rPr>
              <a:t>Macroscopic models(hydrodynamic models)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B7583DE-79C3-772A-BEB5-E273F21AC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6656" y="1676399"/>
            <a:ext cx="7121399" cy="38189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7E6FC2E-52E1-FD21-3CF4-B1453F9E26B0}"/>
                  </a:ext>
                </a:extLst>
              </p:cNvPr>
              <p:cNvSpPr txBox="1"/>
              <p:nvPr/>
            </p:nvSpPr>
            <p:spPr>
              <a:xfrm>
                <a:off x="346364" y="1807028"/>
                <a:ext cx="4627418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zh-CN" sz="2400" dirty="0">
                    <a:effectLst/>
                    <a:latin typeface="Google Sans Text"/>
                  </a:rPr>
                  <a:t>Treats traffic flow as a continuous fluid or gas.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zh-CN" sz="2400" dirty="0">
                    <a:effectLst/>
                    <a:latin typeface="Google Sans Text"/>
                  </a:rPr>
                  <a:t>Uses macroscopic field variables such as density 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zh-CN" sz="2400" dirty="0">
                    <a:effectLst/>
                    <a:latin typeface="Google Sans Text"/>
                  </a:rPr>
                  <a:t>, flow 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zh-CN" sz="2400" dirty="0">
                    <a:effectLst/>
                    <a:latin typeface="Google Sans Text"/>
                  </a:rPr>
                  <a:t>, and mean speed 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zh-CN" sz="2400" dirty="0">
                    <a:effectLst/>
                    <a:latin typeface="Google Sans Text"/>
                  </a:rPr>
                  <a:t>.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zh-CN" sz="2400" dirty="0">
                    <a:effectLst/>
                    <a:latin typeface="Google Sans Text"/>
                  </a:rPr>
                  <a:t>Large-scale network evaluation, real-time traffic state estimation &amp; short-term prediction, data fusion, etc.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7E6FC2E-52E1-FD21-3CF4-B1453F9E2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64" y="1807028"/>
                <a:ext cx="4627418" cy="3416320"/>
              </a:xfrm>
              <a:prstGeom prst="rect">
                <a:avLst/>
              </a:prstGeom>
              <a:blipFill>
                <a:blip r:embed="rId4"/>
                <a:stretch>
                  <a:fillRect l="-2108" t="-1426" r="-5138"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19145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9B29FD-A711-3677-F1DC-E82829861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9A287C-9D0A-6410-5056-089545DC26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9188522-40E2-4E0B-2A10-EE28231E911D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90343CB-2357-CC1D-EDE0-3BD9DAA33A02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0DBC397-3674-7D8A-76AC-FDB329F133DC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6B8721F-B2FD-2FBF-9B3D-095AD3D933F4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C3D6365-0430-839B-22F7-C04780AC1B2C}"/>
              </a:ext>
            </a:extLst>
          </p:cNvPr>
          <p:cNvSpPr txBox="1"/>
          <p:nvPr/>
        </p:nvSpPr>
        <p:spPr>
          <a:xfrm>
            <a:off x="177800" y="444414"/>
            <a:ext cx="9119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6.1.1 Model Classification-Aggregation Level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9DC327-C5CA-7317-4BD3-DDC804FC2784}"/>
              </a:ext>
            </a:extLst>
          </p:cNvPr>
          <p:cNvSpPr txBox="1"/>
          <p:nvPr/>
        </p:nvSpPr>
        <p:spPr>
          <a:xfrm>
            <a:off x="226291" y="1125721"/>
            <a:ext cx="91960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2400" b="1" dirty="0"/>
              <a:t>Microscopic Models</a:t>
            </a:r>
            <a:endParaRPr lang="zh-CN" altLang="en-US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0A8D4EB-6DBF-5867-8072-73593C9A3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6656" y="1676399"/>
            <a:ext cx="7121399" cy="38189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8A9383F-89D7-E974-1239-59B422B77678}"/>
                  </a:ext>
                </a:extLst>
              </p:cNvPr>
              <p:cNvSpPr txBox="1"/>
              <p:nvPr/>
            </p:nvSpPr>
            <p:spPr>
              <a:xfrm>
                <a:off x="346364" y="1807028"/>
                <a:ext cx="4627418" cy="37856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Treats each vehicle/driver unit as an individual "driven particle".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zh-CN" sz="2400" dirty="0"/>
                  <a:t>, speed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zh-CN" sz="2400" dirty="0"/>
                  <a:t>, and acceleration of individual vehicles.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Development of driver-assistance system, vehicle heterogeneity analysis, microscopic driving behavior research</a:t>
                </a:r>
                <a:r>
                  <a:rPr lang="en-US" altLang="zh-CN" sz="2400" dirty="0"/>
                  <a:t>,</a:t>
                </a:r>
                <a:r>
                  <a:rPr lang="zh-CN" altLang="zh-CN" sz="2400" dirty="0"/>
                  <a:t>driving simulators</a:t>
                </a:r>
                <a:r>
                  <a:rPr lang="zh-CN" altLang="zh-CN" dirty="0"/>
                  <a:t>.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8A9383F-89D7-E974-1239-59B422B77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64" y="1807028"/>
                <a:ext cx="4627418" cy="3785652"/>
              </a:xfrm>
              <a:prstGeom prst="rect">
                <a:avLst/>
              </a:prstGeom>
              <a:blipFill>
                <a:blip r:embed="rId4"/>
                <a:stretch>
                  <a:fillRect l="-1845" t="-1288" r="-3030" b="-27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99824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A5B700-56BD-4EA8-6EE4-A994CED6C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CEDA46-F53C-7B93-BF03-ABAE93C9C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6D11B74-F88B-EC7E-5B79-18230DD28BBD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4C4A21D-0F9C-710E-3A4B-D77495C81E8E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C4479E-F972-1C86-B44D-A0AA324599DF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BE1BDCF-2363-0DF5-875D-E63AE3A63408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0611DBF-FF7B-03CC-E01E-80D36EB142DD}"/>
              </a:ext>
            </a:extLst>
          </p:cNvPr>
          <p:cNvSpPr txBox="1"/>
          <p:nvPr/>
        </p:nvSpPr>
        <p:spPr>
          <a:xfrm>
            <a:off x="177800" y="444414"/>
            <a:ext cx="9119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6.1.1 Model Classification-Aggregation Level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4EBE7E-DE59-BE8C-8A59-FFE82E9CBC33}"/>
              </a:ext>
            </a:extLst>
          </p:cNvPr>
          <p:cNvSpPr txBox="1"/>
          <p:nvPr/>
        </p:nvSpPr>
        <p:spPr>
          <a:xfrm>
            <a:off x="375747" y="1149419"/>
            <a:ext cx="91960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b="1" dirty="0"/>
              <a:t>Mesoscopic models: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F6DA2E9-2D91-513A-ED87-229DDFE0D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782" y="990600"/>
            <a:ext cx="7121399" cy="381894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4F3BB02-012E-C789-A8FD-7FDAEB4AD358}"/>
              </a:ext>
            </a:extLst>
          </p:cNvPr>
          <p:cNvSpPr txBox="1"/>
          <p:nvPr/>
        </p:nvSpPr>
        <p:spPr>
          <a:xfrm>
            <a:off x="361056" y="1635389"/>
            <a:ext cx="4627418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Aggregation:</a:t>
            </a:r>
            <a:r>
              <a:rPr lang="zh-CN" altLang="zh-CN" sz="2400" dirty="0"/>
              <a:t> Microscopically large</a:t>
            </a:r>
            <a:endParaRPr lang="en-US" altLang="zh-CN" sz="2400" dirty="0"/>
          </a:p>
          <a:p>
            <a:r>
              <a:rPr lang="zh-CN" altLang="zh-CN" sz="2400" dirty="0"/>
              <a:t>Macroscopically small</a:t>
            </a:r>
            <a:endParaRPr lang="en-US" altLang="zh-CN" sz="2400" b="1" dirty="0"/>
          </a:p>
          <a:p>
            <a:r>
              <a:rPr lang="en-US" altLang="zh-CN" sz="2400" b="1" dirty="0"/>
              <a:t>Disaggregation:</a:t>
            </a:r>
            <a:r>
              <a:rPr lang="zh-CN" altLang="zh-CN" sz="2400" dirty="0"/>
              <a:t>information of</a:t>
            </a:r>
            <a:r>
              <a:rPr lang="en-US" altLang="zh-CN" sz="2400" dirty="0"/>
              <a:t> </a:t>
            </a:r>
            <a:r>
              <a:rPr lang="zh-CN" altLang="zh-CN" sz="2400" dirty="0"/>
              <a:t>microscopic higher than that of macroscopic</a:t>
            </a:r>
            <a:r>
              <a:rPr lang="en-US" altLang="zh-CN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zh-CN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1E983A5-0B44-D664-D743-DECB47081A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3782" y="4908945"/>
            <a:ext cx="6771428" cy="11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529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A3478B-7C17-8161-F13F-E122FF1A1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B503AF-DB78-AD7A-920F-BC94037A91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30AAFAD-F168-25F5-86C5-BD5C3BA8F1A3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C6FAEFB-2129-D2AC-B69A-FFA9FCD8EEEF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29CA36D-481D-1AFB-3C86-C631B08F87A4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8305263-8F95-A10B-FA92-990B7D7D86AB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0606DF-CEEA-3EFC-4CFF-B43FF30FA402}"/>
              </a:ext>
            </a:extLst>
          </p:cNvPr>
          <p:cNvSpPr txBox="1"/>
          <p:nvPr/>
        </p:nvSpPr>
        <p:spPr>
          <a:xfrm>
            <a:off x="177800" y="444414"/>
            <a:ext cx="9119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6.1.2 Model Classification-Mathematical Structure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2576B83-1F97-975C-6050-EF3348888CC0}"/>
              </a:ext>
            </a:extLst>
          </p:cNvPr>
          <p:cNvSpPr txBox="1"/>
          <p:nvPr/>
        </p:nvSpPr>
        <p:spPr>
          <a:xfrm>
            <a:off x="375747" y="1149419"/>
            <a:ext cx="91960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b="1" dirty="0"/>
              <a:t>Partial differential equations: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B82B135-4571-700B-D83F-E53D1FDD9CD6}"/>
                  </a:ext>
                </a:extLst>
              </p:cNvPr>
              <p:cNvSpPr txBox="1"/>
              <p:nvPr/>
            </p:nvSpPr>
            <p:spPr>
              <a:xfrm>
                <a:off x="361055" y="1635389"/>
                <a:ext cx="11455197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/>
                  <a:t>	B</a:t>
                </a:r>
                <a:r>
                  <a:rPr lang="zh-CN" altLang="zh-CN" sz="2400" dirty="0"/>
                  <a:t>oth location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zh-CN" sz="2400" dirty="0"/>
                  <a:t>and time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zh-CN" sz="2400" dirty="0"/>
                  <a:t>are continuous and serve as the independent variables of continuous fields such as the local speed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zh-CN" sz="2400" dirty="0"/>
                  <a:t>or density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altLang="zh-C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dirty="0"/>
                  <a:t>macroscopic models</a:t>
                </a:r>
                <a:endParaRPr lang="en-US" altLang="zh-CN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dirty="0"/>
                  <a:t> gas-kinetic based mesoscopic models.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B82B135-4571-700B-D83F-E53D1FDD9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055" y="1635389"/>
                <a:ext cx="11455197" cy="1384995"/>
              </a:xfrm>
              <a:prstGeom prst="rect">
                <a:avLst/>
              </a:prstGeom>
              <a:blipFill>
                <a:blip r:embed="rId3"/>
                <a:stretch>
                  <a:fillRect l="-798" t="-3524" b="-6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6FD76A99-6A91-DDCB-F6A2-F74362E36D7B}"/>
              </a:ext>
            </a:extLst>
          </p:cNvPr>
          <p:cNvSpPr txBox="1"/>
          <p:nvPr/>
        </p:nvSpPr>
        <p:spPr>
          <a:xfrm>
            <a:off x="277927" y="3145119"/>
            <a:ext cx="1185172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dirty="0"/>
              <a:t>Static Models / Traffic Stream Models</a:t>
            </a:r>
            <a:r>
              <a:rPr lang="en-US" altLang="zh-CN" sz="2400" b="1" dirty="0"/>
              <a:t>:</a:t>
            </a:r>
          </a:p>
          <a:p>
            <a:r>
              <a:rPr lang="en-US" altLang="zh-CN" sz="2400" dirty="0"/>
              <a:t>	</a:t>
            </a:r>
            <a:r>
              <a:rPr lang="zh-CN" altLang="zh-CN" sz="2400" dirty="0"/>
              <a:t>Describes paired, static equilibrium relationships between macroscopic state variables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The foundation for route choice in traditional traffic planning</a:t>
            </a:r>
          </a:p>
        </p:txBody>
      </p:sp>
    </p:spTree>
    <p:extLst>
      <p:ext uri="{BB962C8B-B14F-4D97-AF65-F5344CB8AC3E}">
        <p14:creationId xmlns:p14="http://schemas.microsoft.com/office/powerpoint/2010/main" val="40008061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5281F3-7C87-6462-F000-E9509E52F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CFBD78-7541-574A-80D2-084A3E3583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E3DAC28-C8C3-DB65-169D-6D9936580192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F03720C-1058-D41F-0394-877297994AA7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9C36AAE-07CC-6331-3D7A-8D18AF637B0C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6D827FF-743E-6214-0489-8E96A9DED070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92C76CA-6F00-B00A-BBFC-A70C6F63811C}"/>
              </a:ext>
            </a:extLst>
          </p:cNvPr>
          <p:cNvSpPr txBox="1"/>
          <p:nvPr/>
        </p:nvSpPr>
        <p:spPr>
          <a:xfrm>
            <a:off x="177800" y="444414"/>
            <a:ext cx="9119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6.1.2 Model Classification-Mathematical Structure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D5EFC65-D0E4-1247-6569-C2C0BD9A41DD}"/>
              </a:ext>
            </a:extLst>
          </p:cNvPr>
          <p:cNvSpPr txBox="1"/>
          <p:nvPr/>
        </p:nvSpPr>
        <p:spPr>
          <a:xfrm>
            <a:off x="375747" y="1149419"/>
            <a:ext cx="91960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Coupled ordinary differential equations: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2054BC4-A57D-C22C-6409-7516432553AD}"/>
                  </a:ext>
                </a:extLst>
              </p:cNvPr>
              <p:cNvSpPr txBox="1"/>
              <p:nvPr/>
            </p:nvSpPr>
            <p:spPr>
              <a:xfrm>
                <a:off x="361055" y="1635389"/>
                <a:ext cx="11455197" cy="11079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/>
                  <a:t>	T</a:t>
                </a:r>
                <a:r>
                  <a:rPr lang="zh-CN" altLang="zh-CN" sz="2400" dirty="0"/>
                  <a:t>he continuous state variables (location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zh-CN" sz="2400" dirty="0"/>
                  <a:t>or speed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zh-CN" sz="2400" dirty="0"/>
                  <a:t>of vehicle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zh-CN" sz="2400" dirty="0"/>
                  <a:t>) only depend on the time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zh-CN" sz="2400" dirty="0"/>
                  <a:t>.</a:t>
                </a:r>
                <a:endParaRPr lang="en-US" altLang="zh-C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T</a:t>
                </a:r>
                <a:r>
                  <a:rPr lang="zh-CN" altLang="zh-CN" dirty="0"/>
                  <a:t>he most natural form to describe time-continuous microscopic models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2054BC4-A57D-C22C-6409-751643255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055" y="1635389"/>
                <a:ext cx="11455197" cy="1107996"/>
              </a:xfrm>
              <a:prstGeom prst="rect">
                <a:avLst/>
              </a:prstGeom>
              <a:blipFill>
                <a:blip r:embed="rId3"/>
                <a:stretch>
                  <a:fillRect l="-798" t="-4396" r="-585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145DAE2E-A021-5296-B0C2-90F3429AE5C5}"/>
              </a:ext>
            </a:extLst>
          </p:cNvPr>
          <p:cNvSpPr txBox="1"/>
          <p:nvPr/>
        </p:nvSpPr>
        <p:spPr>
          <a:xfrm>
            <a:off x="361055" y="2835718"/>
            <a:ext cx="117062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Cellular automata:</a:t>
            </a:r>
          </a:p>
          <a:p>
            <a:r>
              <a:rPr lang="en-US" altLang="zh-CN" sz="2400" dirty="0"/>
              <a:t>	</a:t>
            </a:r>
            <a:r>
              <a:rPr lang="zh-CN" altLang="zh-CN" sz="2400" dirty="0"/>
              <a:t>All variables are discrete. Space is partitioned into fixed cells (state is 0 or 1), and time updates at fixed intervals.</a:t>
            </a: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U</a:t>
            </a:r>
            <a:r>
              <a:rPr lang="zh-CN" altLang="zh-CN" dirty="0"/>
              <a:t>sed for microscopic models </a:t>
            </a:r>
            <a:endParaRPr lang="zh-CN" altLang="en-US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6F1B1BD-55D7-2F9E-62C2-D9E300DD92BA}"/>
              </a:ext>
            </a:extLst>
          </p:cNvPr>
          <p:cNvSpPr txBox="1"/>
          <p:nvPr/>
        </p:nvSpPr>
        <p:spPr>
          <a:xfrm>
            <a:off x="361055" y="4313046"/>
            <a:ext cx="1170625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Discrete State Variables, Continuous Time:</a:t>
            </a:r>
          </a:p>
          <a:p>
            <a:r>
              <a:rPr lang="en-US" altLang="zh-CN" sz="2400" dirty="0"/>
              <a:t>	</a:t>
            </a:r>
            <a:r>
              <a:rPr lang="zh-CN" altLang="zh-CN" sz="2400" dirty="0"/>
              <a:t>State variables take discrete values, while time remains continuous.</a:t>
            </a: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dirty="0"/>
              <a:t>Used for lane-changing submodels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dirty="0"/>
              <a:t>mesoscopic models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8487748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62D4E7-8F0F-18C9-4AC0-09FD72726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41E470-4326-76F7-4C16-3C838E6C0E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7848A3-EBFC-C40C-E98E-125CC030B8E9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1352E6F-D921-315F-067D-EBA3CC5EDF68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2EA5E20-36B5-B908-9E1E-F86234A3E3FF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6392A6C-C8E3-7716-2FC6-49EA24F5A742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F7BDA5F-F374-82A0-574C-7105715E5C6C}"/>
              </a:ext>
            </a:extLst>
          </p:cNvPr>
          <p:cNvSpPr txBox="1"/>
          <p:nvPr/>
        </p:nvSpPr>
        <p:spPr>
          <a:xfrm>
            <a:off x="177800" y="444414"/>
            <a:ext cx="9119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6.2 Other Criteria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E921594-5FBD-9FE6-EF66-92844347DF85}"/>
              </a:ext>
            </a:extLst>
          </p:cNvPr>
          <p:cNvSpPr txBox="1"/>
          <p:nvPr/>
        </p:nvSpPr>
        <p:spPr>
          <a:xfrm>
            <a:off x="361055" y="954729"/>
            <a:ext cx="91960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/>
              <a:t>Randomness</a:t>
            </a:r>
            <a:r>
              <a:rPr lang="en-US" altLang="zh-CN" sz="2400" b="1" dirty="0"/>
              <a:t>:</a:t>
            </a:r>
          </a:p>
          <a:p>
            <a:r>
              <a:rPr lang="en-US" altLang="zh-CN" sz="2400" dirty="0"/>
              <a:t>	</a:t>
            </a:r>
            <a:r>
              <a:rPr lang="zh-CN" altLang="zh-CN" sz="2400" dirty="0"/>
              <a:t>Deterministic models vs. Stochastic models.</a:t>
            </a:r>
            <a:endParaRPr lang="en-US" altLang="zh-CN" sz="24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64E2A63-C27B-6F8E-E1BE-EB01EFBD7856}"/>
              </a:ext>
            </a:extLst>
          </p:cNvPr>
          <p:cNvSpPr txBox="1"/>
          <p:nvPr/>
        </p:nvSpPr>
        <p:spPr>
          <a:xfrm>
            <a:off x="361055" y="1742694"/>
            <a:ext cx="117062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Identical and heterogeneous drivers/vehicles:</a:t>
            </a:r>
          </a:p>
          <a:p>
            <a:r>
              <a:rPr lang="en-US" altLang="zh-CN" sz="2400" dirty="0"/>
              <a:t>	</a:t>
            </a:r>
            <a:r>
              <a:rPr lang="zh-CN" altLang="zh-CN" sz="2400" dirty="0"/>
              <a:t> Single vehicle type/driving style vs. heterogeneous traffic flow containing multiple vehicle types</a:t>
            </a:r>
            <a:r>
              <a:rPr lang="en-US" altLang="zh-CN" sz="2400" dirty="0"/>
              <a:t> </a:t>
            </a:r>
            <a:r>
              <a:rPr lang="zh-CN" altLang="zh-CN" sz="2400" dirty="0"/>
              <a:t>and driving styles</a:t>
            </a:r>
            <a:endParaRPr lang="zh-CN" altLang="en-US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4FCE04B-C1F3-B3FE-29FD-32EE52D19AF6}"/>
              </a:ext>
            </a:extLst>
          </p:cNvPr>
          <p:cNvSpPr txBox="1"/>
          <p:nvPr/>
        </p:nvSpPr>
        <p:spPr>
          <a:xfrm>
            <a:off x="361055" y="2859762"/>
            <a:ext cx="117062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/>
              <a:t>Constant vs. variable driving behavior</a:t>
            </a:r>
            <a:r>
              <a:rPr lang="en-US" altLang="zh-CN" sz="2400" b="1" dirty="0"/>
              <a:t>:</a:t>
            </a:r>
          </a:p>
          <a:p>
            <a:r>
              <a:rPr lang="en-US" altLang="zh-CN" sz="2400" dirty="0"/>
              <a:t>		</a:t>
            </a:r>
            <a:r>
              <a:rPr lang="zh-CN" altLang="zh-CN" sz="2400" dirty="0"/>
              <a:t>Fixed parameters vs. parameters dynamically adjusted over time or driving environment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980371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652938-4CE8-A86A-30A6-5CD05FFDB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34C7B0-DB70-1B96-02C4-8EFC469E7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8940EB3-839C-5F44-7867-8CFFA9794347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8FA2F89-00FA-530D-F62C-49BD2199BE93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81394A5-C992-34A6-8575-55CB4D4327CB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4B5E3A9-9B7B-D9D2-2301-1D4C531FF829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C67B6E-9248-FBE3-A28E-94033F1A1F88}"/>
              </a:ext>
            </a:extLst>
          </p:cNvPr>
          <p:cNvSpPr txBox="1"/>
          <p:nvPr/>
        </p:nvSpPr>
        <p:spPr>
          <a:xfrm>
            <a:off x="177800" y="444414"/>
            <a:ext cx="9119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6.3 Non-Motorized Traffic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9C15ED8-A816-519C-A4EF-FB83DB6ADB9E}"/>
              </a:ext>
            </a:extLst>
          </p:cNvPr>
          <p:cNvSpPr txBox="1"/>
          <p:nvPr/>
        </p:nvSpPr>
        <p:spPr>
          <a:xfrm>
            <a:off x="463693" y="1307485"/>
            <a:ext cx="111174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	Generally, the microscopic approach is most suitable. large events with unidirectional traffic flow have also been modeled and simulated macroscopically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E155F38-2966-FD0F-440D-DFFD1026687A}"/>
              </a:ext>
            </a:extLst>
          </p:cNvPr>
          <p:cNvSpPr txBox="1"/>
          <p:nvPr/>
        </p:nvSpPr>
        <p:spPr>
          <a:xfrm>
            <a:off x="388764" y="2366307"/>
            <a:ext cx="11706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	In addition to the walking speed, every pedestrian also has a desired direction. Consequently, the desired velocity is a vectorial quantity.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4941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3A6031-3B3B-D3A1-299A-6DEB9CE16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F:\设计相关\莱茵PPT\20210803125144!Avg_avg_ac15_6.png20210803125144!Avg_avg_ac15_6">
            <a:extLst>
              <a:ext uri="{FF2B5EF4-FFF2-40B4-BE49-F238E27FC236}">
                <a16:creationId xmlns:a16="http://schemas.microsoft.com/office/drawing/2014/main" id="{FFB2C770-0801-0078-363D-EC815D9FE99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-6983" b="4347"/>
          <a:stretch>
            <a:fillRect/>
          </a:stretch>
        </p:blipFill>
        <p:spPr>
          <a:xfrm>
            <a:off x="59055" y="-279400"/>
            <a:ext cx="12185650" cy="7011035"/>
          </a:xfrm>
          <a:prstGeom prst="rect">
            <a:avLst/>
          </a:prstGeom>
          <a:ln>
            <a:noFill/>
          </a:ln>
          <a:effectLst>
            <a:softEdge rad="317500"/>
          </a:effec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2BC8BBF-1F0B-7211-0D96-02141CEB9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50" y="179705"/>
            <a:ext cx="2640330" cy="1202690"/>
          </a:xfrm>
        </p:spPr>
        <p:txBody>
          <a:bodyPr/>
          <a:lstStyle/>
          <a:p>
            <a:r>
              <a:rPr lang="en-US" altLang="zh-CN" sz="2000">
                <a:latin typeface="Novecento wide Bold" panose="00000805000000000000" charset="0"/>
                <a:cs typeface="Novecento wide Bold" panose="00000805000000000000" charset="0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1A78C2C-D9AE-5152-EB85-50716DF6CB81}"/>
              </a:ext>
            </a:extLst>
          </p:cNvPr>
          <p:cNvSpPr/>
          <p:nvPr/>
        </p:nvSpPr>
        <p:spPr>
          <a:xfrm flipV="1">
            <a:off x="11085195" y="6539230"/>
            <a:ext cx="402590" cy="15494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EE7CD6A-F886-0636-A247-D2145BF5F706}"/>
              </a:ext>
            </a:extLst>
          </p:cNvPr>
          <p:cNvSpPr/>
          <p:nvPr/>
        </p:nvSpPr>
        <p:spPr>
          <a:xfrm>
            <a:off x="6343015" y="2866390"/>
            <a:ext cx="76200" cy="762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D87AD99-4545-587A-4AC8-37C91583B2FF}"/>
              </a:ext>
            </a:extLst>
          </p:cNvPr>
          <p:cNvSpPr/>
          <p:nvPr/>
        </p:nvSpPr>
        <p:spPr>
          <a:xfrm>
            <a:off x="11248390" y="2870835"/>
            <a:ext cx="76200" cy="762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51BE7D8-2F8E-407B-6E13-ABA090CCD5C1}"/>
              </a:ext>
            </a:extLst>
          </p:cNvPr>
          <p:cNvSpPr/>
          <p:nvPr/>
        </p:nvSpPr>
        <p:spPr>
          <a:xfrm>
            <a:off x="6343015" y="3487420"/>
            <a:ext cx="76200" cy="762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46BA78F-B34D-388F-B7A1-F54DA92C938E}"/>
              </a:ext>
            </a:extLst>
          </p:cNvPr>
          <p:cNvSpPr/>
          <p:nvPr/>
        </p:nvSpPr>
        <p:spPr>
          <a:xfrm>
            <a:off x="11248390" y="3460750"/>
            <a:ext cx="76200" cy="762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496EAAE0-52E9-EDC4-0E98-D21772ED4AC7}"/>
              </a:ext>
            </a:extLst>
          </p:cNvPr>
          <p:cNvCxnSpPr/>
          <p:nvPr/>
        </p:nvCxnSpPr>
        <p:spPr>
          <a:xfrm>
            <a:off x="6332855" y="3746500"/>
            <a:ext cx="591185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505F1FD5-CB1A-DBF7-0977-177C26D4A2EF}"/>
              </a:ext>
            </a:extLst>
          </p:cNvPr>
          <p:cNvSpPr txBox="1"/>
          <p:nvPr/>
        </p:nvSpPr>
        <p:spPr>
          <a:xfrm>
            <a:off x="6419215" y="2994025"/>
            <a:ext cx="6065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Chapt7. Continuity Equation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33D7EFE-50B8-79B8-0933-338BF9888F47}"/>
              </a:ext>
            </a:extLst>
          </p:cNvPr>
          <p:cNvSpPr/>
          <p:nvPr/>
        </p:nvSpPr>
        <p:spPr>
          <a:xfrm>
            <a:off x="2908935" y="349694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3BF7B6D-F407-DE41-041D-63D272D5DB08}"/>
              </a:ext>
            </a:extLst>
          </p:cNvPr>
          <p:cNvSpPr/>
          <p:nvPr/>
        </p:nvSpPr>
        <p:spPr>
          <a:xfrm>
            <a:off x="562610" y="349694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8DAB034-CF96-0033-462B-4070F460D872}"/>
              </a:ext>
            </a:extLst>
          </p:cNvPr>
          <p:cNvSpPr/>
          <p:nvPr/>
        </p:nvSpPr>
        <p:spPr>
          <a:xfrm>
            <a:off x="562610" y="287591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917EF7F-5155-CA42-4EE9-BA5CDE33138D}"/>
              </a:ext>
            </a:extLst>
          </p:cNvPr>
          <p:cNvSpPr txBox="1"/>
          <p:nvPr/>
        </p:nvSpPr>
        <p:spPr>
          <a:xfrm>
            <a:off x="12600305" y="2866390"/>
            <a:ext cx="2882265" cy="1476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>
                <a:highlight>
                  <a:srgbClr val="FFFF00"/>
                </a:highlight>
              </a:rPr>
              <a:t>建议使用：带图小标题</a:t>
            </a:r>
            <a:r>
              <a:rPr lang="en-US" altLang="zh-CN">
                <a:highlight>
                  <a:srgbClr val="FFFF00"/>
                </a:highlight>
              </a:rPr>
              <a:t> </a:t>
            </a:r>
            <a:br>
              <a:rPr lang="zh-CN" altLang="en-US">
                <a:highlight>
                  <a:srgbClr val="FFFF00"/>
                </a:highlight>
              </a:rPr>
            </a:br>
            <a:br>
              <a:rPr lang="zh-CN" altLang="en-US">
                <a:highlight>
                  <a:srgbClr val="FFFF00"/>
                </a:highlight>
              </a:rPr>
            </a:br>
            <a:r>
              <a:rPr lang="zh-CN" altLang="en-US">
                <a:highlight>
                  <a:srgbClr val="FFFF00"/>
                </a:highlight>
              </a:rPr>
              <a:t>可以修改右侧文字</a:t>
            </a:r>
            <a:r>
              <a:rPr lang="en-US" altLang="zh-CN">
                <a:highlight>
                  <a:srgbClr val="FFFF00"/>
                </a:highlight>
              </a:rPr>
              <a:t> </a:t>
            </a:r>
            <a:r>
              <a:rPr lang="zh-CN" altLang="en-US">
                <a:highlight>
                  <a:srgbClr val="FFFF00"/>
                </a:highlight>
              </a:rPr>
              <a:t>介绍</a:t>
            </a:r>
            <a:br>
              <a:rPr lang="zh-CN" altLang="en-US">
                <a:highlight>
                  <a:srgbClr val="FFFF00"/>
                </a:highlight>
              </a:rPr>
            </a:br>
            <a:r>
              <a:rPr lang="zh-CN" altLang="en-US">
                <a:highlight>
                  <a:srgbClr val="FFFF00"/>
                </a:highlight>
              </a:rPr>
              <a:t>英文字体：Novecento wide </a:t>
            </a:r>
            <a:br>
              <a:rPr lang="zh-CN" altLang="en-US">
                <a:highlight>
                  <a:srgbClr val="FFFF00"/>
                </a:highlight>
              </a:rPr>
            </a:br>
            <a:r>
              <a:rPr lang="zh-CN" altLang="en-US">
                <a:highlight>
                  <a:srgbClr val="FFFF00"/>
                </a:highlight>
              </a:rPr>
              <a:t>中文字体：思源黑体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A3F6746-1451-E9DE-5BD6-EAA35CF03A8D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</p:spTree>
    <p:extLst>
      <p:ext uri="{BB962C8B-B14F-4D97-AF65-F5344CB8AC3E}">
        <p14:creationId xmlns:p14="http://schemas.microsoft.com/office/powerpoint/2010/main" val="16126898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3075B5-D5A8-FCA6-F7CF-0A57F4A7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B725FD-2636-3E51-82BF-6F116CFA0A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5974B9-A41A-CF60-3B48-A81E00DDF6A4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9E6F7EF-7777-14CD-EFA8-CAFAAB63CDA9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6703323-C5CB-9E0A-D4CA-C222A5C91169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2B7D31A-2A85-D9FA-D2AD-D7E60F7B8313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005C3E-5C85-2D20-04F5-A8B2A430E115}"/>
              </a:ext>
            </a:extLst>
          </p:cNvPr>
          <p:cNvSpPr txBox="1"/>
          <p:nvPr/>
        </p:nvSpPr>
        <p:spPr>
          <a:xfrm>
            <a:off x="177800" y="444414"/>
            <a:ext cx="11054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7.1 Traffic Density and Hydrodynamic Flow-Density Relation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4307F18-0C2A-9E66-A1F3-BA74E3C0F9EC}"/>
                  </a:ext>
                </a:extLst>
              </p:cNvPr>
              <p:cNvSpPr txBox="1"/>
              <p:nvPr/>
            </p:nvSpPr>
            <p:spPr>
              <a:xfrm>
                <a:off x="177800" y="1307485"/>
                <a:ext cx="11706254" cy="3268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	</a:t>
                </a:r>
                <a:r>
                  <a:rPr lang="zh-CN" altLang="zh-CN" sz="2400" dirty="0"/>
                  <a:t>Total Density and Effective Density Relation</a:t>
                </a:r>
                <a:endParaRPr lang="en-US" altLang="zh-CN" sz="2400" dirty="0"/>
              </a:p>
              <a:p>
                <a:r>
                  <a:rPr lang="en-US" altLang="zh-CN" sz="2400" dirty="0"/>
                  <a:t>	Traffic density is defined as the number of vehicles per unit </a:t>
                </a:r>
                <a:r>
                  <a:rPr lang="en-US" altLang="zh-CN" sz="2400" dirty="0" err="1"/>
                  <a:t>length.When</a:t>
                </a:r>
                <a:r>
                  <a:rPr lang="en-US" altLang="zh-CN" sz="2400" dirty="0"/>
                  <a:t> traffic flow on highways with I &gt; 1 lanes, we distinguish:  </a:t>
                </a:r>
              </a:p>
              <a:p>
                <a:r>
                  <a:rPr lang="en-US" altLang="zh-CN" sz="2400" dirty="0"/>
                  <a:t>• The single-lane densities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CN" sz="2400" i="0" dirty="0"/>
                          <m:t>ρ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sz="2400" i="0" dirty="0"/>
                          <m:t>i</m:t>
                        </m:r>
                        <m:r>
                          <m:rPr>
                            <m:nor/>
                          </m:rPr>
                          <a:rPr lang="en-US" altLang="zh-CN" sz="2400" i="0" dirty="0"/>
                          <m:t> (</m:t>
                        </m:r>
                        <m:r>
                          <m:rPr>
                            <m:nor/>
                          </m:rPr>
                          <a:rPr lang="en-US" altLang="zh-CN" sz="2400" i="0" dirty="0"/>
                          <m:t>x</m:t>
                        </m:r>
                        <m:r>
                          <m:rPr>
                            <m:nor/>
                          </m:rPr>
                          <a:rPr lang="en-US" altLang="zh-CN" sz="2400" i="0" dirty="0"/>
                          <m:t>, </m:t>
                        </m:r>
                        <m:r>
                          <m:rPr>
                            <m:nor/>
                          </m:rPr>
                          <a:rPr lang="en-US" altLang="zh-CN" sz="2400" i="0" dirty="0"/>
                          <m:t>t</m:t>
                        </m:r>
                        <m:r>
                          <m:rPr>
                            <m:nor/>
                          </m:rPr>
                          <a:rPr lang="en-US" altLang="zh-CN" sz="2400" i="0" dirty="0"/>
                          <m:t>)</m:t>
                        </m:r>
                      </m:sub>
                    </m:sSub>
                  </m:oMath>
                </a14:m>
                <a:r>
                  <a:rPr lang="en-US" altLang="zh-CN" sz="2400" dirty="0"/>
                  <a:t>on lane </a:t>
                </a:r>
                <a:r>
                  <a:rPr lang="en-US" altLang="zh-CN" sz="2400" dirty="0" err="1"/>
                  <a:t>i</a:t>
                </a:r>
                <a:r>
                  <a:rPr lang="en-US" altLang="zh-CN" sz="2400" dirty="0"/>
                  <a:t> = 1, . . . , n.</a:t>
                </a:r>
              </a:p>
              <a:p>
                <a:r>
                  <a:rPr lang="en-US" altLang="zh-CN" sz="2400" dirty="0"/>
                  <a:t>• The total density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CN" sz="2400" i="0" dirty="0"/>
                          <m:t>ρ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sz="2400" i="0" dirty="0"/>
                          <m:t>tot</m:t>
                        </m:r>
                        <m:r>
                          <m:rPr>
                            <m:nor/>
                          </m:rPr>
                          <a:rPr lang="en-US" altLang="zh-CN" sz="2400" i="0" dirty="0"/>
                          <m:t>(</m:t>
                        </m:r>
                        <m:r>
                          <m:rPr>
                            <m:nor/>
                          </m:rPr>
                          <a:rPr lang="en-US" altLang="zh-CN" sz="2400" i="0" dirty="0"/>
                          <m:t>x</m:t>
                        </m:r>
                        <m:r>
                          <m:rPr>
                            <m:nor/>
                          </m:rPr>
                          <a:rPr lang="en-US" altLang="zh-CN" sz="2400" i="0" dirty="0"/>
                          <m:t>, </m:t>
                        </m:r>
                        <m:r>
                          <m:rPr>
                            <m:nor/>
                          </m:rPr>
                          <a:rPr lang="en-US" altLang="zh-CN" sz="2400" i="0" dirty="0"/>
                          <m:t>t</m:t>
                        </m:r>
                        <m:r>
                          <m:rPr>
                            <m:nor/>
                          </m:rPr>
                          <a:rPr lang="en-US" altLang="zh-CN" sz="2400" i="0" dirty="0"/>
                          <m:t>)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/>
                  <a:t>over all lanes.</a:t>
                </a:r>
              </a:p>
              <a:p>
                <a:r>
                  <a:rPr lang="en-US" altLang="zh-CN" sz="2400" dirty="0"/>
                  <a:t>	lane-averaged density ρ(x, t), also called effective density which is defined by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CN" sz="2400" i="0" dirty="0"/>
                          <m:t>ρ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sz="2400" i="0" dirty="0"/>
                          <m:t>tot</m:t>
                        </m:r>
                        <m:r>
                          <m:rPr>
                            <m:nor/>
                          </m:rPr>
                          <a:rPr lang="en-US" altLang="zh-CN" sz="2400" i="0" dirty="0"/>
                          <m:t>(</m:t>
                        </m:r>
                        <m:r>
                          <m:rPr>
                            <m:nor/>
                          </m:rPr>
                          <a:rPr lang="en-US" altLang="zh-CN" sz="2400" i="0" dirty="0"/>
                          <m:t>x</m:t>
                        </m:r>
                        <m:r>
                          <m:rPr>
                            <m:nor/>
                          </m:rPr>
                          <a:rPr lang="en-US" altLang="zh-CN" sz="2400" i="0" dirty="0"/>
                          <m:t>, </m:t>
                        </m:r>
                        <m:r>
                          <m:rPr>
                            <m:nor/>
                          </m:rPr>
                          <a:rPr lang="en-US" altLang="zh-CN" sz="2400" i="0" dirty="0"/>
                          <m:t>t</m:t>
                        </m:r>
                        <m:r>
                          <m:rPr>
                            <m:nor/>
                          </m:rPr>
                          <a:rPr lang="en-US" altLang="zh-CN" sz="2400" i="0" dirty="0"/>
                          <m:t>)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/</m:t>
                    </m:r>
                  </m:oMath>
                </a14:m>
                <a:r>
                  <a:rPr lang="en-US" altLang="zh-CN" sz="2400" dirty="0"/>
                  <a:t>I .</a:t>
                </a:r>
              </a:p>
              <a:p>
                <a:r>
                  <a:rPr lang="en-US" altLang="zh-CN" sz="2400" dirty="0"/>
                  <a:t>	Effective density is defined as the simple arithmetic mean of all single-lane densities</a:t>
                </a: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4307F18-0C2A-9E66-A1F3-BA74E3C0F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00" y="1307485"/>
                <a:ext cx="11706254" cy="3268972"/>
              </a:xfrm>
              <a:prstGeom prst="rect">
                <a:avLst/>
              </a:prstGeom>
              <a:blipFill>
                <a:blip r:embed="rId3"/>
                <a:stretch>
                  <a:fillRect l="-781" t="-1490" r="-885" b="-31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331D58D-8C87-A95C-B3F3-FEC3ECC77405}"/>
                  </a:ext>
                </a:extLst>
              </p:cNvPr>
              <p:cNvSpPr txBox="1"/>
              <p:nvPr/>
            </p:nvSpPr>
            <p:spPr>
              <a:xfrm>
                <a:off x="242873" y="5282657"/>
                <a:ext cx="11706254" cy="8712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331D58D-8C87-A95C-B3F3-FEC3ECC77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73" y="5282657"/>
                <a:ext cx="11706254" cy="8712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5274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0F4616-A1D6-9F6C-0140-E15C8F96C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3B3E06-C7AB-C637-8909-DC44FF7B07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AA4316-C8C3-4381-07D5-8B0C0BC734C7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3C3E31-9C12-1650-0516-7369140C0D54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2B05787-C20C-7E0D-1E14-CF86E8278DDC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1BC41D5-EB79-2843-6230-1720AD63FFFD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BE86DC-7269-35C2-C59C-7B452A349CCE}"/>
              </a:ext>
            </a:extLst>
          </p:cNvPr>
          <p:cNvSpPr txBox="1"/>
          <p:nvPr/>
        </p:nvSpPr>
        <p:spPr>
          <a:xfrm>
            <a:off x="177800" y="444414"/>
            <a:ext cx="10802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7.1 Traffic Density and Hydrodynamic Flow-Density 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8F88548-94B8-F023-976D-7C597FEEE2C5}"/>
                  </a:ext>
                </a:extLst>
              </p:cNvPr>
              <p:cNvSpPr txBox="1"/>
              <p:nvPr/>
            </p:nvSpPr>
            <p:spPr>
              <a:xfrm>
                <a:off x="177800" y="1307485"/>
                <a:ext cx="11706254" cy="5406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	</a:t>
                </a:r>
                <a:r>
                  <a:rPr lang="zh-CN" altLang="zh-CN" sz="2400" dirty="0"/>
                  <a:t>Single-Lane Hydrodynamic Relation</a:t>
                </a:r>
                <a:r>
                  <a:rPr lang="en-US" altLang="zh-CN" sz="2400" dirty="0"/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altLang="zh-CN" sz="2400" dirty="0"/>
              </a:p>
              <a:p>
                <a:r>
                  <a:rPr lang="en-US" altLang="zh-CN" sz="2400" dirty="0"/>
                  <a:t>	</a:t>
                </a:r>
                <a:r>
                  <a:rPr lang="zh-CN" altLang="zh-CN" sz="2400" dirty="0"/>
                  <a:t>Density-Weighted Effective Speed</a:t>
                </a:r>
                <a:r>
                  <a:rPr lang="en-US" altLang="zh-CN" sz="2400" dirty="0"/>
                  <a:t>:</a:t>
                </a:r>
                <a:endParaRPr lang="en-US" altLang="zh-CN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zh-CN" altLang="en-US" sz="2400" i="0"/>
                        <m:t> 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𝑡𝑜𝑡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zh-CN" sz="2400" dirty="0"/>
              </a:p>
              <a:p>
                <a:r>
                  <a:rPr lang="en-US" altLang="zh-CN" sz="2400" dirty="0"/>
                  <a:t>	</a:t>
                </a:r>
                <a:r>
                  <a:rPr lang="zh-CN" altLang="zh-CN" sz="2400" dirty="0"/>
                  <a:t>Average Flow per Lane</a:t>
                </a:r>
                <a:endParaRPr lang="en-US" altLang="zh-C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𝑡𝑜𝑡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den>
                      </m:f>
                    </m:oMath>
                  </m:oMathPara>
                </a14:m>
                <a:endParaRPr lang="zh-CN" altLang="zh-CN" dirty="0"/>
              </a:p>
              <a:p>
                <a:endParaRPr lang="en-US" altLang="zh-CN" i="1" dirty="0"/>
              </a:p>
              <a:p>
                <a:r>
                  <a:rPr lang="en-US" altLang="zh-CN" dirty="0"/>
                  <a:t>	</a:t>
                </a:r>
                <a:r>
                  <a:rPr lang="zh-CN" altLang="zh-CN" sz="2400" dirty="0"/>
                  <a:t>Multi-Lane Hydrodynamic Flow Relations</a:t>
                </a:r>
                <a:endParaRPr lang="en-US" altLang="zh-CN" sz="24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 </m:t>
                      </m:r>
                      <m:r>
                        <m:rPr>
                          <m:nor/>
                        </m:rPr>
                        <a:rPr lang="zh-CN" altLang="en-US" i="0"/>
                        <m:t>—— </m:t>
                      </m:r>
                      <m:r>
                        <m:rPr>
                          <m:nor/>
                        </m:rPr>
                        <a:rPr lang="en-US" altLang="zh-CN" b="0" i="0" smtClean="0"/>
                        <m:t>effective</m:t>
                      </m:r>
                      <m:r>
                        <m:rPr>
                          <m:nor/>
                        </m:rPr>
                        <a:rPr lang="en-US" altLang="zh-CN" b="0" i="0" smtClean="0"/>
                        <m:t> </m:t>
                      </m:r>
                      <m:r>
                        <m:rPr>
                          <m:nor/>
                        </m:rPr>
                        <a:rPr lang="en-US" altLang="zh-CN" b="0" i="0" smtClean="0"/>
                        <m:t>relation</m:t>
                      </m:r>
                      <m:r>
                        <m:rPr>
                          <m:nor/>
                        </m:rPr>
                        <a:rPr lang="zh-CN" altLang="en-US" i="0"/>
                        <m:t> </m:t>
                      </m:r>
                    </m:oMath>
                  </m:oMathPara>
                </a14:m>
                <a:endParaRPr lang="zh-CN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 </m:t>
                      </m:r>
                      <m:r>
                        <m:rPr>
                          <m:nor/>
                        </m:rPr>
                        <a:rPr lang="zh-CN" altLang="en-US" i="0"/>
                        <m:t>—— </m:t>
                      </m:r>
                      <m:r>
                        <m:rPr>
                          <m:nor/>
                        </m:rPr>
                        <a:rPr lang="en-US" altLang="zh-CN" b="0" i="0" smtClean="0"/>
                        <m:t>total</m:t>
                      </m:r>
                      <m:r>
                        <m:rPr>
                          <m:nor/>
                        </m:rPr>
                        <a:rPr lang="en-US" altLang="zh-CN" b="0" i="0" smtClean="0"/>
                        <m:t> </m:t>
                      </m:r>
                      <m:r>
                        <m:rPr>
                          <m:nor/>
                        </m:rPr>
                        <a:rPr lang="en-US" altLang="zh-CN" b="0" i="0" smtClean="0"/>
                        <m:t>relation</m:t>
                      </m:r>
                      <m:r>
                        <m:rPr>
                          <m:nor/>
                        </m:rPr>
                        <a:rPr lang="zh-CN" altLang="en-US" i="0"/>
                        <m:t> </m:t>
                      </m:r>
                    </m:oMath>
                  </m:oMathPara>
                </a14:m>
                <a:endParaRPr lang="zh-CN" altLang="zh-CN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8F88548-94B8-F023-976D-7C597FEEE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00" y="1307485"/>
                <a:ext cx="11706254" cy="5406288"/>
              </a:xfrm>
              <a:prstGeom prst="rect">
                <a:avLst/>
              </a:prstGeom>
              <a:blipFill>
                <a:blip r:embed="rId3"/>
                <a:stretch>
                  <a:fillRect t="-9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91624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4D0315-C300-B1E5-4349-F4594D5E8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230357-39C5-6B81-5DE1-9608BE9A29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3CBD75-E082-6806-C817-86CF134F5208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2E10DD4-9838-E3B7-28CE-02630FA135B1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9FD0262-39A0-20F6-71A7-75D0FCF5441D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9C33D71-FFE5-8392-A0C8-F1AF06F1DA2B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578FA50-2D8F-5FC3-4C8E-3C50BF3BD362}"/>
              </a:ext>
            </a:extLst>
          </p:cNvPr>
          <p:cNvSpPr txBox="1"/>
          <p:nvPr/>
        </p:nvSpPr>
        <p:spPr>
          <a:xfrm>
            <a:off x="177800" y="444414"/>
            <a:ext cx="9119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7.2</a:t>
            </a:r>
            <a:r>
              <a:rPr lang="zh-CN" altLang="zh-CN" sz="2400" dirty="0"/>
              <a:t> </a:t>
            </a:r>
            <a:r>
              <a:rPr lang="en-US" altLang="zh-CN" sz="2400" b="1" dirty="0">
                <a:latin typeface="+mj-ea"/>
                <a:ea typeface="+mj-ea"/>
              </a:rPr>
              <a:t>Continuity Equations for Several Road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3DABE37-E8B9-977E-250E-F488FF3FEE6C}"/>
              </a:ext>
            </a:extLst>
          </p:cNvPr>
          <p:cNvSpPr txBox="1"/>
          <p:nvPr/>
        </p:nvSpPr>
        <p:spPr>
          <a:xfrm>
            <a:off x="177800" y="1307485"/>
            <a:ext cx="117062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	The continuity equation does not depend on the particular macroscopic model being used, but on the geometry of the road infrastructure.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homogeneous road section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highway with on- or off-ramps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road section in which the number of lanes changes</a:t>
            </a:r>
          </a:p>
          <a:p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5558226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33C71B-69C4-E4A3-E281-F2866AB3C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7E89AE-95E7-954E-B628-6C3300E81B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30DFA69-388D-7F25-11BC-E22A5FAF67AA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D3A5E84-16E1-D122-F895-0B4E6ABCF6E6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F47E78A-2CD0-BD27-A751-08EA054C36E1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9FCA583-76A2-9153-FC77-2A676AA8D05C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C0D9F31-F42A-F4FD-9DD5-0C75B63F16C1}"/>
              </a:ext>
            </a:extLst>
          </p:cNvPr>
          <p:cNvSpPr txBox="1"/>
          <p:nvPr/>
        </p:nvSpPr>
        <p:spPr>
          <a:xfrm>
            <a:off x="0" y="430321"/>
            <a:ext cx="123033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7.2.1</a:t>
            </a:r>
            <a:r>
              <a:rPr lang="zh-CN" altLang="zh-CN" sz="2400" dirty="0"/>
              <a:t> </a:t>
            </a:r>
            <a:r>
              <a:rPr lang="en-US" altLang="zh-CN" sz="2400" b="1" dirty="0">
                <a:latin typeface="+mj-ea"/>
                <a:ea typeface="+mj-ea"/>
              </a:rPr>
              <a:t>Continuity Equations for Several Road-homogeneous road section</a:t>
            </a:r>
          </a:p>
          <a:p>
            <a:endParaRPr lang="en-US" altLang="zh-CN" sz="2400" b="1" dirty="0">
              <a:latin typeface="+mj-ea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A59F366-16C6-C80E-D8BB-F56739DFB7E3}"/>
                  </a:ext>
                </a:extLst>
              </p:cNvPr>
              <p:cNvSpPr txBox="1"/>
              <p:nvPr/>
            </p:nvSpPr>
            <p:spPr>
              <a:xfrm>
                <a:off x="298557" y="1112830"/>
                <a:ext cx="11706254" cy="55544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	</a:t>
                </a:r>
                <a:r>
                  <a:rPr lang="zh-CN" altLang="zh-CN" sz="2400" dirty="0"/>
                  <a:t>Vehicle Count in Interval</a:t>
                </a:r>
                <a:r>
                  <a:rPr lang="en-US" altLang="zh-CN" sz="2400" dirty="0"/>
                  <a:t>: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subSup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𝑡𝑜𝑡</m:t>
                            </m:r>
                          </m:sub>
                        </m:sSub>
                      </m:e>
                    </m:nary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′,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′≈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𝑡𝑜𝑡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zh-CN" altLang="en-US" sz="2400">
                        <a:latin typeface="Cambria Math" panose="02040503050406030204" pitchFamily="18" charset="0"/>
                      </a:rPr>
                      <m:t>Δ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400" dirty="0"/>
                  <a:t>	(7.7)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Changes to the number of vehicles can only be caused by inflow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altLang="zh-CN" sz="2400" dirty="0"/>
                  <a:t> or outflow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zh-CN" alt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altLang="zh-CN" sz="2400" dirty="0"/>
                  <a:t>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𝑑𝑛</m:t>
                        </m:r>
                      </m:num>
                      <m:den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sz="24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𝑡𝑜𝑡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sz="24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𝑡𝑜𝑡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altLang="zh-C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Combining this relation with the time-derivative of </a:t>
                </a:r>
                <a:r>
                  <a:rPr lang="zh-CN" altLang="zh-CN" sz="2400" dirty="0"/>
                  <a:t>Vehicle Count in Interval</a:t>
                </a:r>
                <a:r>
                  <a:rPr lang="en-US" altLang="zh-CN" sz="2400" dirty="0"/>
                  <a:t>: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𝑑𝑛</m:t>
                        </m:r>
                      </m:num>
                      <m:den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sz="2400" i="0" dirty="0"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US" altLang="zh-CN" sz="2400" i="0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𝑡𝑜𝑡</m:t>
                            </m:r>
                          </m:sub>
                        </m:sSub>
                      </m:num>
                      <m:den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en-US" altLang="zh-C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𝑡𝑜𝑡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𝑡𝑜𝑡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𝑡𝑜𝑡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zh-CN" altLang="en-US" sz="24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zh-CN" altLang="zh-C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When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400">
                        <a:latin typeface="Cambria Math" panose="02040503050406030204" pitchFamily="18" charset="0"/>
                      </a:rPr>
                      <m:t>Δ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zh-CN" altLang="zh-CN" sz="2400" dirty="0"/>
                  <a:t>，</a:t>
                </a:r>
                <a:r>
                  <a:rPr lang="en-US" altLang="zh-CN" sz="2400" dirty="0"/>
                  <a:t> using the hydrodynamic flow-speed relation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𝑡𝑜𝑡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𝑡𝑜𝑡</m:t>
                        </m:r>
                      </m:sub>
                    </m:sSub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zh-CN" altLang="zh-CN" sz="2400" dirty="0"/>
                  <a:t>，</a:t>
                </a:r>
                <a:r>
                  <a:rPr lang="en-US" altLang="zh-CN" sz="2400" dirty="0"/>
                  <a:t>we can get the </a:t>
                </a:r>
                <a:r>
                  <a:rPr lang="zh-CN" altLang="zh-CN" sz="2400" dirty="0"/>
                  <a:t>Continuity Equation for Homogeneous Road Section </a:t>
                </a:r>
                <a:r>
                  <a:rPr lang="en-US" altLang="zh-CN" sz="2400" dirty="0"/>
                  <a:t>equation</a:t>
                </a:r>
                <a:r>
                  <a:rPr lang="zh-CN" altLang="zh-CN" sz="2400" dirty="0"/>
                  <a:t>：</a:t>
                </a:r>
              </a:p>
              <a:p>
                <a:pPr algn="ctr"/>
                <a:r>
                  <a:rPr lang="en-US" altLang="zh-CN" sz="2400" dirty="0"/>
                  <a:t>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𝑡𝑜𝑡</m:t>
                            </m:r>
                          </m:sub>
                        </m:sSub>
                      </m:num>
                      <m:den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𝑡𝑜𝑡</m:t>
                                </m:r>
                              </m:sub>
                            </m:sSub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num>
                      <m:den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2400" dirty="0"/>
                  <a:t> 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𝜕𝜌</m:t>
                        </m:r>
                      </m:num>
                      <m:den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num>
                      <m:den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2400" dirty="0"/>
                  <a:t>			(7.8)</a:t>
                </a:r>
                <a:endParaRPr lang="zh-CN" altLang="zh-C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Discrete Continuity Equation for Coupled Maps</a:t>
                </a:r>
                <a:r>
                  <a:rPr lang="en-US" altLang="zh-CN" sz="2400" dirty="0"/>
                  <a:t>:</a:t>
                </a:r>
              </a:p>
              <a:p>
                <a:pPr algn="ctr"/>
                <a:r>
                  <a:rPr lang="en-US" altLang="zh-CN" sz="2400" dirty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𝑢𝑝</m:t>
                            </m:r>
                          </m:sup>
                        </m:sSub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𝑑𝑜𝑤𝑛</m:t>
                            </m:r>
                          </m:sup>
                        </m:sSubSup>
                      </m:e>
                    </m:d>
                    <m:r>
                      <m:rPr>
                        <m:sty m:val="p"/>
                      </m:rPr>
                      <a:rPr lang="zh-CN" altLang="en-US" sz="2400">
                        <a:latin typeface="Cambria Math" panose="02040503050406030204" pitchFamily="18" charset="0"/>
                      </a:rPr>
                      <m:t>Δ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sz="2400" dirty="0"/>
                  <a:t>		(7.9)</a:t>
                </a:r>
                <a:endParaRPr lang="zh-CN" altLang="zh-CN" sz="2400" dirty="0"/>
              </a:p>
              <a:p>
                <a:endParaRPr lang="en-US" altLang="zh-CN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A59F366-16C6-C80E-D8BB-F56739DFB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557" y="1112830"/>
                <a:ext cx="11706254" cy="5554469"/>
              </a:xfrm>
              <a:prstGeom prst="rect">
                <a:avLst/>
              </a:prstGeom>
              <a:blipFill>
                <a:blip r:embed="rId3"/>
                <a:stretch>
                  <a:fillRect l="-7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8585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794C9F-4C71-7719-50D5-1591DFBF2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E338DA-F40D-61A7-722C-13456B6D6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8FB0EB2-51F8-7215-0CF5-5464534E4E33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B5111DA-1FDD-1017-B82F-CFDCF30C32ED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3EA8FA1-E6C7-7FBA-3AC8-A63936FAE6F8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65810AE-94EF-6808-5E56-A37068A535FA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8C4A143-5F8A-5E17-7215-179175003053}"/>
              </a:ext>
            </a:extLst>
          </p:cNvPr>
          <p:cNvSpPr txBox="1"/>
          <p:nvPr/>
        </p:nvSpPr>
        <p:spPr>
          <a:xfrm>
            <a:off x="0" y="430321"/>
            <a:ext cx="12303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7.2.2 Sections with On- and Off-Ramps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E796BB4-585A-864E-7448-C74C6C2F9DE9}"/>
                  </a:ext>
                </a:extLst>
              </p:cNvPr>
              <p:cNvSpPr txBox="1"/>
              <p:nvPr/>
            </p:nvSpPr>
            <p:spPr>
              <a:xfrm>
                <a:off x="298557" y="914400"/>
                <a:ext cx="11706254" cy="5636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 </a:t>
                </a:r>
                <a:r>
                  <a:rPr lang="zh-CN" altLang="zh-CN" sz="2000" dirty="0"/>
                  <a:t>Continuity Equation with Ramps for Total Density：</a:t>
                </a:r>
                <a:endParaRPr lang="en-US" altLang="zh-CN" sz="2000" dirty="0"/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𝑡𝑜𝑡</m:t>
                            </m:r>
                          </m:sub>
                        </m:sSub>
                      </m:num>
                      <m:den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zh-CN" altLang="en-US" sz="200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𝑡𝑜𝑡</m:t>
                                </m:r>
                              </m:sub>
                            </m:sSub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num>
                      <m:den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𝑟𝑚𝑝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𝑟𝑚𝑝</m:t>
                            </m:r>
                          </m:sub>
                        </m:sSub>
                      </m:den>
                    </m:f>
                    <m:r>
                      <a:rPr lang="zh-CN" altLang="en-US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000" i="1">
                        <a:latin typeface="Cambria Math" panose="02040503050406030204" pitchFamily="18" charset="0"/>
                      </a:rPr>
                      <m:t>𝐼</m:t>
                    </m:r>
                    <m:sSub>
                      <m:sSub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𝑟𝑚𝑝</m:t>
                        </m:r>
                      </m:sub>
                    </m:sSub>
                    <m:d>
                      <m:d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0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zh-CN" sz="2000" dirty="0"/>
                  <a:t>		(7.10)</a:t>
                </a:r>
                <a:endParaRPr lang="zh-CN" altLang="zh-CN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000" dirty="0"/>
                  <a:t>on- and off-ramps imply additional in- and outflows </a:t>
                </a:r>
                <a:r>
                  <a:rPr lang="en-US" altLang="zh-CN" sz="2000" dirty="0" err="1"/>
                  <a:t>Qrmp</a:t>
                </a:r>
                <a:r>
                  <a:rPr lang="en-US" altLang="zh-CN" sz="2000" dirty="0"/>
                  <a:t>(t),The balance now reads: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𝑑𝑛</m:t>
                          </m:r>
                        </m:num>
                        <m:den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zh-CN" altLang="en-US" sz="20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d>
                        <m:d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sz="20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d>
                        <m:d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sz="20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𝑟𝑚𝑝</m:t>
                          </m:r>
                        </m:sub>
                      </m:sSub>
                      <m:d>
                        <m:d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altLang="zh-CN" sz="2000" b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000" dirty="0"/>
                  <a:t>Assuming that the in and out flows are evenly distributed along the length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b="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zh-CN" altLang="en-US" sz="2000" b="0" i="1">
                            <a:latin typeface="Cambria Math" panose="02040503050406030204" pitchFamily="18" charset="0"/>
                          </a:rPr>
                          <m:t>𝑟𝑚𝑝</m:t>
                        </m:r>
                      </m:sub>
                    </m:sSub>
                    <m:r>
                      <a:rPr lang="zh-CN" altLang="en-US" sz="2000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dirty="0"/>
                  <a:t>of the ramp, we can define a constant flow density: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𝑟𝑚𝑝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zh-CN" altLang="en-US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𝑟𝑚𝑝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𝑟𝑚𝑝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2000" b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sz="2000" dirty="0"/>
                  <a:t>Ramp Source Density：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𝑟𝑚𝑝</m:t>
                        </m:r>
                      </m:sub>
                    </m:sSub>
                    <m:d>
                      <m:d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0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sz="20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𝑟𝑚𝑝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  <m:sSub>
                                    <m:sSubPr>
                                      <m:ctrlP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𝑟𝑚𝑝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m:rPr>
                                  <m:nor/>
                                </m:rPr>
                                <a:rPr lang="zh-CN" altLang="en-US" sz="2000" i="0"/>
                                <m:t>In</m:t>
                              </m:r>
                              <m:r>
                                <m:rPr>
                                  <m:nor/>
                                </m:rPr>
                                <a:rPr lang="zh-CN" altLang="en-US" sz="2000" i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zh-CN" altLang="en-US" sz="2000" i="0"/>
                                <m:t>merging</m:t>
                              </m:r>
                              <m:r>
                                <m:rPr>
                                  <m:nor/>
                                </m:rPr>
                                <a:rPr lang="zh-CN" altLang="en-US" sz="2000" i="0"/>
                                <m:t>/</m:t>
                              </m:r>
                              <m:r>
                                <m:rPr>
                                  <m:nor/>
                                </m:rPr>
                                <a:rPr lang="zh-CN" altLang="en-US" sz="2000" i="0"/>
                                <m:t>diverging</m:t>
                              </m:r>
                              <m:r>
                                <m:rPr>
                                  <m:nor/>
                                </m:rPr>
                                <a:rPr lang="zh-CN" altLang="en-US" sz="2000" i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zh-CN" altLang="en-US" sz="2000" i="0"/>
                                <m:t>zone</m:t>
                              </m:r>
                            </m:e>
                          </m:mr>
                          <m:mr>
                            <m:e>
                              <m:r>
                                <a:rPr lang="zh-CN" altLang="en-US" sz="20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zh-CN" altLang="en-US" sz="2000" i="0"/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000" b="1" dirty="0"/>
                  <a:t>	</a:t>
                </a:r>
                <a:r>
                  <a:rPr lang="en-US" altLang="zh-CN" sz="2000" dirty="0"/>
                  <a:t>(7.11)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sz="2000" dirty="0"/>
                  <a:t>Continuity Equation for Effective Density：</a:t>
                </a: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𝜕𝜌</m:t>
                        </m:r>
                      </m:num>
                      <m:den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zh-CN" altLang="en-US" sz="200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num>
                      <m:den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0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𝑟𝑚𝑝</m:t>
                        </m:r>
                      </m:sub>
                    </m:sSub>
                    <m:d>
                      <m:d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0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zh-CN" sz="2000" dirty="0"/>
                  <a:t>	(7.12)</a:t>
                </a:r>
                <a:endParaRPr lang="zh-CN" altLang="zh-CN" sz="2000" dirty="0"/>
              </a:p>
              <a:p>
                <a:endParaRPr lang="en-US" altLang="zh-CN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E796BB4-585A-864E-7448-C74C6C2F9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557" y="914400"/>
                <a:ext cx="11706254" cy="5636864"/>
              </a:xfrm>
              <a:prstGeom prst="rect">
                <a:avLst/>
              </a:prstGeom>
              <a:blipFill>
                <a:blip r:embed="rId3"/>
                <a:stretch>
                  <a:fillRect l="-729" t="-5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0728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AB3BEE-DF63-5539-2947-906D15FB0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B1C211-6060-1AF3-E657-E92776DC6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2E08893-D35C-80C8-4579-8893F7B6FDF4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5A61296-3553-F7EB-0723-3031C299C6E9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60042F5-4037-075F-2897-A466D157F3C8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014952-40DE-2FCB-2E27-14A6ADCDA8D6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EB0AF7D-3336-AA2A-1A16-7B5FE56B21A0}"/>
              </a:ext>
            </a:extLst>
          </p:cNvPr>
          <p:cNvSpPr txBox="1"/>
          <p:nvPr/>
        </p:nvSpPr>
        <p:spPr>
          <a:xfrm>
            <a:off x="0" y="430321"/>
            <a:ext cx="12303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7.2.3 Changes in the Number of Lanes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E4C5B49-A81A-5B9A-223F-9CE2BE8F4411}"/>
                  </a:ext>
                </a:extLst>
              </p:cNvPr>
              <p:cNvSpPr txBox="1"/>
              <p:nvPr/>
            </p:nvSpPr>
            <p:spPr>
              <a:xfrm>
                <a:off x="805095" y="1338154"/>
                <a:ext cx="11706254" cy="479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000" dirty="0"/>
                  <a:t>The lane changes before a lane closure or after the beginning of an additional lane are modeled by using a non-integer, location-dependent number I (x) of lanes.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sz="2000" dirty="0"/>
                  <a:t>Effective Quantities with Continuous Lane Number：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zh-CN" altLang="en-US" sz="2000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000" b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sz="2000" b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</a:rPr>
                              <m:t>𝑡𝑜𝑡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000" b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  <m:r>
                      <a:rPr lang="zh-CN" altLang="en-US" sz="2000" b="0" smtClean="0">
                        <a:latin typeface="Cambria Math" panose="02040503050406030204" pitchFamily="18" charset="0"/>
                      </a:rPr>
                      <m:t>, </m:t>
                    </m:r>
                    <m:r>
                      <a:rPr lang="zh-CN" altLang="en-US" sz="2000" b="0" i="1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000" b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sz="2000" b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</a:rPr>
                              <m:t>𝑡𝑜𝑡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000" b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</m:oMath>
                </a14:m>
                <a:r>
                  <a:rPr lang="en-US" altLang="zh-CN" sz="2000" dirty="0"/>
                  <a:t>	(7.14)</a:t>
                </a:r>
                <a:endParaRPr lang="zh-CN" altLang="zh-CN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000" dirty="0"/>
                  <a:t>AC to definition 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𝑡𝑜𝑡</m:t>
                        </m:r>
                      </m:sub>
                    </m:sSub>
                    <m:d>
                      <m:d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0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000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sz="2000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0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zh-CN" sz="2000" dirty="0"/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𝑡𝑜𝑡</m:t>
                        </m:r>
                      </m:sub>
                    </m:sSub>
                    <m:d>
                      <m:d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0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000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sz="2000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0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zh-CN" sz="2000" dirty="0"/>
                  <a:t>,put into(7.10),we get: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f>
                        <m:f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𝜕𝜌</m:t>
                          </m:r>
                        </m:num>
                        <m:den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zh-CN" altLang="en-US" sz="200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f>
                            <m:f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num>
                            <m:den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zh-CN" altLang="en-US" sz="20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  <m:f>
                            <m:fPr>
                              <m:ctrlP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𝑑𝐼</m:t>
                              </m:r>
                            </m:num>
                            <m:den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</m:e>
                      </m:d>
                      <m:r>
                        <a:rPr lang="zh-CN" altLang="en-US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𝑟𝑚𝑝</m:t>
                          </m:r>
                        </m:sub>
                      </m:sSub>
                    </m:oMath>
                  </m:oMathPara>
                </a14:m>
                <a:endParaRPr lang="en-US" altLang="zh-CN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sz="2000" dirty="0"/>
                  <a:t>General Continuity Equation：</a:t>
                </a:r>
                <a:endParaRPr lang="en-US" altLang="zh-CN" sz="2000" dirty="0"/>
              </a:p>
              <a:p>
                <a:pPr algn="ctr"/>
                <a:r>
                  <a:rPr lang="en-US" altLang="zh-CN" sz="2000" dirty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𝜕𝜌</m:t>
                        </m:r>
                      </m:num>
                      <m:den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zh-CN" altLang="en-US" sz="2000" b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num>
                      <m:den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000" b="0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den>
                    </m:f>
                    <m:f>
                      <m:f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𝑑𝐼</m:t>
                        </m:r>
                      </m:num>
                      <m:den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zh-CN" altLang="en-US" sz="2000" b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𝑟𝑚𝑝</m:t>
                        </m:r>
                      </m:sub>
                    </m:sSub>
                    <m:d>
                      <m:d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000" b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zh-CN" sz="2000" dirty="0"/>
                  <a:t>		(7.15)</a:t>
                </a:r>
                <a:endParaRPr lang="zh-CN" altLang="zh-CN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sz="2000" dirty="0"/>
                  <a:t>Discrete Form with Changing Lanes and Ramps：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en-US" sz="2000" b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zh-CN" altLang="en-US" sz="2000" b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sz="2000" b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sz="2000" b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b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000" b="0" smtClean="0"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</a:rPr>
                              <m:t>𝑢𝑝</m:t>
                            </m:r>
                          </m:sup>
                        </m:sSubSup>
                        <m:r>
                          <a:rPr lang="zh-CN" altLang="en-US" sz="2000" b="0" smtClean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</a:rPr>
                              <m:t>𝑑𝑜𝑤𝑛</m:t>
                            </m:r>
                          </m:sup>
                        </m:sSubSup>
                        <m:r>
                          <a:rPr lang="zh-CN" altLang="en-US" sz="2000" b="0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zh-CN" altLang="en-US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zh-CN" altLang="en-US" sz="20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zh-CN" altLang="en-US" sz="2000" b="0" i="1" smtClean="0">
                                    <a:latin typeface="Cambria Math" panose="02040503050406030204" pitchFamily="18" charset="0"/>
                                  </a:rPr>
                                  <m:t>𝑟𝑚𝑝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zh-CN" altLang="en-US" sz="2000" b="0" i="1" smtClean="0">
                                    <a:latin typeface="Cambria Math" panose="02040503050406030204" pitchFamily="18" charset="0"/>
                                  </a:rPr>
                                  <m:t>𝑑𝑜𝑤𝑛</m:t>
                                </m:r>
                              </m:sub>
                            </m:sSub>
                          </m:den>
                        </m:f>
                        <m:r>
                          <a:rPr lang="zh-CN" altLang="en-US" sz="2000" b="0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zh-CN" altLang="en-US" sz="2000" b="0" i="1" smtClean="0">
                                    <a:latin typeface="Cambria Math" panose="02040503050406030204" pitchFamily="18" charset="0"/>
                                  </a:rPr>
                                  <m:t>𝑢𝑝</m:t>
                                </m:r>
                              </m:sub>
                            </m:sSub>
                            <m:r>
                              <a:rPr lang="zh-CN" altLang="en-US" sz="2000" b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zh-CN" altLang="en-US" sz="2000" b="0" i="1" smtClean="0">
                                    <a:latin typeface="Cambria Math" panose="02040503050406030204" pitchFamily="18" charset="0"/>
                                  </a:rPr>
                                  <m:t>𝑑𝑜𝑤𝑛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zh-CN" altLang="en-US" sz="2000" b="0" i="1" smtClean="0">
                                    <a:latin typeface="Cambria Math" panose="02040503050406030204" pitchFamily="18" charset="0"/>
                                  </a:rPr>
                                  <m:t>𝑑𝑜𝑤𝑛</m:t>
                                </m:r>
                              </m:sub>
                            </m:sSub>
                          </m:den>
                        </m:f>
                        <m:sSubSup>
                          <m:sSubSupPr>
                            <m:ctrlPr>
                              <a:rPr lang="zh-CN" alt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</a:rPr>
                              <m:t>𝑢𝑝</m:t>
                            </m:r>
                          </m:sup>
                        </m:sSubSup>
                      </m:e>
                    </m:d>
                    <m:r>
                      <m:rPr>
                        <m:sty m:val="p"/>
                      </m:rPr>
                      <a:rPr lang="zh-CN" altLang="en-US" sz="2000" b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zh-CN" alt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sz="2000" dirty="0"/>
                  <a:t>	(7.16)</a:t>
                </a:r>
                <a:endParaRPr lang="zh-CN" altLang="zh-CN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zh-CN" altLang="zh-CN" sz="2000" dirty="0"/>
              </a:p>
              <a:p>
                <a:endParaRPr lang="en-US" altLang="zh-CN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E4C5B49-A81A-5B9A-223F-9CE2BE8F4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095" y="1338154"/>
                <a:ext cx="11706254" cy="4794326"/>
              </a:xfrm>
              <a:prstGeom prst="rect">
                <a:avLst/>
              </a:prstGeom>
              <a:blipFill>
                <a:blip r:embed="rId3"/>
                <a:stretch>
                  <a:fillRect l="-469" t="-7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5993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DD6447-6BA2-6477-0746-1B846E758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E350FC-9132-2E15-32AD-6559FCC25C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A266195-B053-F8E7-5841-DEBA0FC2B333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D8C0C81-6100-EC80-2A51-EC8C4290D6BF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82FEA8-E82F-CA20-9B1A-34AE6C796938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7609A1D-C0C1-5ADA-F70C-C7106B184F9B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CA84468-694B-9598-C4A7-201C627C9677}"/>
              </a:ext>
            </a:extLst>
          </p:cNvPr>
          <p:cNvSpPr txBox="1"/>
          <p:nvPr/>
        </p:nvSpPr>
        <p:spPr>
          <a:xfrm>
            <a:off x="177800" y="444414"/>
            <a:ext cx="9119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7.2.3</a:t>
            </a:r>
            <a:r>
              <a:rPr lang="zh-CN" altLang="zh-CN" sz="2400" dirty="0"/>
              <a:t> </a:t>
            </a:r>
            <a:r>
              <a:rPr lang="zh-CN" altLang="zh-CN" sz="2400" b="1" dirty="0">
                <a:latin typeface="+mj-ea"/>
                <a:ea typeface="+mj-ea"/>
              </a:rPr>
              <a:t>Homogeneous Road Section</a:t>
            </a:r>
            <a:endParaRPr lang="en-US" altLang="zh-CN" sz="2400" b="1" dirty="0">
              <a:latin typeface="+mj-ea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63AA75F-EFAC-5D2C-1B36-1A22E761D72A}"/>
                  </a:ext>
                </a:extLst>
              </p:cNvPr>
              <p:cNvSpPr txBox="1"/>
              <p:nvPr/>
            </p:nvSpPr>
            <p:spPr>
              <a:xfrm>
                <a:off x="177800" y="1307485"/>
                <a:ext cx="11706254" cy="5762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zh-CN" sz="2400" dirty="0"/>
                  <a:t>Homogeneous Road Section</a:t>
                </a:r>
                <a:endParaRPr lang="en-US" altLang="zh-CN" sz="2400" dirty="0"/>
              </a:p>
              <a:p>
                <a:r>
                  <a:rPr lang="zh-CN" altLang="zh-CN" sz="2400" dirty="0"/>
                  <a:t>Single-Lane Hydrodynamic Relation</a:t>
                </a:r>
                <a:r>
                  <a:rPr lang="en-US" altLang="zh-CN" sz="2400" dirty="0"/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altLang="zh-CN" sz="2400" dirty="0"/>
              </a:p>
              <a:p>
                <a:r>
                  <a:rPr lang="en-US" altLang="zh-CN" sz="2400" dirty="0"/>
                  <a:t>	</a:t>
                </a:r>
                <a:r>
                  <a:rPr lang="zh-CN" altLang="zh-CN" sz="2400" dirty="0"/>
                  <a:t>Density-Weighted Effective Speed</a:t>
                </a:r>
                <a:r>
                  <a:rPr lang="en-US" altLang="zh-CN" sz="2400" dirty="0"/>
                  <a:t>:</a:t>
                </a:r>
                <a:endParaRPr lang="en-US" altLang="zh-CN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zh-CN" altLang="en-US" sz="2400" i="0"/>
                        <m:t> 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𝑡𝑜𝑡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zh-CN" sz="2400" dirty="0"/>
              </a:p>
              <a:p>
                <a:r>
                  <a:rPr lang="en-US" altLang="zh-CN" sz="2400" dirty="0"/>
                  <a:t>	</a:t>
                </a:r>
                <a:r>
                  <a:rPr lang="zh-CN" altLang="zh-CN" sz="2400" dirty="0"/>
                  <a:t>Average Flow per Lane</a:t>
                </a:r>
                <a:endParaRPr lang="en-US" altLang="zh-C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𝑡𝑜𝑡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den>
                      </m:f>
                    </m:oMath>
                  </m:oMathPara>
                </a14:m>
                <a:endParaRPr lang="zh-CN" altLang="zh-CN" dirty="0"/>
              </a:p>
              <a:p>
                <a:endParaRPr lang="en-US" altLang="zh-CN" i="1" dirty="0"/>
              </a:p>
              <a:p>
                <a:r>
                  <a:rPr lang="en-US" altLang="zh-CN" dirty="0"/>
                  <a:t>	</a:t>
                </a:r>
                <a:r>
                  <a:rPr lang="zh-CN" altLang="zh-CN" sz="2400" dirty="0"/>
                  <a:t>Multi-Lane Hydrodynamic Flow Relations</a:t>
                </a:r>
                <a:endParaRPr lang="en-US" altLang="zh-CN" sz="24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 </m:t>
                      </m:r>
                      <m:r>
                        <m:rPr>
                          <m:nor/>
                        </m:rPr>
                        <a:rPr lang="zh-CN" altLang="en-US" i="0"/>
                        <m:t>—— </m:t>
                      </m:r>
                      <m:r>
                        <m:rPr>
                          <m:nor/>
                        </m:rPr>
                        <a:rPr lang="en-US" altLang="zh-CN" b="0" i="0" smtClean="0"/>
                        <m:t>effective</m:t>
                      </m:r>
                      <m:r>
                        <m:rPr>
                          <m:nor/>
                        </m:rPr>
                        <a:rPr lang="en-US" altLang="zh-CN" b="0" i="0" smtClean="0"/>
                        <m:t> </m:t>
                      </m:r>
                      <m:r>
                        <m:rPr>
                          <m:nor/>
                        </m:rPr>
                        <a:rPr lang="en-US" altLang="zh-CN" b="0" i="0" smtClean="0"/>
                        <m:t>relation</m:t>
                      </m:r>
                      <m:r>
                        <m:rPr>
                          <m:nor/>
                        </m:rPr>
                        <a:rPr lang="zh-CN" altLang="en-US" i="0"/>
                        <m:t> </m:t>
                      </m:r>
                    </m:oMath>
                  </m:oMathPara>
                </a14:m>
                <a:endParaRPr lang="zh-CN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 </m:t>
                      </m:r>
                      <m:r>
                        <m:rPr>
                          <m:nor/>
                        </m:rPr>
                        <a:rPr lang="zh-CN" altLang="en-US" i="0"/>
                        <m:t>—— </m:t>
                      </m:r>
                      <m:r>
                        <m:rPr>
                          <m:nor/>
                        </m:rPr>
                        <a:rPr lang="en-US" altLang="zh-CN" b="0" i="0" smtClean="0"/>
                        <m:t>total</m:t>
                      </m:r>
                      <m:r>
                        <m:rPr>
                          <m:nor/>
                        </m:rPr>
                        <a:rPr lang="en-US" altLang="zh-CN" b="0" i="0" smtClean="0"/>
                        <m:t> </m:t>
                      </m:r>
                      <m:r>
                        <m:rPr>
                          <m:nor/>
                        </m:rPr>
                        <a:rPr lang="en-US" altLang="zh-CN" b="0" i="0" smtClean="0"/>
                        <m:t>relation</m:t>
                      </m:r>
                      <m:r>
                        <m:rPr>
                          <m:nor/>
                        </m:rPr>
                        <a:rPr lang="zh-CN" altLang="en-US" i="0"/>
                        <m:t> </m:t>
                      </m:r>
                    </m:oMath>
                  </m:oMathPara>
                </a14:m>
                <a:endParaRPr lang="zh-CN" altLang="zh-CN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63AA75F-EFAC-5D2C-1B36-1A22E761D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00" y="1307485"/>
                <a:ext cx="11706254" cy="5762988"/>
              </a:xfrm>
              <a:prstGeom prst="rect">
                <a:avLst/>
              </a:prstGeom>
              <a:blipFill>
                <a:blip r:embed="rId3"/>
                <a:stretch>
                  <a:fillRect l="-781" t="-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9142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397FE9-AC7C-DDD6-B1CA-19CBF18DB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24BC17-90A7-6569-17AD-36C8F600F9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EEA5E5D-B782-E260-216C-2EFEB78F7A6F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9109FCA-03C5-69CC-B52A-15075110545B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E986170-BA84-5BA0-DC54-26610A24A1BB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2000E62-22D6-CA49-7BFE-70D99161A0F5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633A1F-6EC7-7F9B-36F1-7272E0DA2A5E}"/>
              </a:ext>
            </a:extLst>
          </p:cNvPr>
          <p:cNvSpPr txBox="1"/>
          <p:nvPr/>
        </p:nvSpPr>
        <p:spPr>
          <a:xfrm>
            <a:off x="177800" y="444414"/>
            <a:ext cx="9119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7.3</a:t>
            </a:r>
            <a:r>
              <a:rPr lang="zh-CN" altLang="zh-CN" sz="2400" dirty="0"/>
              <a:t> </a:t>
            </a:r>
            <a:r>
              <a:rPr lang="en-US" altLang="zh-CN" sz="2400" b="1" dirty="0">
                <a:latin typeface="+mj-ea"/>
                <a:ea typeface="+mj-ea"/>
              </a:rPr>
              <a:t>Continuity Equation from the Driver’s Perspective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ACEEE8B-80E0-EDEE-E9F0-7746F41300DE}"/>
                  </a:ext>
                </a:extLst>
              </p:cNvPr>
              <p:cNvSpPr txBox="1"/>
              <p:nvPr/>
            </p:nvSpPr>
            <p:spPr>
              <a:xfrm>
                <a:off x="177800" y="1307485"/>
                <a:ext cx="11706254" cy="1974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zh-CN" sz="2400" dirty="0"/>
                  <a:t>Substantial Derivative of Traffic Density</a:t>
                </a:r>
                <a:r>
                  <a:rPr lang="en-US" altLang="zh-CN" sz="2400" dirty="0"/>
                  <a:t>:</a:t>
                </a: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𝜌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𝜕𝜌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zh-CN" alt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f>
                      <m:f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𝜕𝜌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altLang="zh-CN" dirty="0"/>
                  <a:t>		(7.17)</a:t>
                </a:r>
                <a:endParaRPr lang="zh-CN" altLang="zh-CN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ACEEE8B-80E0-EDEE-E9F0-7746F41300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00" y="1307485"/>
                <a:ext cx="11706254" cy="1974387"/>
              </a:xfrm>
              <a:prstGeom prst="rect">
                <a:avLst/>
              </a:prstGeom>
              <a:blipFill>
                <a:blip r:embed="rId3"/>
                <a:stretch>
                  <a:fillRect l="-781" t="-24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B4B617CA-66A4-FFC6-193F-BF66E10435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4522" y="2358426"/>
            <a:ext cx="7371428" cy="41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7454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AF3ECB-40B7-5B5D-6D2F-A4A87C5B0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EC99-7396-5864-7EC2-39FAE469CD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228CBA9-84BA-FDA0-EDA4-CE882D9CFEE5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C7949B2-5C44-0B1F-9988-7D1E6884E3D6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D925EB6-71BF-29D8-400C-F498C280FAE6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578CBFE-EF95-0D9F-E377-60A50EBCEA7D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05094C8-2C8B-EDB9-2434-B6190E792C7D}"/>
              </a:ext>
            </a:extLst>
          </p:cNvPr>
          <p:cNvSpPr txBox="1"/>
          <p:nvPr/>
        </p:nvSpPr>
        <p:spPr>
          <a:xfrm>
            <a:off x="177800" y="444414"/>
            <a:ext cx="9119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7.3</a:t>
            </a:r>
            <a:r>
              <a:rPr lang="zh-CN" altLang="zh-CN" sz="2400" dirty="0"/>
              <a:t> </a:t>
            </a:r>
            <a:r>
              <a:rPr lang="en-US" altLang="zh-CN" sz="2400" b="1" dirty="0">
                <a:latin typeface="+mj-ea"/>
                <a:ea typeface="+mj-ea"/>
              </a:rPr>
              <a:t>Continuity Equation from the Driver’s Perspective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A031702-BF12-FB24-7425-0189A9DB52DA}"/>
                  </a:ext>
                </a:extLst>
              </p:cNvPr>
              <p:cNvSpPr txBox="1"/>
              <p:nvPr/>
            </p:nvSpPr>
            <p:spPr>
              <a:xfrm>
                <a:off x="384146" y="990600"/>
                <a:ext cx="11706254" cy="4351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Continuity Equation for Homogeneous Road Section </a:t>
                </a:r>
                <a:r>
                  <a:rPr lang="en-US" altLang="zh-CN" sz="2400" dirty="0"/>
                  <a:t>equation</a:t>
                </a:r>
                <a:r>
                  <a:rPr lang="zh-CN" altLang="zh-CN" sz="2400" dirty="0"/>
                  <a:t>：</a:t>
                </a:r>
              </a:p>
              <a:p>
                <a:pPr algn="ctr"/>
                <a:r>
                  <a:rPr lang="en-US" altLang="zh-CN" sz="2400" dirty="0"/>
                  <a:t>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𝜕𝜌</m:t>
                        </m:r>
                      </m:num>
                      <m:den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zh-CN" altLang="en-US" sz="2400" b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num>
                      <m:den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 b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2400" dirty="0"/>
                  <a:t>			(7.8)</a:t>
                </a:r>
                <a:endParaRPr lang="zh-CN" altLang="zh-C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With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num>
                      <m:den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 b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</a:rPr>
                      <m:t>𝜌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 b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𝜕𝜌</m:t>
                        </m:r>
                      </m:num>
                      <m:den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/>
                  <a:t>we can rewrite the continuity equation for homogeneous road sections(7.8) and get </a:t>
                </a:r>
                <a:r>
                  <a:rPr lang="zh-CN" altLang="zh-CN" sz="2400" dirty="0"/>
                  <a:t>Continuity Equation in Driver's Perspective</a:t>
                </a:r>
                <a:r>
                  <a:rPr lang="en-US" altLang="zh-CN" sz="2400" dirty="0"/>
                  <a:t>:</a:t>
                </a: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num>
                      <m:den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zh-CN" altLang="en-US" sz="2400" b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𝜕𝜌</m:t>
                        </m:r>
                      </m:num>
                      <m:den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zh-CN" altLang="en-US" sz="2400" b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𝜕𝜌</m:t>
                        </m:r>
                      </m:num>
                      <m:den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 b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</a:rPr>
                      <m:t>𝜌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altLang="zh-CN" sz="2400" dirty="0"/>
                  <a:t>	(7.18)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General Substantial Derivative for Arbitrary Fields</a:t>
                </a:r>
                <a:r>
                  <a:rPr lang="en-US" altLang="zh-CN" sz="2400" dirty="0"/>
                  <a:t>:</a:t>
                </a:r>
                <a:endParaRPr lang="zh-CN" altLang="zh-CN" sz="2400" dirty="0"/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𝑑𝐹</m:t>
                        </m:r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400" b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zh-CN" altLang="en-US" sz="2400" b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400" b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zh-CN" altLang="en-US" sz="2400" b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b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400" b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altLang="zh-CN" sz="2400" dirty="0"/>
                  <a:t>	(7.19)</a:t>
                </a:r>
                <a:endParaRPr lang="zh-CN" altLang="zh-C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Total Speed Derivative / Macroscopic Acceleration</a:t>
                </a:r>
                <a:r>
                  <a:rPr lang="en-US" altLang="zh-CN" sz="2400" dirty="0"/>
                  <a:t>:</a:t>
                </a:r>
                <a:endParaRPr lang="zh-CN" altLang="zh-CN" sz="2400" dirty="0"/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𝑑𝑉</m:t>
                        </m:r>
                      </m:num>
                      <m:den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zh-CN" altLang="en-US" sz="2400" b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zh-CN" altLang="en-US" sz="2400" b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 b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zh-CN" altLang="en-US" sz="2400" b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den>
                    </m:f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num>
                      <m:den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altLang="zh-CN" sz="2400" dirty="0"/>
                  <a:t>	(7.20)</a:t>
                </a:r>
                <a:endParaRPr lang="zh-CN" altLang="zh-CN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A031702-BF12-FB24-7425-0189A9DB52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46" y="990600"/>
                <a:ext cx="11706254" cy="4351897"/>
              </a:xfrm>
              <a:prstGeom prst="rect">
                <a:avLst/>
              </a:prstGeom>
              <a:blipFill>
                <a:blip r:embed="rId3"/>
                <a:stretch>
                  <a:fillRect l="-677" t="-12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2248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2F2F5A-0B19-A3B8-3840-022EC1288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F527E-A850-7EE9-BBC6-5693F119E5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C83433-7B71-BC11-1305-3A074F3B5EDF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DED719C-9907-94CD-CB17-4094DF1BDE6D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5D0DC46-0BB1-5126-5A4F-BE1775FD6943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93B4977-7D4E-511D-6317-D76E275B0912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C9F938A-08B1-BF42-A2B0-C333166DA7B3}"/>
              </a:ext>
            </a:extLst>
          </p:cNvPr>
          <p:cNvSpPr txBox="1"/>
          <p:nvPr/>
        </p:nvSpPr>
        <p:spPr>
          <a:xfrm>
            <a:off x="177800" y="444414"/>
            <a:ext cx="9119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7.3</a:t>
            </a:r>
            <a:r>
              <a:rPr lang="zh-CN" altLang="zh-CN" sz="2400" dirty="0"/>
              <a:t> </a:t>
            </a:r>
            <a:r>
              <a:rPr lang="en-US" altLang="zh-CN" sz="2400" b="1" dirty="0">
                <a:latin typeface="+mj-ea"/>
                <a:ea typeface="+mj-ea"/>
              </a:rPr>
              <a:t>Continuity Equation from the Driver’s Perspective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D9F867B-1198-A353-7B32-1BFCE86FC5CB}"/>
                  </a:ext>
                </a:extLst>
              </p:cNvPr>
              <p:cNvSpPr txBox="1"/>
              <p:nvPr/>
            </p:nvSpPr>
            <p:spPr>
              <a:xfrm>
                <a:off x="690734" y="5279161"/>
                <a:ext cx="4525952" cy="680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𝑑𝑉</m:t>
                        </m:r>
                      </m:num>
                      <m:den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zh-CN" altLang="en-US" sz="2400" b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zh-CN" altLang="en-US" sz="2400" b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 b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zh-CN" altLang="en-US" sz="2400" b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den>
                    </m:f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num>
                      <m:den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altLang="zh-CN" sz="2400" dirty="0"/>
                  <a:t>	(7.20)</a:t>
                </a:r>
                <a:endParaRPr lang="zh-CN" altLang="zh-CN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D9F867B-1198-A353-7B32-1BFCE86FC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34" y="5279161"/>
                <a:ext cx="4525952" cy="680314"/>
              </a:xfrm>
              <a:prstGeom prst="rect">
                <a:avLst/>
              </a:prstGeom>
              <a:blipFill>
                <a:blip r:embed="rId3"/>
                <a:stretch>
                  <a:fillRect r="-2019" b="-17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43E5CA28-C051-0860-6791-E2BE1319F1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" y="998823"/>
            <a:ext cx="8219321" cy="4013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12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525DBC-1E78-6FD3-2412-8A9225147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646538-0E0A-180B-69E8-FB8FA8701A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A5BA2C1-2F82-961A-A8D6-34B10915B55B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7F74B6D-363A-AAB7-D6CA-F2E296239918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690B169-E8C3-CE4B-6625-6B9589488FF2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D54A2A1-BF3B-7DA8-3C1F-9F8B65CFCA78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9EA95D3-04F4-F13D-A9A6-D7B1A32389D1}"/>
              </a:ext>
            </a:extLst>
          </p:cNvPr>
          <p:cNvSpPr txBox="1"/>
          <p:nvPr/>
        </p:nvSpPr>
        <p:spPr>
          <a:xfrm>
            <a:off x="177800" y="444414"/>
            <a:ext cx="9119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7.4</a:t>
            </a:r>
            <a:r>
              <a:rPr lang="zh-CN" altLang="zh-CN" sz="2400" dirty="0"/>
              <a:t> </a:t>
            </a:r>
            <a:r>
              <a:rPr lang="en-US" altLang="zh-CN" sz="2400" b="1" dirty="0" err="1">
                <a:latin typeface="+mj-ea"/>
                <a:ea typeface="+mj-ea"/>
              </a:rPr>
              <a:t>Lagrangian</a:t>
            </a:r>
            <a:r>
              <a:rPr lang="en-US" altLang="zh-CN" sz="2400" b="1" dirty="0">
                <a:latin typeface="+mj-ea"/>
                <a:ea typeface="+mj-ea"/>
              </a:rPr>
              <a:t> Description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0A602CE-86C2-0ADB-C356-8F620E98BD5B}"/>
                  </a:ext>
                </a:extLst>
              </p:cNvPr>
              <p:cNvSpPr txBox="1"/>
              <p:nvPr/>
            </p:nvSpPr>
            <p:spPr>
              <a:xfrm>
                <a:off x="384146" y="990600"/>
                <a:ext cx="11706254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T</a:t>
                </a:r>
                <a:r>
                  <a:rPr lang="zh-CN" altLang="zh-CN" sz="2400" dirty="0"/>
                  <a:t>he Lagrangian description, the independent spatial coordinate is no longer the fixed location 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zh-CN" sz="2400" dirty="0"/>
                  <a:t>from the Eulerian perspective, but the vehicle index 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zh-CN" sz="2400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The fundamental dependent variables of the system also change from spatial density 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zh-CN" sz="2400" dirty="0"/>
                  <a:t>to distance headway 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zh-CN" sz="2400" dirty="0"/>
                  <a:t>and Lagrangian speed 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zh-CN" sz="2400" dirty="0"/>
                  <a:t>.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0A602CE-86C2-0ADB-C356-8F620E98B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46" y="990600"/>
                <a:ext cx="11706254" cy="1569660"/>
              </a:xfrm>
              <a:prstGeom prst="rect">
                <a:avLst/>
              </a:prstGeom>
              <a:blipFill>
                <a:blip r:embed="rId3"/>
                <a:stretch>
                  <a:fillRect l="-781" t="-3113" b="-77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4967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2CE5AE-CEF5-32B3-44C3-D8D036BD5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CFB370-ED79-B72B-FA81-7A96026C5B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DB51439-B8AF-65AD-1717-1AF6BBE01021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B703B82-7A53-8FA0-407C-4C4FF7EF4016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FD2122D-B8B9-8BC5-3FA2-DB6565F774B5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1C8373B-A32D-4DBB-9058-6D37DC282BD3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F294831-1F7C-8803-C6EF-39D0DAF76C33}"/>
              </a:ext>
            </a:extLst>
          </p:cNvPr>
          <p:cNvSpPr txBox="1"/>
          <p:nvPr/>
        </p:nvSpPr>
        <p:spPr>
          <a:xfrm>
            <a:off x="177800" y="444414"/>
            <a:ext cx="9119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7.4</a:t>
            </a:r>
            <a:r>
              <a:rPr lang="zh-CN" altLang="zh-CN" sz="2400" dirty="0"/>
              <a:t> </a:t>
            </a:r>
            <a:r>
              <a:rPr lang="en-US" altLang="zh-CN" sz="2400" b="1" dirty="0" err="1">
                <a:latin typeface="+mj-ea"/>
                <a:ea typeface="+mj-ea"/>
              </a:rPr>
              <a:t>Lagrangian</a:t>
            </a:r>
            <a:r>
              <a:rPr lang="en-US" altLang="zh-CN" sz="2400" b="1" dirty="0">
                <a:latin typeface="+mj-ea"/>
                <a:ea typeface="+mj-ea"/>
              </a:rPr>
              <a:t> Description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18F224C-F105-BAE4-EDB3-2DDD9EF720DD}"/>
                  </a:ext>
                </a:extLst>
              </p:cNvPr>
              <p:cNvSpPr txBox="1"/>
              <p:nvPr/>
            </p:nvSpPr>
            <p:spPr>
              <a:xfrm>
                <a:off x="384146" y="990600"/>
                <a:ext cx="11706254" cy="60804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zh-CN" b="1" dirty="0"/>
                  <a:t>Coordinate Transformation Formula</a:t>
                </a:r>
              </a:p>
              <a:p>
                <a:pPr algn="ctr"/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limLoc m:val="subSup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nary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′,0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′+</m:t>
                    </m:r>
                    <m:nary>
                      <m:naryPr>
                        <m:limLoc m:val="subSup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nary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zh-CN" dirty="0"/>
                  <a:t>		(7.21)</a:t>
                </a:r>
              </a:p>
              <a:p>
                <a:pPr algn="ctr"/>
                <a:r>
                  <a:rPr lang="zh-CN" altLang="zh-CN" dirty="0"/>
                  <a:t>Convention: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zh-CN" dirty="0"/>
                  <a:t>, and leading vehicles with larger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zh-CN" dirty="0"/>
                  <a:t>have smaller vehicle index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zh-CN" dirty="0"/>
              </a:p>
              <a:p>
                <a:pPr algn="ctr"/>
                <a:endParaRPr lang="en-US" altLang="zh-CN" dirty="0"/>
              </a:p>
              <a:p>
                <a:r>
                  <a:rPr lang="zh-CN" altLang="zh-CN" b="1" dirty="0"/>
                  <a:t>Density-Headway Relation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den>
                    </m:f>
                  </m:oMath>
                </a14:m>
                <a:r>
                  <a:rPr lang="en-US" altLang="zh-CN" dirty="0"/>
                  <a:t>		(7.22)</a:t>
                </a:r>
                <a:endParaRPr lang="zh-CN" altLang="zh-CN" dirty="0"/>
              </a:p>
              <a:p>
                <a:r>
                  <a:rPr lang="zh-CN" altLang="zh-CN" b="1" dirty="0"/>
                  <a:t>Lagrangian Speed Field Definition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zh-CN" dirty="0"/>
                  <a:t>	(7.23)</a:t>
                </a:r>
                <a:endParaRPr lang="zh-CN" altLang="zh-CN" dirty="0"/>
              </a:p>
              <a:p>
                <a:r>
                  <a:rPr lang="zh-CN" altLang="zh-CN" b="1" dirty="0"/>
                  <a:t>Partial Derivatives of Vehicle Index</a:t>
                </a: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, </m:t>
                    </m:r>
                    <m:f>
                      <m:f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>
                        <a:latin typeface="Cambria Math" panose="02040503050406030204" pitchFamily="18" charset="0"/>
                      </a:rPr>
                      <m:t>=−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altLang="zh-CN" dirty="0"/>
                  <a:t>	(7.25)</a:t>
                </a:r>
                <a:endParaRPr lang="zh-CN" altLang="zh-CN" dirty="0"/>
              </a:p>
              <a:p>
                <a:r>
                  <a:rPr lang="zh-CN" altLang="zh-CN" b="1" dirty="0"/>
                  <a:t>Homogeneous Lagrangian Continuity Equation</a:t>
                </a: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zh-CN" altLang="en-US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zh-CN" altLang="en-US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/>
                  <a:t>	(7.26)</a:t>
                </a:r>
              </a:p>
              <a:p>
                <a:r>
                  <a:rPr lang="zh-CN" altLang="zh-CN" b="1" dirty="0"/>
                  <a:t>General Lagrangian Continuity Equation</a:t>
                </a: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zh-CN" altLang="en-US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zh-CN" altLang="en-US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𝑟𝑚𝑝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num>
                          <m:den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𝐼h</m:t>
                            </m:r>
                          </m:den>
                        </m:f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′</m:t>
                        </m:r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dirty="0"/>
                  <a:t>	(7.27)</a:t>
                </a:r>
              </a:p>
              <a:p>
                <a:r>
                  <a:rPr lang="zh-CN" altLang="zh-CN" b="1" dirty="0"/>
                  <a:t>Reconstruction of Spatial Trajectory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subSup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nary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′−</m:t>
                    </m:r>
                    <m:nary>
                      <m:naryPr>
                        <m:limLoc m:val="subSup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nary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′,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𝑑𝑛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zh-CN" dirty="0"/>
                  <a:t>	(7.28)</a:t>
                </a:r>
                <a:endParaRPr lang="zh-CN" altLang="zh-CN" dirty="0"/>
              </a:p>
              <a:p>
                <a:pPr algn="ctr"/>
                <a:endParaRPr lang="zh-CN" altLang="zh-CN" dirty="0"/>
              </a:p>
              <a:p>
                <a:pPr algn="ctr"/>
                <a:endParaRPr lang="zh-CN" altLang="zh-CN" dirty="0"/>
              </a:p>
              <a:p>
                <a:endParaRPr lang="zh-CN" altLang="zh-CN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18F224C-F105-BAE4-EDB3-2DDD9EF72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46" y="990600"/>
                <a:ext cx="11706254" cy="6080447"/>
              </a:xfrm>
              <a:prstGeom prst="rect">
                <a:avLst/>
              </a:prstGeom>
              <a:blipFill>
                <a:blip r:embed="rId3"/>
                <a:stretch>
                  <a:fillRect l="-417" t="-37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80636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E360D7-EBB6-E4A7-A542-FBA50D1EA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F:\设计相关\莱茵PPT\20210803125144!Avg_avg_ac15_6.png20210803125144!Avg_avg_ac15_6">
            <a:extLst>
              <a:ext uri="{FF2B5EF4-FFF2-40B4-BE49-F238E27FC236}">
                <a16:creationId xmlns:a16="http://schemas.microsoft.com/office/drawing/2014/main" id="{AEAFF96B-2A0C-4743-51AF-47114253BEE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-6983" b="4347"/>
          <a:stretch>
            <a:fillRect/>
          </a:stretch>
        </p:blipFill>
        <p:spPr>
          <a:xfrm>
            <a:off x="0" y="-316379"/>
            <a:ext cx="12185650" cy="7011035"/>
          </a:xfrm>
          <a:prstGeom prst="rect">
            <a:avLst/>
          </a:prstGeom>
          <a:ln>
            <a:noFill/>
          </a:ln>
          <a:effectLst>
            <a:softEdge rad="317500"/>
          </a:effec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79F4880-772D-CC38-237E-7EE889FBDC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50" y="179705"/>
            <a:ext cx="2640330" cy="1202690"/>
          </a:xfrm>
        </p:spPr>
        <p:txBody>
          <a:bodyPr/>
          <a:lstStyle/>
          <a:p>
            <a:r>
              <a:rPr lang="en-US" altLang="zh-CN" sz="2000">
                <a:latin typeface="Novecento wide Bold" panose="00000805000000000000" charset="0"/>
                <a:cs typeface="Novecento wide Bold" panose="00000805000000000000" charset="0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25BD987-BA90-0B9C-DCF4-81A4BD040D09}"/>
              </a:ext>
            </a:extLst>
          </p:cNvPr>
          <p:cNvSpPr/>
          <p:nvPr/>
        </p:nvSpPr>
        <p:spPr>
          <a:xfrm flipV="1">
            <a:off x="11085195" y="6539230"/>
            <a:ext cx="402590" cy="15494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319529-4CD5-1122-3073-FFCD4F0C68FB}"/>
              </a:ext>
            </a:extLst>
          </p:cNvPr>
          <p:cNvSpPr/>
          <p:nvPr/>
        </p:nvSpPr>
        <p:spPr>
          <a:xfrm>
            <a:off x="6343015" y="2866390"/>
            <a:ext cx="76200" cy="762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77CCEBB-39B9-F2F7-DD0B-34D261C19E50}"/>
              </a:ext>
            </a:extLst>
          </p:cNvPr>
          <p:cNvSpPr/>
          <p:nvPr/>
        </p:nvSpPr>
        <p:spPr>
          <a:xfrm>
            <a:off x="11248390" y="2870835"/>
            <a:ext cx="76200" cy="762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5A62F2A-3262-E798-00E3-559DC5A602E2}"/>
              </a:ext>
            </a:extLst>
          </p:cNvPr>
          <p:cNvSpPr/>
          <p:nvPr/>
        </p:nvSpPr>
        <p:spPr>
          <a:xfrm>
            <a:off x="6343015" y="3487420"/>
            <a:ext cx="76200" cy="762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22AB587-DDF7-A940-591A-D12D542C9772}"/>
              </a:ext>
            </a:extLst>
          </p:cNvPr>
          <p:cNvSpPr/>
          <p:nvPr/>
        </p:nvSpPr>
        <p:spPr>
          <a:xfrm>
            <a:off x="11248390" y="3460750"/>
            <a:ext cx="76200" cy="762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235C50A-29FC-331A-3876-B80AA8DCA0D7}"/>
              </a:ext>
            </a:extLst>
          </p:cNvPr>
          <p:cNvCxnSpPr/>
          <p:nvPr/>
        </p:nvCxnSpPr>
        <p:spPr>
          <a:xfrm>
            <a:off x="6332855" y="3746500"/>
            <a:ext cx="591185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8A2EAA32-E217-E89D-AC3D-E7D3FE17E99B}"/>
              </a:ext>
            </a:extLst>
          </p:cNvPr>
          <p:cNvSpPr txBox="1"/>
          <p:nvPr/>
        </p:nvSpPr>
        <p:spPr>
          <a:xfrm>
            <a:off x="4977653" y="2984172"/>
            <a:ext cx="7804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Chapt8. The Lighthill–Whitham–Richards Model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223FD01-653F-B835-2088-29E740483536}"/>
              </a:ext>
            </a:extLst>
          </p:cNvPr>
          <p:cNvSpPr/>
          <p:nvPr/>
        </p:nvSpPr>
        <p:spPr>
          <a:xfrm>
            <a:off x="2908935" y="349694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78D1E9B-3728-178F-CDBC-46732AB42DD9}"/>
              </a:ext>
            </a:extLst>
          </p:cNvPr>
          <p:cNvSpPr/>
          <p:nvPr/>
        </p:nvSpPr>
        <p:spPr>
          <a:xfrm>
            <a:off x="562610" y="349694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240C2BF-6AC4-EF03-C7A5-E9864A88B7F7}"/>
              </a:ext>
            </a:extLst>
          </p:cNvPr>
          <p:cNvSpPr/>
          <p:nvPr/>
        </p:nvSpPr>
        <p:spPr>
          <a:xfrm>
            <a:off x="562610" y="287591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4DF3146-A735-FADE-F942-C4BF6FFD5874}"/>
              </a:ext>
            </a:extLst>
          </p:cNvPr>
          <p:cNvSpPr txBox="1"/>
          <p:nvPr/>
        </p:nvSpPr>
        <p:spPr>
          <a:xfrm>
            <a:off x="12600305" y="2866390"/>
            <a:ext cx="2882265" cy="1476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>
                <a:highlight>
                  <a:srgbClr val="FFFF00"/>
                </a:highlight>
              </a:rPr>
              <a:t>建议使用：带图小标题</a:t>
            </a:r>
            <a:r>
              <a:rPr lang="en-US" altLang="zh-CN">
                <a:highlight>
                  <a:srgbClr val="FFFF00"/>
                </a:highlight>
              </a:rPr>
              <a:t> </a:t>
            </a:r>
            <a:br>
              <a:rPr lang="zh-CN" altLang="en-US">
                <a:highlight>
                  <a:srgbClr val="FFFF00"/>
                </a:highlight>
              </a:rPr>
            </a:br>
            <a:br>
              <a:rPr lang="zh-CN" altLang="en-US">
                <a:highlight>
                  <a:srgbClr val="FFFF00"/>
                </a:highlight>
              </a:rPr>
            </a:br>
            <a:r>
              <a:rPr lang="zh-CN" altLang="en-US">
                <a:highlight>
                  <a:srgbClr val="FFFF00"/>
                </a:highlight>
              </a:rPr>
              <a:t>可以修改右侧文字</a:t>
            </a:r>
            <a:r>
              <a:rPr lang="en-US" altLang="zh-CN">
                <a:highlight>
                  <a:srgbClr val="FFFF00"/>
                </a:highlight>
              </a:rPr>
              <a:t> </a:t>
            </a:r>
            <a:r>
              <a:rPr lang="zh-CN" altLang="en-US">
                <a:highlight>
                  <a:srgbClr val="FFFF00"/>
                </a:highlight>
              </a:rPr>
              <a:t>介绍</a:t>
            </a:r>
            <a:br>
              <a:rPr lang="zh-CN" altLang="en-US">
                <a:highlight>
                  <a:srgbClr val="FFFF00"/>
                </a:highlight>
              </a:rPr>
            </a:br>
            <a:r>
              <a:rPr lang="zh-CN" altLang="en-US">
                <a:highlight>
                  <a:srgbClr val="FFFF00"/>
                </a:highlight>
              </a:rPr>
              <a:t>英文字体：Novecento wide </a:t>
            </a:r>
            <a:br>
              <a:rPr lang="zh-CN" altLang="en-US">
                <a:highlight>
                  <a:srgbClr val="FFFF00"/>
                </a:highlight>
              </a:rPr>
            </a:br>
            <a:r>
              <a:rPr lang="zh-CN" altLang="en-US">
                <a:highlight>
                  <a:srgbClr val="FFFF00"/>
                </a:highlight>
              </a:rPr>
              <a:t>中文字体：思源黑体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CFE23CC-9E47-B9AF-A2EA-39370352880C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</p:spTree>
    <p:extLst>
      <p:ext uri="{BB962C8B-B14F-4D97-AF65-F5344CB8AC3E}">
        <p14:creationId xmlns:p14="http://schemas.microsoft.com/office/powerpoint/2010/main" val="3971833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E1DCCB-2676-C1A3-17CD-2F6081B4F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DD2A78-9DA4-B05C-76FB-36D61DA5C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9F9B21D-B87C-1FD2-D72A-C8E5780DCE45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C058BA4-FCB9-DB77-FB0E-76CEF7F0FC15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C5D3DA9-DFB8-AAFF-E775-1129ADDD90DC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30AC31B-9D0D-E11D-7AF8-FAAFDC4CFF79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3A1D857-3AA2-C7C7-D235-724F84CBF31D}"/>
              </a:ext>
            </a:extLst>
          </p:cNvPr>
          <p:cNvSpPr txBox="1"/>
          <p:nvPr/>
        </p:nvSpPr>
        <p:spPr>
          <a:xfrm>
            <a:off x="309368" y="350182"/>
            <a:ext cx="9119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8.1</a:t>
            </a:r>
            <a:r>
              <a:rPr lang="zh-CN" altLang="zh-CN" sz="2400" b="1" dirty="0">
                <a:latin typeface="+mj-ea"/>
                <a:ea typeface="+mj-ea"/>
              </a:rPr>
              <a:t> </a:t>
            </a:r>
            <a:r>
              <a:rPr lang="en-US" altLang="zh-CN" sz="2400" b="1" dirty="0">
                <a:latin typeface="+mj-ea"/>
                <a:ea typeface="+mj-ea"/>
              </a:rPr>
              <a:t>LWR </a:t>
            </a:r>
            <a:r>
              <a:rPr lang="en-US" altLang="zh-CN" sz="2400" b="1" dirty="0" err="1">
                <a:latin typeface="+mj-ea"/>
                <a:ea typeface="+mj-ea"/>
              </a:rPr>
              <a:t>ModeL</a:t>
            </a:r>
            <a:endParaRPr lang="en-US" altLang="zh-CN" sz="2400" b="1" dirty="0">
              <a:latin typeface="+mj-ea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0D03F4A-A057-2A45-5D9E-94F83F8D3FF9}"/>
                  </a:ext>
                </a:extLst>
              </p:cNvPr>
              <p:cNvSpPr txBox="1"/>
              <p:nvPr/>
            </p:nvSpPr>
            <p:spPr>
              <a:xfrm>
                <a:off x="177801" y="1128057"/>
                <a:ext cx="11912600" cy="4856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Static Equilibrium Assumption Relation：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zh-CN" alt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b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sz="2400" b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400" b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zh-CN" altLang="en-US" sz="2400" b="0" smtClean="0">
                        <a:latin typeface="Cambria Math" panose="02040503050406030204" pitchFamily="18" charset="0"/>
                      </a:rPr>
                      <m:t> </m:t>
                    </m:r>
                    <m:r>
                      <m:rPr>
                        <m:nor/>
                      </m:rPr>
                      <a:rPr lang="zh-CN" altLang="en-US" sz="2400" i="0"/>
                      <m:t>or</m:t>
                    </m:r>
                    <m:r>
                      <a:rPr lang="zh-CN" altLang="en-US" sz="2400" b="0" smtClean="0">
                        <a:latin typeface="Cambria Math" panose="02040503050406030204" pitchFamily="18" charset="0"/>
                      </a:rPr>
                      <m:t> 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b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sz="2400" b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400" b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sz="2400" dirty="0"/>
                  <a:t>	(8.1)</a:t>
                </a:r>
                <a:endParaRPr lang="zh-CN" altLang="zh-C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Eulerian continuity equation for a source-free homogeneous road section: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𝜕𝜌</m:t>
                        </m:r>
                      </m:num>
                      <m:den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zh-CN" altLang="en-US" sz="2400" b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 b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2400" dirty="0"/>
                  <a:t>.</a:t>
                </a:r>
              </a:p>
              <a:p>
                <a:r>
                  <a:rPr lang="zh-CN" altLang="zh-CN" sz="2400" dirty="0"/>
                  <a:t>Substitute the static equilibrium assumption </a:t>
                </a:r>
                <a14:m>
                  <m:oMath xmlns:m="http://schemas.openxmlformats.org/officeDocument/2006/math">
                    <m:r>
                      <a:rPr lang="zh-CN" alt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b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sz="2400" b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400" b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400" dirty="0"/>
                  <a:t>expand the spatial partial derivative term</a:t>
                </a:r>
                <a:endParaRPr lang="en-US" altLang="zh-CN" sz="2400" dirty="0"/>
              </a:p>
              <a:p>
                <a:pPr algn="ctr"/>
                <a:r>
                  <a:rPr lang="zh-CN" altLang="zh-CN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  <m:d>
                              <m:d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4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zh-CN" altLang="en-US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num>
                      <m:den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 b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</m:d>
                      </m:num>
                      <m:den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den>
                    </m:f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𝜕𝜌</m:t>
                        </m:r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400" b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US" altLang="zh-C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LWR Model PDE (Flow Form)： </a:t>
                </a: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𝜕𝜌</m:t>
                        </m:r>
                      </m:num>
                      <m:den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zh-CN" altLang="en-US" sz="2400" b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</m:d>
                      </m:num>
                      <m:den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den>
                    </m:f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𝜕𝜌</m:t>
                        </m:r>
                      </m:num>
                      <m:den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 b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2400" dirty="0"/>
                  <a:t>	(8.2)</a:t>
                </a:r>
                <a:endParaRPr lang="zh-CN" altLang="zh-C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LWR Model PDE (Speed Form)： </a:t>
                </a: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𝜕𝜌</m:t>
                        </m:r>
                      </m:num>
                      <m:den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zh-CN" altLang="en-US" sz="2400" b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</m:d>
                        <m:r>
                          <a:rPr lang="zh-CN" altLang="en-US" sz="2400" b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  <m:f>
                          <m:f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zh-CN" altLang="en-US" sz="24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b="0" i="1" smtClean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</m:d>
                          </m:num>
                          <m:den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den>
                        </m:f>
                      </m:e>
                    </m:d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𝜕𝜌</m:t>
                        </m:r>
                      </m:num>
                      <m:den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 b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2400" dirty="0"/>
                  <a:t>	(8.3)</a:t>
                </a:r>
                <a:endParaRPr lang="zh-CN" altLang="zh-CN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0D03F4A-A057-2A45-5D9E-94F83F8D3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01" y="1128057"/>
                <a:ext cx="11912600" cy="4856586"/>
              </a:xfrm>
              <a:prstGeom prst="rect">
                <a:avLst/>
              </a:prstGeom>
              <a:blipFill>
                <a:blip r:embed="rId3"/>
                <a:stretch>
                  <a:fillRect l="-768" t="-1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25439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71C273-EFD7-1968-707B-95BCFA1CE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16183E-5033-2E12-DF4D-AFAA27EAC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1C1462C-571A-8860-D15F-F1ECCF2CC3D6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3E85C51-5DAB-706C-BE9B-FE949C3A1C01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CDC6BBB-6ECE-2A6B-2C3D-E0482CC8F8A0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7CD41D3-3FB4-5BF5-DA56-39FD0AA95F2B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7333966-869E-DF59-A76A-B580599EF716}"/>
              </a:ext>
            </a:extLst>
          </p:cNvPr>
          <p:cNvSpPr txBox="1"/>
          <p:nvPr/>
        </p:nvSpPr>
        <p:spPr>
          <a:xfrm>
            <a:off x="309368" y="350182"/>
            <a:ext cx="9119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8.2</a:t>
            </a:r>
            <a:r>
              <a:rPr lang="zh-CN" altLang="zh-CN" sz="2400" b="1" dirty="0">
                <a:latin typeface="+mj-ea"/>
                <a:ea typeface="+mj-ea"/>
              </a:rPr>
              <a:t> </a:t>
            </a:r>
            <a:r>
              <a:rPr lang="en-US" altLang="zh-CN" sz="2400" b="1" dirty="0">
                <a:latin typeface="+mj-ea"/>
                <a:ea typeface="+mj-ea"/>
              </a:rPr>
              <a:t>Propagation of Density Variations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57886F8-6611-9205-0C0C-862243D98D6C}"/>
                  </a:ext>
                </a:extLst>
              </p:cNvPr>
              <p:cNvSpPr txBox="1"/>
              <p:nvPr/>
            </p:nvSpPr>
            <p:spPr>
              <a:xfrm>
                <a:off x="177801" y="1128057"/>
                <a:ext cx="11912600" cy="33928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sz="2000" dirty="0"/>
                  <a:t>Traveling-Wave Ansatz</a:t>
                </a:r>
                <a:r>
                  <a:rPr lang="en-US" altLang="zh-CN" sz="2000" dirty="0"/>
                  <a:t>,</a:t>
                </a:r>
                <a:r>
                  <a:rPr lang="zh-CN" altLang="zh-CN" sz="2000" dirty="0"/>
                  <a:t> assumes that the initial density profile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/>
                        </m:ctrlPr>
                      </m:sSubPr>
                      <m:e>
                        <m:r>
                          <a:rPr lang="zh-CN" altLang="en-US" sz="2000" b="0" i="1"/>
                          <m:t>𝜌</m:t>
                        </m:r>
                      </m:e>
                      <m:sub>
                        <m:r>
                          <a:rPr lang="zh-CN" altLang="en-US" sz="2000" b="0"/>
                          <m:t>0</m:t>
                        </m:r>
                      </m:sub>
                    </m:sSub>
                    <m:d>
                      <m:dPr>
                        <m:ctrlPr>
                          <a:rPr lang="zh-CN" altLang="en-US" sz="2000" i="1"/>
                        </m:ctrlPr>
                      </m:dPr>
                      <m:e>
                        <m:r>
                          <a:rPr lang="zh-CN" altLang="en-US" sz="2000" b="0" i="1"/>
                          <m:t>𝑥</m:t>
                        </m:r>
                      </m:e>
                    </m:d>
                  </m:oMath>
                </a14:m>
                <a:r>
                  <a:rPr lang="zh-CN" altLang="zh-CN" sz="2000" dirty="0"/>
                  <a:t>translates uniformly in space at a constant velocity </a:t>
                </a:r>
                <a14:m>
                  <m:oMath xmlns:m="http://schemas.openxmlformats.org/officeDocument/2006/math">
                    <m:acc>
                      <m:accPr>
                        <m:chr m:val="˜"/>
                        <m:ctrlPr>
                          <a:rPr lang="zh-CN" altLang="en-US" sz="2000"/>
                        </m:ctrlPr>
                      </m:accPr>
                      <m:e>
                        <m:r>
                          <a:rPr lang="zh-CN" altLang="en-US" sz="2000" b="0" i="1"/>
                          <m:t>𝑐</m:t>
                        </m:r>
                      </m:e>
                    </m:acc>
                  </m:oMath>
                </a14:m>
                <a:r>
                  <a:rPr lang="zh-CN" altLang="zh-CN" sz="2000" dirty="0"/>
                  <a:t>without changing its shape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zh-CN" altLang="en-US" sz="2000" b="0" i="1"/>
                      <m:t>𝜌</m:t>
                    </m:r>
                    <m:d>
                      <m:dPr>
                        <m:ctrlPr>
                          <a:rPr lang="zh-CN" altLang="en-US" sz="2000" i="1"/>
                        </m:ctrlPr>
                      </m:dPr>
                      <m:e>
                        <m:r>
                          <a:rPr lang="zh-CN" altLang="en-US" sz="2000" b="0" i="1"/>
                          <m:t>𝑥</m:t>
                        </m:r>
                        <m:r>
                          <a:rPr lang="zh-CN" altLang="en-US" sz="2000" b="0"/>
                          <m:t>,</m:t>
                        </m:r>
                        <m:r>
                          <a:rPr lang="zh-CN" altLang="en-US" sz="2000" b="0" i="1"/>
                          <m:t>𝑡</m:t>
                        </m:r>
                      </m:e>
                    </m:d>
                    <m:r>
                      <a:rPr lang="zh-CN" altLang="en-US" sz="2000" b="0"/>
                      <m:t>=</m:t>
                    </m:r>
                    <m:sSub>
                      <m:sSubPr>
                        <m:ctrlPr>
                          <a:rPr lang="zh-CN" altLang="en-US" sz="2000" i="1"/>
                        </m:ctrlPr>
                      </m:sSubPr>
                      <m:e>
                        <m:r>
                          <a:rPr lang="zh-CN" altLang="en-US" sz="2000" b="0" i="1"/>
                          <m:t>𝜌</m:t>
                        </m:r>
                      </m:e>
                      <m:sub>
                        <m:r>
                          <a:rPr lang="zh-CN" altLang="en-US" sz="2000" b="0"/>
                          <m:t>0</m:t>
                        </m:r>
                      </m:sub>
                    </m:sSub>
                    <m:d>
                      <m:dPr>
                        <m:ctrlPr>
                          <a:rPr lang="zh-CN" altLang="en-US" sz="2000" i="1"/>
                        </m:ctrlPr>
                      </m:dPr>
                      <m:e>
                        <m:r>
                          <a:rPr lang="zh-CN" altLang="en-US" sz="2000" b="0" i="1"/>
                          <m:t>𝑥</m:t>
                        </m:r>
                        <m:r>
                          <a:rPr lang="zh-CN" altLang="en-US" sz="2000" b="0"/>
                          <m:t>−</m:t>
                        </m:r>
                        <m:acc>
                          <m:accPr>
                            <m:chr m:val="˜"/>
                            <m:ctrlPr>
                              <a:rPr lang="zh-CN" altLang="en-US" sz="2000" i="1"/>
                            </m:ctrlPr>
                          </m:accPr>
                          <m:e>
                            <m:r>
                              <a:rPr lang="zh-CN" altLang="en-US" sz="2000" b="0" i="1"/>
                              <m:t>𝑐</m:t>
                            </m:r>
                          </m:e>
                        </m:acc>
                        <m:r>
                          <a:rPr lang="zh-CN" altLang="en-US" sz="2000" b="0" i="1"/>
                          <m:t>𝑡</m:t>
                        </m:r>
                      </m:e>
                    </m:d>
                  </m:oMath>
                </a14:m>
                <a:r>
                  <a:rPr lang="en-US" altLang="zh-CN" sz="2000" dirty="0"/>
                  <a:t>	(8.4)</a:t>
                </a:r>
                <a:endParaRPr lang="zh-CN" altLang="zh-CN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sz="2000" dirty="0"/>
                  <a:t>Propagation Velocity Formula (Flow Derivative Form)</a:t>
                </a:r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˜"/>
                        <m:ctrlPr>
                          <a:rPr lang="zh-CN" altLang="en-US" sz="2000"/>
                        </m:ctrlPr>
                      </m:accPr>
                      <m:e>
                        <m:r>
                          <a:rPr lang="zh-CN" altLang="en-US" sz="2000" b="0" i="1"/>
                          <m:t>𝑐</m:t>
                        </m:r>
                      </m:e>
                    </m:acc>
                    <m:d>
                      <m:dPr>
                        <m:ctrlPr>
                          <a:rPr lang="zh-CN" altLang="en-US" sz="2000" i="1"/>
                        </m:ctrlPr>
                      </m:dPr>
                      <m:e>
                        <m:r>
                          <a:rPr lang="zh-CN" altLang="en-US" sz="2000" b="0" i="1"/>
                          <m:t>𝜌</m:t>
                        </m:r>
                      </m:e>
                    </m:d>
                    <m:r>
                      <a:rPr lang="zh-CN" altLang="en-US" sz="2000" b="0"/>
                      <m:t>=</m:t>
                    </m:r>
                    <m:f>
                      <m:fPr>
                        <m:ctrlPr>
                          <a:rPr lang="zh-CN" altLang="en-US" sz="2000" i="1"/>
                        </m:ctrlPr>
                      </m:fPr>
                      <m:num>
                        <m:r>
                          <a:rPr lang="zh-CN" altLang="en-US" sz="2000" b="0" i="1"/>
                          <m:t>𝑑</m:t>
                        </m:r>
                        <m:sSub>
                          <m:sSubPr>
                            <m:ctrlPr>
                              <a:rPr lang="zh-CN" altLang="en-US" sz="2000" i="1"/>
                            </m:ctrlPr>
                          </m:sSubPr>
                          <m:e>
                            <m:r>
                              <a:rPr lang="zh-CN" altLang="en-US" sz="2000" b="0" i="1"/>
                              <m:t>𝑄</m:t>
                            </m:r>
                          </m:e>
                          <m:sub>
                            <m:r>
                              <a:rPr lang="zh-CN" altLang="en-US" sz="2000" b="0" i="1"/>
                              <m:t>𝑒</m:t>
                            </m:r>
                          </m:sub>
                        </m:sSub>
                      </m:num>
                      <m:den>
                        <m:r>
                          <a:rPr lang="zh-CN" altLang="en-US" sz="2000" b="0" i="1"/>
                          <m:t>𝑑</m:t>
                        </m:r>
                        <m:r>
                          <a:rPr lang="zh-CN" altLang="en-US" sz="2000" b="0" i="1"/>
                          <m:t>𝜌</m:t>
                        </m:r>
                      </m:den>
                    </m:f>
                    <m:r>
                      <a:rPr lang="zh-CN" altLang="en-US" sz="2000" b="0"/>
                      <m:t>=</m:t>
                    </m:r>
                    <m:f>
                      <m:fPr>
                        <m:ctrlPr>
                          <a:rPr lang="zh-CN" altLang="en-US" sz="2000" i="1"/>
                        </m:ctrlPr>
                      </m:fPr>
                      <m:num>
                        <m:r>
                          <a:rPr lang="zh-CN" altLang="en-US" sz="2000" b="0" i="1"/>
                          <m:t>𝑑</m:t>
                        </m:r>
                        <m:d>
                          <m:dPr>
                            <m:ctrlPr>
                              <a:rPr lang="zh-CN" altLang="en-US" sz="2000" i="1"/>
                            </m:ctrlPr>
                          </m:dPr>
                          <m:e>
                            <m:r>
                              <a:rPr lang="zh-CN" altLang="en-US" sz="2000" b="0" i="1"/>
                              <m:t>𝜌</m:t>
                            </m:r>
                            <m:sSub>
                              <m:sSubPr>
                                <m:ctrlPr>
                                  <a:rPr lang="zh-CN" altLang="en-US" sz="2000" i="1"/>
                                </m:ctrlPr>
                              </m:sSubPr>
                              <m:e>
                                <m:r>
                                  <a:rPr lang="zh-CN" altLang="en-US" sz="2000" b="0" i="1"/>
                                  <m:t>𝑉</m:t>
                                </m:r>
                              </m:e>
                              <m:sub>
                                <m:r>
                                  <a:rPr lang="zh-CN" altLang="en-US" sz="2000" b="0" i="1"/>
                                  <m:t>𝑒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zh-CN" altLang="en-US" sz="2000" i="1"/>
                                </m:ctrlPr>
                              </m:dPr>
                              <m:e>
                                <m:r>
                                  <a:rPr lang="zh-CN" altLang="en-US" sz="2000" b="0" i="1"/>
                                  <m:t>𝜌</m:t>
                                </m:r>
                              </m:e>
                            </m:d>
                          </m:e>
                        </m:d>
                      </m:num>
                      <m:den>
                        <m:r>
                          <a:rPr lang="zh-CN" altLang="en-US" sz="2000" b="0" i="1"/>
                          <m:t>𝑑</m:t>
                        </m:r>
                        <m:r>
                          <a:rPr lang="zh-CN" altLang="en-US" sz="2000" b="0" i="1"/>
                          <m:t>𝜌</m:t>
                        </m:r>
                      </m:den>
                    </m:f>
                  </m:oMath>
                </a14:m>
                <a:r>
                  <a:rPr lang="en-US" altLang="zh-CN" sz="2000" dirty="0"/>
                  <a:t>	(8.5)</a:t>
                </a:r>
                <a:endParaRPr lang="zh-CN" altLang="zh-CN" sz="2000" dirty="0"/>
              </a:p>
              <a:p>
                <a:pPr marL="342900" indent="-342900" algn="ctr">
                  <a:buFont typeface="Arial" panose="020B0604020202020204" pitchFamily="34" charset="0"/>
                  <a:buChar char="•"/>
                </a:pPr>
                <a:endParaRPr lang="en-US" altLang="zh-CN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sz="2000" dirty="0"/>
                  <a:t>Propagation Velocity Formula (Speed Derivative Form)</a:t>
                </a:r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˜"/>
                        <m:ctrlPr>
                          <a:rPr lang="zh-CN" altLang="en-US" sz="2000"/>
                        </m:ctrlPr>
                      </m:accPr>
                      <m:e>
                        <m:r>
                          <a:rPr lang="zh-CN" altLang="en-US" sz="2000" b="0" i="1"/>
                          <m:t>𝑐</m:t>
                        </m:r>
                      </m:e>
                    </m:acc>
                    <m:d>
                      <m:dPr>
                        <m:ctrlPr>
                          <a:rPr lang="zh-CN" altLang="en-US" sz="2000" i="1"/>
                        </m:ctrlPr>
                      </m:dPr>
                      <m:e>
                        <m:r>
                          <a:rPr lang="zh-CN" altLang="en-US" sz="2000" b="0" i="1"/>
                          <m:t>𝜌</m:t>
                        </m:r>
                      </m:e>
                    </m:d>
                    <m:r>
                      <a:rPr lang="zh-CN" altLang="en-US" sz="2000" b="0"/>
                      <m:t>=</m:t>
                    </m:r>
                    <m:sSub>
                      <m:sSubPr>
                        <m:ctrlPr>
                          <a:rPr lang="zh-CN" altLang="en-US" sz="2000" i="1"/>
                        </m:ctrlPr>
                      </m:sSubPr>
                      <m:e>
                        <m:r>
                          <a:rPr lang="zh-CN" altLang="en-US" sz="2000" b="0" i="1"/>
                          <m:t>𝑄</m:t>
                        </m:r>
                      </m:e>
                      <m:sub>
                        <m:r>
                          <a:rPr lang="zh-CN" altLang="en-US" sz="2000" b="0" i="1"/>
                          <m:t>𝑒</m:t>
                        </m:r>
                      </m:sub>
                    </m:sSub>
                    <m:r>
                      <a:rPr lang="zh-CN" altLang="en-US" sz="2000" b="0"/>
                      <m:t>′</m:t>
                    </m:r>
                    <m:d>
                      <m:dPr>
                        <m:ctrlPr>
                          <a:rPr lang="zh-CN" altLang="en-US" sz="2000" i="1"/>
                        </m:ctrlPr>
                      </m:dPr>
                      <m:e>
                        <m:r>
                          <a:rPr lang="zh-CN" altLang="en-US" sz="2000" b="0" i="1"/>
                          <m:t>𝜌</m:t>
                        </m:r>
                      </m:e>
                    </m:d>
                    <m:r>
                      <a:rPr lang="zh-CN" altLang="en-US" sz="2000" b="0"/>
                      <m:t>=</m:t>
                    </m:r>
                    <m:sSub>
                      <m:sSubPr>
                        <m:ctrlPr>
                          <a:rPr lang="zh-CN" altLang="en-US" sz="2000" i="1"/>
                        </m:ctrlPr>
                      </m:sSubPr>
                      <m:e>
                        <m:r>
                          <a:rPr lang="zh-CN" altLang="en-US" sz="2000" b="0" i="1"/>
                          <m:t>𝑉</m:t>
                        </m:r>
                      </m:e>
                      <m:sub>
                        <m:r>
                          <a:rPr lang="zh-CN" altLang="en-US" sz="2000" b="0" i="1"/>
                          <m:t>𝑒</m:t>
                        </m:r>
                      </m:sub>
                    </m:sSub>
                    <m:d>
                      <m:dPr>
                        <m:ctrlPr>
                          <a:rPr lang="zh-CN" altLang="en-US" sz="2000" i="1"/>
                        </m:ctrlPr>
                      </m:dPr>
                      <m:e>
                        <m:r>
                          <a:rPr lang="zh-CN" altLang="en-US" sz="2000" b="0" i="1"/>
                          <m:t>𝜌</m:t>
                        </m:r>
                      </m:e>
                    </m:d>
                    <m:r>
                      <a:rPr lang="zh-CN" altLang="en-US" sz="2000" b="0"/>
                      <m:t>+</m:t>
                    </m:r>
                    <m:r>
                      <a:rPr lang="zh-CN" altLang="en-US" sz="2000" b="0" i="1"/>
                      <m:t>𝜌</m:t>
                    </m:r>
                    <m:sSub>
                      <m:sSubPr>
                        <m:ctrlPr>
                          <a:rPr lang="zh-CN" altLang="en-US" sz="2000" i="1"/>
                        </m:ctrlPr>
                      </m:sSubPr>
                      <m:e>
                        <m:r>
                          <a:rPr lang="zh-CN" altLang="en-US" sz="2000" b="0" i="1"/>
                          <m:t>𝑉</m:t>
                        </m:r>
                      </m:e>
                      <m:sub>
                        <m:r>
                          <a:rPr lang="zh-CN" altLang="en-US" sz="2000" b="0" i="1"/>
                          <m:t>𝑒</m:t>
                        </m:r>
                      </m:sub>
                    </m:sSub>
                    <m:r>
                      <a:rPr lang="zh-CN" altLang="en-US" sz="2000" b="0"/>
                      <m:t>′</m:t>
                    </m:r>
                    <m:d>
                      <m:dPr>
                        <m:ctrlPr>
                          <a:rPr lang="zh-CN" altLang="en-US" sz="2000" i="1"/>
                        </m:ctrlPr>
                      </m:dPr>
                      <m:e>
                        <m:r>
                          <a:rPr lang="zh-CN" altLang="en-US" sz="2000" b="0" i="1"/>
                          <m:t>𝜌</m:t>
                        </m:r>
                      </m:e>
                    </m:d>
                  </m:oMath>
                </a14:m>
                <a:r>
                  <a:rPr lang="en-US" altLang="zh-CN" sz="2000" dirty="0"/>
                  <a:t>	(8.6)</a:t>
                </a:r>
                <a:endParaRPr lang="zh-CN" altLang="zh-CN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zh-CN" sz="2000" dirty="0"/>
                  <a:t>Relative Propagation Velocity Relation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000"/>
                          </m:ctrlPr>
                        </m:sSubPr>
                        <m:e>
                          <m:acc>
                            <m:accPr>
                              <m:chr m:val="˜"/>
                              <m:ctrlPr>
                                <a:rPr lang="zh-CN" altLang="en-US" sz="2000"/>
                              </m:ctrlPr>
                            </m:accPr>
                            <m:e>
                              <m:r>
                                <a:rPr lang="zh-CN" altLang="en-US" sz="2000" b="0" i="1"/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zh-CN" altLang="en-US" sz="2000" b="0" i="1"/>
                            <m:t>𝑟𝑒𝑙</m:t>
                          </m:r>
                        </m:sub>
                      </m:sSub>
                      <m:d>
                        <m:dPr>
                          <m:ctrlPr>
                            <a:rPr lang="zh-CN" altLang="en-US" sz="2000" i="1"/>
                          </m:ctrlPr>
                        </m:dPr>
                        <m:e>
                          <m:r>
                            <a:rPr lang="zh-CN" altLang="en-US" sz="2000" b="0" i="1"/>
                            <m:t>𝜌</m:t>
                          </m:r>
                        </m:e>
                      </m:d>
                      <m:r>
                        <a:rPr lang="zh-CN" altLang="en-US" sz="2000" b="0"/>
                        <m:t>=</m:t>
                      </m:r>
                      <m:acc>
                        <m:accPr>
                          <m:chr m:val="˜"/>
                          <m:ctrlPr>
                            <a:rPr lang="zh-CN" altLang="en-US" sz="2000" i="1"/>
                          </m:ctrlPr>
                        </m:accPr>
                        <m:e>
                          <m:r>
                            <a:rPr lang="zh-CN" altLang="en-US" sz="2000" b="0" i="1"/>
                            <m:t>𝑐</m:t>
                          </m:r>
                        </m:e>
                      </m:acc>
                      <m:d>
                        <m:dPr>
                          <m:ctrlPr>
                            <a:rPr lang="zh-CN" altLang="en-US" sz="2000" i="1"/>
                          </m:ctrlPr>
                        </m:dPr>
                        <m:e>
                          <m:r>
                            <a:rPr lang="zh-CN" altLang="en-US" sz="2000" b="0" i="1"/>
                            <m:t>𝜌</m:t>
                          </m:r>
                        </m:e>
                      </m:d>
                      <m:r>
                        <a:rPr lang="zh-CN" altLang="en-US" sz="2000" b="0"/>
                        <m:t>−</m:t>
                      </m:r>
                      <m:r>
                        <a:rPr lang="zh-CN" altLang="en-US" sz="2000" b="0" i="1"/>
                        <m:t>𝑉</m:t>
                      </m:r>
                      <m:r>
                        <a:rPr lang="zh-CN" altLang="en-US" sz="2000" b="0"/>
                        <m:t>=</m:t>
                      </m:r>
                      <m:acc>
                        <m:accPr>
                          <m:chr m:val="˜"/>
                          <m:ctrlPr>
                            <a:rPr lang="zh-CN" altLang="en-US" sz="2000" i="1"/>
                          </m:ctrlPr>
                        </m:accPr>
                        <m:e>
                          <m:r>
                            <a:rPr lang="zh-CN" altLang="en-US" sz="2000" b="0" i="1"/>
                            <m:t>𝑐</m:t>
                          </m:r>
                        </m:e>
                      </m:acc>
                      <m:d>
                        <m:dPr>
                          <m:ctrlPr>
                            <a:rPr lang="zh-CN" altLang="en-US" sz="2000" i="1"/>
                          </m:ctrlPr>
                        </m:dPr>
                        <m:e>
                          <m:r>
                            <a:rPr lang="zh-CN" altLang="en-US" sz="2000" b="0" i="1"/>
                            <m:t>𝜌</m:t>
                          </m:r>
                        </m:e>
                      </m:d>
                      <m:r>
                        <a:rPr lang="zh-CN" altLang="en-US" sz="2000" b="0"/>
                        <m:t>−</m:t>
                      </m:r>
                      <m:sSub>
                        <m:sSubPr>
                          <m:ctrlPr>
                            <a:rPr lang="zh-CN" altLang="en-US" sz="2000" i="1"/>
                          </m:ctrlPr>
                        </m:sSubPr>
                        <m:e>
                          <m:r>
                            <a:rPr lang="zh-CN" altLang="en-US" sz="2000" b="0" i="1"/>
                            <m:t>𝑉</m:t>
                          </m:r>
                        </m:e>
                        <m:sub>
                          <m:r>
                            <a:rPr lang="zh-CN" altLang="en-US" sz="2000" b="0" i="1"/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zh-CN" altLang="en-US" sz="2000" i="1"/>
                          </m:ctrlPr>
                        </m:dPr>
                        <m:e>
                          <m:r>
                            <a:rPr lang="zh-CN" altLang="en-US" sz="2000" b="0" i="1"/>
                            <m:t>𝜌</m:t>
                          </m:r>
                        </m:e>
                      </m:d>
                      <m:r>
                        <a:rPr lang="zh-CN" altLang="en-US" sz="2000" b="0"/>
                        <m:t>=</m:t>
                      </m:r>
                      <m:r>
                        <a:rPr lang="zh-CN" altLang="en-US" sz="2000" b="0" i="1"/>
                        <m:t>𝜌</m:t>
                      </m:r>
                      <m:sSub>
                        <m:sSubPr>
                          <m:ctrlPr>
                            <a:rPr lang="zh-CN" altLang="en-US" sz="2000" i="1"/>
                          </m:ctrlPr>
                        </m:sSubPr>
                        <m:e>
                          <m:r>
                            <a:rPr lang="zh-CN" altLang="en-US" sz="2000" b="0" i="1"/>
                            <m:t>𝑉</m:t>
                          </m:r>
                        </m:e>
                        <m:sub>
                          <m:r>
                            <a:rPr lang="zh-CN" altLang="en-US" sz="2000" b="0" i="1"/>
                            <m:t>𝑒</m:t>
                          </m:r>
                        </m:sub>
                      </m:sSub>
                      <m:r>
                        <a:rPr lang="zh-CN" altLang="en-US" sz="2000" b="0"/>
                        <m:t>′</m:t>
                      </m:r>
                      <m:d>
                        <m:dPr>
                          <m:ctrlPr>
                            <a:rPr lang="zh-CN" altLang="en-US" sz="2000" i="1"/>
                          </m:ctrlPr>
                        </m:dPr>
                        <m:e>
                          <m:r>
                            <a:rPr lang="zh-CN" altLang="en-US" sz="2000" b="0" i="1"/>
                            <m:t>𝜌</m:t>
                          </m:r>
                        </m:e>
                      </m:d>
                    </m:oMath>
                  </m:oMathPara>
                </a14:m>
                <a:endParaRPr lang="zh-CN" altLang="zh-CN" sz="2000" dirty="0"/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57886F8-6611-9205-0C0C-862243D98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01" y="1128057"/>
                <a:ext cx="11912600" cy="3392852"/>
              </a:xfrm>
              <a:prstGeom prst="rect">
                <a:avLst/>
              </a:prstGeom>
              <a:blipFill>
                <a:blip r:embed="rId3"/>
                <a:stretch>
                  <a:fillRect l="-461" t="-8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84555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E5AE02-5755-3608-6663-4ABAEBD4F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6527B6-E6B7-4A48-DFC9-C587C2EC2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136175A-76F9-2309-1E07-A23C4EFD6698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BCDCA99-6427-4A77-E7DA-8CA5C5002F1C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2E049CF-C778-EA0A-AF41-6A248997E114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7B7258F-30C9-E350-7F92-5C3423DB55E7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6E8F92A-1174-E3F1-50A0-E7C8F7EB5752}"/>
              </a:ext>
            </a:extLst>
          </p:cNvPr>
          <p:cNvSpPr txBox="1"/>
          <p:nvPr/>
        </p:nvSpPr>
        <p:spPr>
          <a:xfrm>
            <a:off x="309368" y="350182"/>
            <a:ext cx="9119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8.3.1</a:t>
            </a:r>
            <a:r>
              <a:rPr lang="zh-CN" altLang="zh-CN" sz="2400" b="1" dirty="0">
                <a:latin typeface="+mj-ea"/>
                <a:ea typeface="+mj-ea"/>
              </a:rPr>
              <a:t> </a:t>
            </a:r>
            <a:r>
              <a:rPr lang="en-US" altLang="zh-CN" sz="2400" b="1" dirty="0">
                <a:latin typeface="+mj-ea"/>
                <a:ea typeface="+mj-ea"/>
              </a:rPr>
              <a:t>Shock Waves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813AAC6-CA59-6A98-2095-0A7B191E32EE}"/>
                  </a:ext>
                </a:extLst>
              </p:cNvPr>
              <p:cNvSpPr txBox="1"/>
              <p:nvPr/>
            </p:nvSpPr>
            <p:spPr>
              <a:xfrm>
                <a:off x="177801" y="1128057"/>
                <a:ext cx="11912600" cy="1773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zh-CN" altLang="zh-CN" sz="2000" dirty="0"/>
                  <a:t>For a standard concave fundamental diagram, lower density leads to a faster propagation velocity, while higher density leads to a slower  even negative</a:t>
                </a:r>
                <a:r>
                  <a:rPr lang="en-US" altLang="zh-CN" sz="2000" dirty="0"/>
                  <a:t>(</a:t>
                </a:r>
                <a:r>
                  <a:rPr lang="zh-CN" altLang="zh-CN" sz="2000" dirty="0"/>
                  <a:t>backward) propagation velocity.</a:t>
                </a:r>
                <a:endParaRPr lang="en-US" altLang="zh-CN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CN" sz="2000" dirty="0"/>
                  <a:t>T</a:t>
                </a:r>
                <a:r>
                  <a:rPr lang="zh-CN" altLang="zh-CN" sz="2000" dirty="0"/>
                  <a:t>he lower-density bottom layer moves forward faster than the higher-density top layer, causing this part of the density profile to become steeper and steeper over timeEventually, the spatial density gradient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000"/>
                        </m:ctrlPr>
                      </m:fPr>
                      <m:num>
                        <m:r>
                          <a:rPr lang="zh-CN" altLang="en-US" sz="2000" i="1"/>
                          <m:t>𝜕𝜌</m:t>
                        </m:r>
                      </m:num>
                      <m:den>
                        <m:r>
                          <a:rPr lang="zh-CN" altLang="en-US" sz="2000" i="1"/>
                          <m:t>𝜕</m:t>
                        </m:r>
                        <m:r>
                          <a:rPr lang="zh-CN" altLang="en-US" sz="2000" i="1"/>
                          <m:t>𝑥</m:t>
                        </m:r>
                      </m:den>
                    </m:f>
                  </m:oMath>
                </a14:m>
                <a:r>
                  <a:rPr lang="zh-CN" altLang="zh-CN" sz="2000" dirty="0"/>
                  <a:t>at the upstream front tends to infinity</a:t>
                </a: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813AAC6-CA59-6A98-2095-0A7B191E32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01" y="1128057"/>
                <a:ext cx="11912600" cy="1773178"/>
              </a:xfrm>
              <a:prstGeom prst="rect">
                <a:avLst/>
              </a:prstGeom>
              <a:blipFill>
                <a:blip r:embed="rId3"/>
                <a:stretch>
                  <a:fillRect t="-1718" b="-17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3DF16D2B-8399-141C-AAE0-96A5BA5E67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6398" y="2941608"/>
            <a:ext cx="7494988" cy="370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4496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961D80-C74F-566B-BE24-F49C8CAD0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D35C79-E2A2-6BBA-6DF3-105CADAE47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ABC606A-8500-A572-F878-A176410696F9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15771A-0B9B-CE45-F9A3-25AAA5578691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5982489-C36D-B0E9-A699-98F47CA2D41A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D9B3CEE-C05F-1436-319A-779553EC95C4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90C81BA-C01E-9FE9-FE3D-FAF41801D0FC}"/>
              </a:ext>
            </a:extLst>
          </p:cNvPr>
          <p:cNvSpPr txBox="1"/>
          <p:nvPr/>
        </p:nvSpPr>
        <p:spPr>
          <a:xfrm>
            <a:off x="309368" y="350182"/>
            <a:ext cx="9119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8.3.2</a:t>
            </a:r>
            <a:r>
              <a:rPr lang="zh-CN" altLang="zh-CN" sz="2400" b="1" dirty="0">
                <a:latin typeface="+mj-ea"/>
                <a:ea typeface="+mj-ea"/>
              </a:rPr>
              <a:t> </a:t>
            </a:r>
            <a:r>
              <a:rPr lang="en-US" altLang="zh-CN" sz="2400" b="1" dirty="0">
                <a:latin typeface="+mj-ea"/>
                <a:ea typeface="+mj-ea"/>
              </a:rPr>
              <a:t>Shock Waves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4FE5428-7634-6C96-4BEB-155A9A7CBA35}"/>
                  </a:ext>
                </a:extLst>
              </p:cNvPr>
              <p:cNvSpPr txBox="1"/>
              <p:nvPr/>
            </p:nvSpPr>
            <p:spPr>
              <a:xfrm>
                <a:off x="177801" y="1128057"/>
                <a:ext cx="11912600" cy="23534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zh-CN" b="1" dirty="0"/>
                  <a:t>Rate of Change of Vehicle Count via Flow Balance</a:t>
                </a: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𝑑𝑛</m:t>
                        </m:r>
                      </m:num>
                      <m:den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/>
                  <a:t>	(8.7)</a:t>
                </a:r>
                <a:endParaRPr lang="zh-CN" altLang="zh-CN" sz="2000" dirty="0"/>
              </a:p>
              <a:p>
                <a:r>
                  <a:rPr lang="zh-CN" altLang="zh-CN" b="1" dirty="0"/>
                  <a:t>Total Vehicle Count via Spatial Integration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	(8.8)</a:t>
                </a:r>
                <a:endParaRPr lang="zh-CN" altLang="zh-CN" dirty="0"/>
              </a:p>
              <a:p>
                <a:pPr marL="342900" indent="-342900" algn="ctr">
                  <a:buFont typeface="Arial" panose="020B0604020202020204" pitchFamily="34" charset="0"/>
                  <a:buChar char="•"/>
                </a:pPr>
                <a:endParaRPr lang="en-US" altLang="zh-CN" sz="2000" dirty="0"/>
              </a:p>
              <a:p>
                <a:r>
                  <a:rPr lang="zh-CN" altLang="zh-CN" b="1" dirty="0"/>
                  <a:t>Shock Wave Propagation Velocity (Rankine-Hugoniot Condition)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zh-CN" alt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zh-CN" altLang="en-US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dirty="0"/>
                  <a:t>	(8.9)</a:t>
                </a:r>
                <a:endParaRPr lang="zh-CN" altLang="zh-CN" dirty="0"/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4FE5428-7634-6C96-4BEB-155A9A7CBA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01" y="1128057"/>
                <a:ext cx="11912600" cy="2353401"/>
              </a:xfrm>
              <a:prstGeom prst="rect">
                <a:avLst/>
              </a:prstGeom>
              <a:blipFill>
                <a:blip r:embed="rId3"/>
                <a:stretch>
                  <a:fillRect l="-409" t="-12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18113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8DBE80-ACF8-F231-0A03-8627443AF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C96F75-4C1C-B8E5-5F63-5C9F555EF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ADF0D83-AD86-5006-FB43-8D1188AF77CA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7976FB6-D1DA-ED64-4A0F-140FD0436C2C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B11A66C-9945-C9EA-91D1-E209F0AD134E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404825F-65A8-A6E8-6A82-DCCFE375EDEE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 dirty="0" err="1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  <a:endParaRPr lang="en-US" altLang="zh-CN" sz="500" dirty="0">
              <a:solidFill>
                <a:schemeClr val="tx1">
                  <a:alpha val="2000"/>
                </a:schemeClr>
              </a:solidFill>
              <a:latin typeface="Novecento wide Bold" panose="00000805000000000000" charset="0"/>
              <a:cs typeface="Novecento wide Bold" panose="00000805000000000000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B86924-A1EF-9906-CF12-9E945C8C91C2}"/>
              </a:ext>
            </a:extLst>
          </p:cNvPr>
          <p:cNvSpPr txBox="1"/>
          <p:nvPr/>
        </p:nvSpPr>
        <p:spPr>
          <a:xfrm>
            <a:off x="309368" y="350182"/>
            <a:ext cx="9119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8.3.3</a:t>
            </a:r>
            <a:r>
              <a:rPr lang="zh-CN" altLang="zh-CN" sz="2400" b="1" dirty="0">
                <a:latin typeface="+mj-ea"/>
                <a:ea typeface="+mj-ea"/>
              </a:rPr>
              <a:t> </a:t>
            </a:r>
            <a:r>
              <a:rPr lang="en-US" altLang="zh-CN" sz="2400" b="1" dirty="0">
                <a:latin typeface="+mj-ea"/>
                <a:ea typeface="+mj-ea"/>
              </a:rPr>
              <a:t>Shock Waves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8B4CB99-C4F2-9283-B029-7BCFE4EC5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770" y="2501058"/>
            <a:ext cx="7638095" cy="313333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F47D4BA-055C-38A7-02AB-B798C69395EA}"/>
                  </a:ext>
                </a:extLst>
              </p:cNvPr>
              <p:cNvSpPr txBox="1"/>
              <p:nvPr/>
            </p:nvSpPr>
            <p:spPr>
              <a:xfrm>
                <a:off x="527918" y="990600"/>
                <a:ext cx="6094902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zh-CN" sz="2400" dirty="0"/>
                  <a:t>Vehicle Speed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altLang="zh-CN" sz="2400" dirty="0"/>
                  <a:t>:</a:t>
                </a:r>
                <a:r>
                  <a:rPr lang="zh-CN" altLang="zh-CN" sz="2400" dirty="0"/>
                  <a:t> Slope of ray from origin</a:t>
                </a:r>
                <a:endParaRPr lang="en-US" altLang="zh-CN" sz="2400" dirty="0"/>
              </a:p>
              <a:p>
                <a:r>
                  <a:rPr lang="zh-CN" altLang="zh-CN" sz="2400" dirty="0"/>
                  <a:t>Kinematic Wave Speed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˜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lang="en-US" altLang="zh-CN" sz="2400" dirty="0"/>
                  <a:t>:</a:t>
                </a:r>
                <a:r>
                  <a:rPr lang="zh-CN" altLang="zh-CN" sz="2400" dirty="0"/>
                  <a:t> Slope of tangent</a:t>
                </a:r>
                <a:endParaRPr lang="en-US" altLang="zh-CN" sz="2400" dirty="0"/>
              </a:p>
              <a:p>
                <a:r>
                  <a:rPr lang="zh-CN" altLang="zh-CN" sz="2400" dirty="0"/>
                  <a:t>Shock Wave Speed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altLang="zh-CN" sz="2400" dirty="0"/>
                  <a:t>:</a:t>
                </a:r>
                <a:r>
                  <a:rPr lang="zh-CN" altLang="zh-CN" sz="2400" dirty="0"/>
                  <a:t> Slope of secant</a:t>
                </a:r>
                <a:endParaRPr lang="zh-CN" altLang="en-US" sz="2400" dirty="0"/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F47D4BA-055C-38A7-02AB-B798C6939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18" y="990600"/>
                <a:ext cx="6094902" cy="1200329"/>
              </a:xfrm>
              <a:prstGeom prst="rect">
                <a:avLst/>
              </a:prstGeom>
              <a:blipFill>
                <a:blip r:embed="rId4"/>
                <a:stretch>
                  <a:fillRect l="-1602" t="-4082" b="-10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66787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zAzYjYzNzI1MzUyYTQ0YjZkNmEyMmM5MzQzZmQzY2U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989</TotalTime>
  <Words>5365</Words>
  <Application>Microsoft Office PowerPoint</Application>
  <PresentationFormat>宽屏</PresentationFormat>
  <Paragraphs>250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7" baseType="lpstr">
      <vt:lpstr>Google Sans Text</vt:lpstr>
      <vt:lpstr>Novecento wide Bold</vt:lpstr>
      <vt:lpstr>仿宋</vt:lpstr>
      <vt:lpstr>微软雅黑</vt:lpstr>
      <vt:lpstr>Arial</vt:lpstr>
      <vt:lpstr>Calibri</vt:lpstr>
      <vt:lpstr>Cambria Math</vt:lpstr>
      <vt:lpstr>Office 主题</vt:lpstr>
      <vt:lpstr>PowerPoint 演示文稿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 no</dc:creator>
  <cp:lastModifiedBy>na no</cp:lastModifiedBy>
  <cp:revision>124</cp:revision>
  <dcterms:created xsi:type="dcterms:W3CDTF">2022-05-16T07:12:00Z</dcterms:created>
  <dcterms:modified xsi:type="dcterms:W3CDTF">2026-07-30T02:06:24Z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458416FB77DC43F4A912D0A22C2D45B9_13</vt:lpwstr>
  </property>
  <property fmtid="{D5CDD505-2E9C-101B-9397-08002B2CF9AE}" pid="3" name="KSOProductBuildVer">
    <vt:lpwstr>2052-12.1.0.26895</vt:lpwstr>
  </property>
</Properties>
</file>