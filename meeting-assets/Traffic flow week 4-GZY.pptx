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73" r:id="rId2"/>
    <p:sldId id="257" r:id="rId3"/>
    <p:sldId id="363" r:id="rId4"/>
    <p:sldId id="402" r:id="rId5"/>
    <p:sldId id="407" r:id="rId6"/>
    <p:sldId id="408" r:id="rId7"/>
    <p:sldId id="409" r:id="rId8"/>
    <p:sldId id="410" r:id="rId9"/>
    <p:sldId id="411" r:id="rId10"/>
    <p:sldId id="412" r:id="rId11"/>
    <p:sldId id="413" r:id="rId12"/>
    <p:sldId id="414" r:id="rId13"/>
    <p:sldId id="415" r:id="rId14"/>
    <p:sldId id="416" r:id="rId15"/>
    <p:sldId id="417" r:id="rId16"/>
    <p:sldId id="418" r:id="rId17"/>
    <p:sldId id="419" r:id="rId18"/>
    <p:sldId id="420" r:id="rId19"/>
    <p:sldId id="421" r:id="rId20"/>
    <p:sldId id="422" r:id="rId21"/>
    <p:sldId id="423" r:id="rId22"/>
    <p:sldId id="424" r:id="rId23"/>
    <p:sldId id="426" r:id="rId24"/>
    <p:sldId id="425" r:id="rId25"/>
    <p:sldId id="427" r:id="rId26"/>
    <p:sldId id="428" r:id="rId27"/>
    <p:sldId id="429" r:id="rId28"/>
    <p:sldId id="430" r:id="rId29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515"/>
    <a:srgbClr val="C0A1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1" autoAdjust="0"/>
    <p:restoredTop sz="92832" autoAdjust="0"/>
  </p:normalViewPr>
  <p:slideViewPr>
    <p:cSldViewPr snapToGrid="0">
      <p:cViewPr varScale="1">
        <p:scale>
          <a:sx n="44" d="100"/>
          <a:sy n="44" d="100"/>
        </p:scale>
        <p:origin x="65" y="8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-1" y="0"/>
            <a:ext cx="12191998" cy="6858000"/>
          </a:xfrm>
          <a:prstGeom prst="rect">
            <a:avLst/>
          </a:prstGeom>
          <a:gradFill>
            <a:gsLst>
              <a:gs pos="68000">
                <a:srgbClr val="D9D8D6"/>
              </a:gs>
              <a:gs pos="0">
                <a:srgbClr val="FEFEFE"/>
              </a:gs>
              <a:gs pos="100000">
                <a:srgbClr val="B5B4B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 rot="10800000">
            <a:off x="-16279" y="5352126"/>
            <a:ext cx="12200019" cy="652824"/>
            <a:chOff x="-8024" y="4499811"/>
            <a:chExt cx="12200019" cy="652824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-8024" y="5152635"/>
              <a:ext cx="12191995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-8023" y="5056382"/>
              <a:ext cx="12191995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-8022" y="4968150"/>
              <a:ext cx="12191995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-8021" y="4871898"/>
              <a:ext cx="12191995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-8021" y="4775645"/>
              <a:ext cx="1219199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>
              <a:off x="0" y="4679393"/>
              <a:ext cx="1219199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>
              <a:off x="0" y="4591161"/>
              <a:ext cx="12191995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>
              <a:off x="0" y="4499811"/>
              <a:ext cx="1219199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/>
          <p:cNvGrpSpPr/>
          <p:nvPr/>
        </p:nvGrpSpPr>
        <p:grpSpPr>
          <a:xfrm>
            <a:off x="-8024" y="4499811"/>
            <a:ext cx="12200019" cy="652824"/>
            <a:chOff x="-8024" y="4499811"/>
            <a:chExt cx="12200019" cy="652824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-8024" y="5152635"/>
              <a:ext cx="12191995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-8023" y="5056382"/>
              <a:ext cx="12191995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-8022" y="4968150"/>
              <a:ext cx="12191995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-8021" y="4871898"/>
              <a:ext cx="12191995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-8021" y="4775645"/>
              <a:ext cx="1219199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0" y="4679393"/>
              <a:ext cx="1219199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0" y="4591161"/>
              <a:ext cx="12191995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>
            <a:xfrm>
              <a:off x="0" y="4499811"/>
              <a:ext cx="1219199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4" name="平行四边形 133"/>
          <p:cNvSpPr/>
          <p:nvPr/>
        </p:nvSpPr>
        <p:spPr>
          <a:xfrm flipH="1">
            <a:off x="7702259" y="4369873"/>
            <a:ext cx="2068393" cy="2468910"/>
          </a:xfrm>
          <a:prstGeom prst="parallelogram">
            <a:avLst>
              <a:gd name="adj" fmla="val 30430"/>
            </a:avLst>
          </a:prstGeom>
          <a:solidFill>
            <a:srgbClr val="C4C3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平行四边形 132"/>
          <p:cNvSpPr/>
          <p:nvPr/>
        </p:nvSpPr>
        <p:spPr>
          <a:xfrm>
            <a:off x="2609309" y="4400259"/>
            <a:ext cx="2068393" cy="2468910"/>
          </a:xfrm>
          <a:prstGeom prst="parallelogram">
            <a:avLst>
              <a:gd name="adj" fmla="val 30430"/>
            </a:avLst>
          </a:prstGeom>
          <a:solidFill>
            <a:srgbClr val="C4C3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9" name="直接连接符 138"/>
          <p:cNvCxnSpPr/>
          <p:nvPr/>
        </p:nvCxnSpPr>
        <p:spPr>
          <a:xfrm>
            <a:off x="8347141" y="-30386"/>
            <a:ext cx="0" cy="6869169"/>
          </a:xfrm>
          <a:prstGeom prst="line">
            <a:avLst/>
          </a:prstGeom>
          <a:ln>
            <a:solidFill>
              <a:schemeClr val="bg1">
                <a:lumMod val="6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矩形 135"/>
          <p:cNvSpPr/>
          <p:nvPr/>
        </p:nvSpPr>
        <p:spPr>
          <a:xfrm>
            <a:off x="5551349" y="897382"/>
            <a:ext cx="1286818" cy="817239"/>
          </a:xfrm>
          <a:prstGeom prst="rect">
            <a:avLst/>
          </a:prstGeom>
          <a:solidFill>
            <a:srgbClr val="EEEE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6" name="组合 55"/>
          <p:cNvGrpSpPr/>
          <p:nvPr/>
        </p:nvGrpSpPr>
        <p:grpSpPr>
          <a:xfrm>
            <a:off x="4816336" y="1585803"/>
            <a:ext cx="2910840" cy="3901440"/>
            <a:chOff x="-1783080" y="-1767840"/>
            <a:chExt cx="2910840" cy="3901440"/>
          </a:xfrm>
        </p:grpSpPr>
        <p:sp>
          <p:nvSpPr>
            <p:cNvPr id="51" name="矩形 50"/>
            <p:cNvSpPr/>
            <p:nvPr/>
          </p:nvSpPr>
          <p:spPr>
            <a:xfrm>
              <a:off x="-1783080" y="-1752600"/>
              <a:ext cx="472440" cy="1143000"/>
            </a:xfrm>
            <a:prstGeom prst="rect">
              <a:avLst/>
            </a:prstGeom>
            <a:solidFill>
              <a:srgbClr val="CEB48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-1182933" y="340634"/>
              <a:ext cx="436173" cy="1777725"/>
            </a:xfrm>
            <a:prstGeom prst="rect">
              <a:avLst/>
            </a:prstGeom>
            <a:solidFill>
              <a:srgbClr val="CEB48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-1783080" y="-1767840"/>
              <a:ext cx="1021080" cy="3901440"/>
            </a:xfrm>
            <a:custGeom>
              <a:avLst/>
              <a:gdLst>
                <a:gd name="connsiteX0" fmla="*/ 563880 w 1021080"/>
                <a:gd name="connsiteY0" fmla="*/ 0 h 3901440"/>
                <a:gd name="connsiteX1" fmla="*/ 579120 w 1021080"/>
                <a:gd name="connsiteY1" fmla="*/ 1264920 h 3901440"/>
                <a:gd name="connsiteX2" fmla="*/ 0 w 1021080"/>
                <a:gd name="connsiteY2" fmla="*/ 1722120 h 3901440"/>
                <a:gd name="connsiteX3" fmla="*/ 0 w 1021080"/>
                <a:gd name="connsiteY3" fmla="*/ 3901440 h 3901440"/>
                <a:gd name="connsiteX4" fmla="*/ 457200 w 1021080"/>
                <a:gd name="connsiteY4" fmla="*/ 3901440 h 3901440"/>
                <a:gd name="connsiteX5" fmla="*/ 457200 w 1021080"/>
                <a:gd name="connsiteY5" fmla="*/ 1950720 h 3901440"/>
                <a:gd name="connsiteX6" fmla="*/ 1021080 w 1021080"/>
                <a:gd name="connsiteY6" fmla="*/ 1447800 h 3901440"/>
                <a:gd name="connsiteX7" fmla="*/ 1021080 w 1021080"/>
                <a:gd name="connsiteY7" fmla="*/ 15240 h 3901440"/>
                <a:gd name="connsiteX8" fmla="*/ 563880 w 1021080"/>
                <a:gd name="connsiteY8" fmla="*/ 0 h 39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21080" h="3901440">
                  <a:moveTo>
                    <a:pt x="563880" y="0"/>
                  </a:moveTo>
                  <a:lnTo>
                    <a:pt x="579120" y="1264920"/>
                  </a:lnTo>
                  <a:lnTo>
                    <a:pt x="0" y="1722120"/>
                  </a:lnTo>
                  <a:lnTo>
                    <a:pt x="0" y="3901440"/>
                  </a:lnTo>
                  <a:lnTo>
                    <a:pt x="457200" y="3901440"/>
                  </a:lnTo>
                  <a:lnTo>
                    <a:pt x="457200" y="1950720"/>
                  </a:lnTo>
                  <a:lnTo>
                    <a:pt x="1021080" y="1447800"/>
                  </a:lnTo>
                  <a:lnTo>
                    <a:pt x="1021080" y="15240"/>
                  </a:lnTo>
                  <a:lnTo>
                    <a:pt x="563880" y="0"/>
                  </a:lnTo>
                  <a:close/>
                </a:path>
              </a:pathLst>
            </a:custGeom>
            <a:solidFill>
              <a:srgbClr val="CEB48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-579120" y="-1752600"/>
              <a:ext cx="1706880" cy="3870960"/>
            </a:xfrm>
            <a:custGeom>
              <a:avLst/>
              <a:gdLst>
                <a:gd name="connsiteX0" fmla="*/ 1691640 w 1706880"/>
                <a:gd name="connsiteY0" fmla="*/ 457200 h 3870960"/>
                <a:gd name="connsiteX1" fmla="*/ 457200 w 1706880"/>
                <a:gd name="connsiteY1" fmla="*/ 472440 h 3870960"/>
                <a:gd name="connsiteX2" fmla="*/ 472440 w 1706880"/>
                <a:gd name="connsiteY2" fmla="*/ 2819400 h 3870960"/>
                <a:gd name="connsiteX3" fmla="*/ 640080 w 1706880"/>
                <a:gd name="connsiteY3" fmla="*/ 2804160 h 3870960"/>
                <a:gd name="connsiteX4" fmla="*/ 640080 w 1706880"/>
                <a:gd name="connsiteY4" fmla="*/ 655320 h 3870960"/>
                <a:gd name="connsiteX5" fmla="*/ 1691640 w 1706880"/>
                <a:gd name="connsiteY5" fmla="*/ 655320 h 3870960"/>
                <a:gd name="connsiteX6" fmla="*/ 1691640 w 1706880"/>
                <a:gd name="connsiteY6" fmla="*/ 3870960 h 3870960"/>
                <a:gd name="connsiteX7" fmla="*/ 0 w 1706880"/>
                <a:gd name="connsiteY7" fmla="*/ 3855720 h 3870960"/>
                <a:gd name="connsiteX8" fmla="*/ 0 w 1706880"/>
                <a:gd name="connsiteY8" fmla="*/ 3413760 h 3870960"/>
                <a:gd name="connsiteX9" fmla="*/ 1249680 w 1706880"/>
                <a:gd name="connsiteY9" fmla="*/ 3429000 h 3870960"/>
                <a:gd name="connsiteX10" fmla="*/ 1234440 w 1706880"/>
                <a:gd name="connsiteY10" fmla="*/ 1082040 h 3870960"/>
                <a:gd name="connsiteX11" fmla="*/ 1082040 w 1706880"/>
                <a:gd name="connsiteY11" fmla="*/ 1082040 h 3870960"/>
                <a:gd name="connsiteX12" fmla="*/ 1082040 w 1706880"/>
                <a:gd name="connsiteY12" fmla="*/ 3276600 h 3870960"/>
                <a:gd name="connsiteX13" fmla="*/ 0 w 1706880"/>
                <a:gd name="connsiteY13" fmla="*/ 3276600 h 3870960"/>
                <a:gd name="connsiteX14" fmla="*/ 0 w 1706880"/>
                <a:gd name="connsiteY14" fmla="*/ 0 h 3870960"/>
                <a:gd name="connsiteX15" fmla="*/ 1706880 w 1706880"/>
                <a:gd name="connsiteY15" fmla="*/ 0 h 3870960"/>
                <a:gd name="connsiteX16" fmla="*/ 1691640 w 1706880"/>
                <a:gd name="connsiteY16" fmla="*/ 457200 h 387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06880" h="3870960">
                  <a:moveTo>
                    <a:pt x="1691640" y="457200"/>
                  </a:moveTo>
                  <a:lnTo>
                    <a:pt x="457200" y="472440"/>
                  </a:lnTo>
                  <a:lnTo>
                    <a:pt x="472440" y="2819400"/>
                  </a:lnTo>
                  <a:lnTo>
                    <a:pt x="640080" y="2804160"/>
                  </a:lnTo>
                  <a:lnTo>
                    <a:pt x="640080" y="655320"/>
                  </a:lnTo>
                  <a:lnTo>
                    <a:pt x="1691640" y="655320"/>
                  </a:lnTo>
                  <a:lnTo>
                    <a:pt x="1691640" y="3870960"/>
                  </a:lnTo>
                  <a:lnTo>
                    <a:pt x="0" y="3855720"/>
                  </a:lnTo>
                  <a:lnTo>
                    <a:pt x="0" y="3413760"/>
                  </a:lnTo>
                  <a:lnTo>
                    <a:pt x="1249680" y="3429000"/>
                  </a:lnTo>
                  <a:lnTo>
                    <a:pt x="1234440" y="1082040"/>
                  </a:lnTo>
                  <a:lnTo>
                    <a:pt x="1082040" y="1082040"/>
                  </a:lnTo>
                  <a:lnTo>
                    <a:pt x="1082040" y="3276600"/>
                  </a:lnTo>
                  <a:lnTo>
                    <a:pt x="0" y="3276600"/>
                  </a:lnTo>
                  <a:lnTo>
                    <a:pt x="0" y="0"/>
                  </a:lnTo>
                  <a:lnTo>
                    <a:pt x="1706880" y="0"/>
                  </a:lnTo>
                  <a:lnTo>
                    <a:pt x="1691640" y="457200"/>
                  </a:lnTo>
                  <a:close/>
                </a:path>
              </a:pathLst>
            </a:custGeom>
            <a:solidFill>
              <a:srgbClr val="CEB48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38" name="直接连接符 137"/>
          <p:cNvCxnSpPr/>
          <p:nvPr/>
        </p:nvCxnSpPr>
        <p:spPr>
          <a:xfrm>
            <a:off x="3963128" y="0"/>
            <a:ext cx="0" cy="6869169"/>
          </a:xfrm>
          <a:prstGeom prst="line">
            <a:avLst/>
          </a:prstGeom>
          <a:ln>
            <a:solidFill>
              <a:schemeClr val="bg1">
                <a:lumMod val="6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图片 4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050" b="97717" l="9845" r="94560">
                        <a14:foregroundMark x1="29016" y1="19292" x2="28627" y2="18950"/>
                        <a14:foregroundMark x1="28238" y1="19749" x2="27850" y2="19406"/>
                        <a14:foregroundMark x1="30052" y1="19635" x2="28238" y2="19292"/>
                        <a14:foregroundMark x1="60751" y1="88128" x2="55440" y2="91553"/>
                        <a14:foregroundMark x1="35363" y1="88242" x2="34715" y2="94635"/>
                        <a14:foregroundMark x1="32902" y1="96918" x2="34067" y2="97945"/>
                        <a14:foregroundMark x1="87306" y1="75228" x2="91192" y2="71575"/>
                        <a14:foregroundMark x1="88860" y1="37671" x2="90674" y2="47260"/>
                        <a14:foregroundMark x1="90674" y1="47260" x2="87306" y2="48402"/>
                        <a14:foregroundMark x1="93394" y1="39726" x2="94560" y2="46689"/>
                        <a14:foregroundMark x1="52850" y1="11416" x2="46891" y2="6050"/>
                        <a14:foregroundMark x1="45337" y1="10616" x2="40285" y2="6279"/>
                        <a14:backgroundMark x1="26813" y1="12900" x2="28022" y2="17389"/>
                        <a14:backgroundMark x1="24741" y1="23288" x2="25259" y2="27626"/>
                        <a14:backgroundMark x1="26813" y1="23630" x2="28368" y2="33447"/>
                        <a14:backgroundMark x1="37435" y1="24087" x2="37694" y2="28311"/>
                        <a14:backgroundMark x1="34974" y1="12900" x2="42228" y2="14612"/>
                        <a14:backgroundMark x1="47150" y1="18607" x2="79404" y2="34703"/>
                        <a14:backgroundMark x1="57383" y1="17694" x2="69171" y2="25000"/>
                        <a14:backgroundMark x1="76813" y1="23630" x2="80959" y2="27283"/>
                        <a14:backgroundMark x1="54534" y1="34475" x2="63212" y2="36758"/>
                        <a14:backgroundMark x1="63212" y1="36758" x2="78368" y2="48059"/>
                        <a14:backgroundMark x1="78368" y1="48059" x2="78756" y2="48516"/>
                        <a14:backgroundMark x1="48316" y1="49429" x2="64767" y2="59247"/>
                        <a14:backgroundMark x1="64767" y1="59247" x2="61269" y2="65525"/>
                        <a14:backgroundMark x1="71114" y1="61530" x2="74870" y2="64155"/>
                        <a14:backgroundMark x1="36917" y1="51826" x2="42746" y2="67123"/>
                        <a14:backgroundMark x1="44560" y1="74543" x2="43782" y2="72831"/>
                        <a14:backgroundMark x1="52461" y1="76712" x2="59715" y2="79452"/>
                        <a14:backgroundMark x1="78238" y1="81164" x2="80181" y2="76712"/>
                        <a14:backgroundMark x1="22539" y1="73858" x2="27202" y2="77397"/>
                        <a14:backgroundMark x1="33290" y1="30365" x2="33161" y2="28311"/>
                        <a14:backgroundMark x1="63990" y1="13242" x2="82383" y2="14612"/>
                        <a14:backgroundMark x1="79793" y1="19977" x2="81088" y2="20662"/>
                        <a14:backgroundMark x1="63472" y1="14269" x2="67746" y2="14726"/>
                        <a14:backgroundMark x1="61269" y1="13242" x2="64378" y2="14269"/>
                        <a14:backgroundMark x1="58938" y1="14041" x2="63472" y2="14612"/>
                        <a14:backgroundMark x1="59715" y1="55479" x2="64249" y2="64612"/>
                        <a14:backgroundMark x1="64249" y1="64612" x2="55570" y2="61416"/>
                        <a14:backgroundMark x1="35104" y1="35388" x2="35104" y2="35388"/>
                        <a14:backgroundMark x1="33679" y1="26712" x2="33549" y2="26256"/>
                        <a14:backgroundMark x1="38472" y1="24315" x2="38472" y2="27968"/>
                        <a14:backgroundMark x1="33161" y1="24429" x2="33679" y2="28653"/>
                        <a14:backgroundMark x1="60492" y1="23973" x2="66451" y2="28995"/>
                        <a14:backgroundMark x1="68394" y1="21347" x2="69948" y2="27397"/>
                        <a14:backgroundMark x1="80570" y1="22032" x2="80311" y2="21347"/>
                        <a14:backgroundMark x1="79922" y1="20320" x2="81606" y2="22374"/>
                      </a14:backgroundRemoval>
                    </a14:imgEffect>
                    <a14:imgEffect>
                      <a14:brightnessContrast contrast="20000"/>
                    </a14:imgEffect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82058" y="892689"/>
            <a:ext cx="4894336" cy="555367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0" y="2862580"/>
            <a:ext cx="12192000" cy="108712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7" name="组合 26"/>
          <p:cNvGrpSpPr/>
          <p:nvPr/>
        </p:nvGrpSpPr>
        <p:grpSpPr>
          <a:xfrm>
            <a:off x="0" y="3336758"/>
            <a:ext cx="2799347" cy="529160"/>
            <a:chOff x="0" y="3336758"/>
            <a:chExt cx="2799347" cy="529160"/>
          </a:xfrm>
        </p:grpSpPr>
        <p:sp>
          <p:nvSpPr>
            <p:cNvPr id="7" name="矩形 6"/>
            <p:cNvSpPr/>
            <p:nvPr/>
          </p:nvSpPr>
          <p:spPr>
            <a:xfrm>
              <a:off x="1010653" y="3501190"/>
              <a:ext cx="1788694" cy="7619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0" y="3637778"/>
              <a:ext cx="1010653" cy="7619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1147010" y="3637777"/>
              <a:ext cx="1652337" cy="7619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1" y="3501190"/>
              <a:ext cx="866274" cy="7619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1050756" y="3629570"/>
              <a:ext cx="45719" cy="204494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915604" y="3336758"/>
              <a:ext cx="45719" cy="26667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915603" y="3731817"/>
              <a:ext cx="45719" cy="102247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 flipH="1">
              <a:off x="1051958" y="3336758"/>
              <a:ext cx="45719" cy="138342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2720735" y="3342241"/>
              <a:ext cx="78611" cy="82978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2720736" y="3782940"/>
              <a:ext cx="78611" cy="82978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1" name="矩形 130"/>
          <p:cNvSpPr/>
          <p:nvPr/>
        </p:nvSpPr>
        <p:spPr>
          <a:xfrm>
            <a:off x="2702735" y="1509832"/>
            <a:ext cx="1260393" cy="1350579"/>
          </a:xfrm>
          <a:prstGeom prst="rect">
            <a:avLst/>
          </a:prstGeom>
          <a:solidFill>
            <a:srgbClr val="C4C3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8" name="组合 27"/>
          <p:cNvGrpSpPr/>
          <p:nvPr/>
        </p:nvGrpSpPr>
        <p:grpSpPr>
          <a:xfrm rot="10800000">
            <a:off x="9392652" y="3338857"/>
            <a:ext cx="2799347" cy="529160"/>
            <a:chOff x="0" y="3336758"/>
            <a:chExt cx="2799347" cy="529160"/>
          </a:xfrm>
        </p:grpSpPr>
        <p:sp>
          <p:nvSpPr>
            <p:cNvPr id="29" name="矩形 28"/>
            <p:cNvSpPr/>
            <p:nvPr/>
          </p:nvSpPr>
          <p:spPr>
            <a:xfrm>
              <a:off x="1010653" y="3501190"/>
              <a:ext cx="1788694" cy="7619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0" y="3637778"/>
              <a:ext cx="1010653" cy="7619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1147010" y="3637777"/>
              <a:ext cx="1652337" cy="7619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1" y="3501190"/>
              <a:ext cx="866274" cy="7619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1050756" y="3629570"/>
              <a:ext cx="45719" cy="204494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915604" y="3336758"/>
              <a:ext cx="45719" cy="26667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915603" y="3731817"/>
              <a:ext cx="45719" cy="102247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 flipH="1">
              <a:off x="1051958" y="3336758"/>
              <a:ext cx="45719" cy="138342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2720735" y="3342241"/>
              <a:ext cx="78611" cy="82978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2720736" y="3782940"/>
              <a:ext cx="78611" cy="82978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4" name="矩形 143"/>
          <p:cNvSpPr/>
          <p:nvPr/>
        </p:nvSpPr>
        <p:spPr>
          <a:xfrm>
            <a:off x="2948305" y="6005195"/>
            <a:ext cx="6511290" cy="762000"/>
          </a:xfrm>
          <a:prstGeom prst="rect">
            <a:avLst/>
          </a:prstGeom>
          <a:solidFill>
            <a:srgbClr val="292829"/>
          </a:solidFill>
          <a:ln>
            <a:noFill/>
          </a:ln>
          <a:effectLst>
            <a:outerShdw blurRad="63500" sx="105000" sy="105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27305" y="3059430"/>
            <a:ext cx="12148185" cy="720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400" b="1" dirty="0">
                <a:solidFill>
                  <a:srgbClr val="E5BC86"/>
                </a:solidFill>
                <a:latin typeface="微软雅黑" panose="020B0503020204020204" charset="-122"/>
                <a:ea typeface="微软雅黑" panose="020B0503020204020204" charset="-122"/>
              </a:rPr>
              <a:t>Traffic Flow Dynamic</a:t>
            </a:r>
            <a:endParaRPr lang="zh-CN" altLang="en-US" sz="4400" b="1" dirty="0">
              <a:solidFill>
                <a:srgbClr val="E5BC8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3" name="组合 92"/>
          <p:cNvGrpSpPr/>
          <p:nvPr/>
        </p:nvGrpSpPr>
        <p:grpSpPr>
          <a:xfrm>
            <a:off x="1122141" y="1509832"/>
            <a:ext cx="1732597" cy="1155465"/>
            <a:chOff x="1098451" y="-835893"/>
            <a:chExt cx="1732597" cy="1155465"/>
          </a:xfrm>
        </p:grpSpPr>
        <p:grpSp>
          <p:nvGrpSpPr>
            <p:cNvPr id="59" name="组合 58"/>
            <p:cNvGrpSpPr/>
            <p:nvPr/>
          </p:nvGrpSpPr>
          <p:grpSpPr>
            <a:xfrm>
              <a:off x="1109166" y="-835893"/>
              <a:ext cx="142016" cy="129147"/>
              <a:chOff x="1109166" y="-835893"/>
              <a:chExt cx="142016" cy="129147"/>
            </a:xfrm>
          </p:grpSpPr>
          <p:sp>
            <p:nvSpPr>
              <p:cNvPr id="57" name="矩形 56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矩形 57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" name="组合 59"/>
            <p:cNvGrpSpPr/>
            <p:nvPr/>
          </p:nvGrpSpPr>
          <p:grpSpPr>
            <a:xfrm>
              <a:off x="1729376" y="-835893"/>
              <a:ext cx="142016" cy="129147"/>
              <a:chOff x="1109166" y="-835893"/>
              <a:chExt cx="142016" cy="129147"/>
            </a:xfrm>
          </p:grpSpPr>
          <p:sp>
            <p:nvSpPr>
              <p:cNvPr id="61" name="矩形 60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矩形 61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3" name="组合 62"/>
            <p:cNvGrpSpPr/>
            <p:nvPr/>
          </p:nvGrpSpPr>
          <p:grpSpPr>
            <a:xfrm>
              <a:off x="2060219" y="-835893"/>
              <a:ext cx="142016" cy="129147"/>
              <a:chOff x="1109166" y="-835893"/>
              <a:chExt cx="142016" cy="129147"/>
            </a:xfrm>
          </p:grpSpPr>
          <p:sp>
            <p:nvSpPr>
              <p:cNvPr id="64" name="矩形 63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矩形 64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2689032" y="-835893"/>
              <a:ext cx="142016" cy="129147"/>
              <a:chOff x="1109166" y="-835893"/>
              <a:chExt cx="142016" cy="129147"/>
            </a:xfrm>
          </p:grpSpPr>
          <p:sp>
            <p:nvSpPr>
              <p:cNvPr id="67" name="矩形 66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矩形 67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9" name="组合 68"/>
            <p:cNvGrpSpPr/>
            <p:nvPr/>
          </p:nvGrpSpPr>
          <p:grpSpPr>
            <a:xfrm>
              <a:off x="1098451" y="-309473"/>
              <a:ext cx="142016" cy="129147"/>
              <a:chOff x="1109166" y="-835893"/>
              <a:chExt cx="142016" cy="129147"/>
            </a:xfrm>
          </p:grpSpPr>
          <p:sp>
            <p:nvSpPr>
              <p:cNvPr id="70" name="矩形 69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矩形 70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2" name="组合 71"/>
            <p:cNvGrpSpPr/>
            <p:nvPr/>
          </p:nvGrpSpPr>
          <p:grpSpPr>
            <a:xfrm>
              <a:off x="1718661" y="-309473"/>
              <a:ext cx="142016" cy="129147"/>
              <a:chOff x="1109166" y="-835893"/>
              <a:chExt cx="142016" cy="129147"/>
            </a:xfrm>
          </p:grpSpPr>
          <p:sp>
            <p:nvSpPr>
              <p:cNvPr id="73" name="矩形 72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矩形 73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5" name="组合 74"/>
            <p:cNvGrpSpPr/>
            <p:nvPr/>
          </p:nvGrpSpPr>
          <p:grpSpPr>
            <a:xfrm>
              <a:off x="2049504" y="-309473"/>
              <a:ext cx="142016" cy="129147"/>
              <a:chOff x="1109166" y="-835893"/>
              <a:chExt cx="142016" cy="129147"/>
            </a:xfrm>
          </p:grpSpPr>
          <p:sp>
            <p:nvSpPr>
              <p:cNvPr id="76" name="矩形 75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矩形 76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8" name="组合 77"/>
            <p:cNvGrpSpPr/>
            <p:nvPr/>
          </p:nvGrpSpPr>
          <p:grpSpPr>
            <a:xfrm>
              <a:off x="2678317" y="-309473"/>
              <a:ext cx="142016" cy="129147"/>
              <a:chOff x="1109166" y="-835893"/>
              <a:chExt cx="142016" cy="129147"/>
            </a:xfrm>
          </p:grpSpPr>
          <p:sp>
            <p:nvSpPr>
              <p:cNvPr id="79" name="矩形 78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" name="矩形 79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1" name="组合 80"/>
            <p:cNvGrpSpPr/>
            <p:nvPr/>
          </p:nvGrpSpPr>
          <p:grpSpPr>
            <a:xfrm>
              <a:off x="1098451" y="190425"/>
              <a:ext cx="142016" cy="129147"/>
              <a:chOff x="1109166" y="-835893"/>
              <a:chExt cx="142016" cy="129147"/>
            </a:xfrm>
          </p:grpSpPr>
          <p:sp>
            <p:nvSpPr>
              <p:cNvPr id="82" name="矩形 81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矩形 82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4" name="组合 83"/>
            <p:cNvGrpSpPr/>
            <p:nvPr/>
          </p:nvGrpSpPr>
          <p:grpSpPr>
            <a:xfrm>
              <a:off x="1718661" y="190425"/>
              <a:ext cx="142016" cy="129147"/>
              <a:chOff x="1109166" y="-835893"/>
              <a:chExt cx="142016" cy="129147"/>
            </a:xfrm>
          </p:grpSpPr>
          <p:sp>
            <p:nvSpPr>
              <p:cNvPr id="85" name="矩形 84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矩形 85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7" name="组合 86"/>
            <p:cNvGrpSpPr/>
            <p:nvPr/>
          </p:nvGrpSpPr>
          <p:grpSpPr>
            <a:xfrm>
              <a:off x="2049504" y="190425"/>
              <a:ext cx="142016" cy="129147"/>
              <a:chOff x="1109166" y="-835893"/>
              <a:chExt cx="142016" cy="129147"/>
            </a:xfrm>
          </p:grpSpPr>
          <p:sp>
            <p:nvSpPr>
              <p:cNvPr id="88" name="矩形 87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矩形 88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0" name="组合 89"/>
            <p:cNvGrpSpPr/>
            <p:nvPr/>
          </p:nvGrpSpPr>
          <p:grpSpPr>
            <a:xfrm>
              <a:off x="2678317" y="190425"/>
              <a:ext cx="142016" cy="129147"/>
              <a:chOff x="1109166" y="-835893"/>
              <a:chExt cx="142016" cy="129147"/>
            </a:xfrm>
          </p:grpSpPr>
          <p:sp>
            <p:nvSpPr>
              <p:cNvPr id="91" name="矩形 90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矩形 91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32" name="矩形 131"/>
          <p:cNvSpPr/>
          <p:nvPr/>
        </p:nvSpPr>
        <p:spPr>
          <a:xfrm>
            <a:off x="8358136" y="1497586"/>
            <a:ext cx="1260393" cy="1350579"/>
          </a:xfrm>
          <a:prstGeom prst="rect">
            <a:avLst/>
          </a:prstGeom>
          <a:solidFill>
            <a:srgbClr val="C4C3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94" name="组合 93"/>
          <p:cNvGrpSpPr/>
          <p:nvPr/>
        </p:nvGrpSpPr>
        <p:grpSpPr>
          <a:xfrm>
            <a:off x="9486499" y="1511695"/>
            <a:ext cx="1732597" cy="1155465"/>
            <a:chOff x="1098451" y="-835893"/>
            <a:chExt cx="1732597" cy="1155465"/>
          </a:xfrm>
        </p:grpSpPr>
        <p:grpSp>
          <p:nvGrpSpPr>
            <p:cNvPr id="95" name="组合 94"/>
            <p:cNvGrpSpPr/>
            <p:nvPr/>
          </p:nvGrpSpPr>
          <p:grpSpPr>
            <a:xfrm>
              <a:off x="1109166" y="-835893"/>
              <a:ext cx="142016" cy="129147"/>
              <a:chOff x="1109166" y="-835893"/>
              <a:chExt cx="142016" cy="129147"/>
            </a:xfrm>
          </p:grpSpPr>
          <p:sp>
            <p:nvSpPr>
              <p:cNvPr id="129" name="矩形 128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" name="矩形 129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6" name="组合 95"/>
            <p:cNvGrpSpPr/>
            <p:nvPr/>
          </p:nvGrpSpPr>
          <p:grpSpPr>
            <a:xfrm>
              <a:off x="1729376" y="-835893"/>
              <a:ext cx="142016" cy="129147"/>
              <a:chOff x="1109166" y="-835893"/>
              <a:chExt cx="142016" cy="129147"/>
            </a:xfrm>
          </p:grpSpPr>
          <p:sp>
            <p:nvSpPr>
              <p:cNvPr id="127" name="矩形 126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" name="矩形 127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7" name="组合 96"/>
            <p:cNvGrpSpPr/>
            <p:nvPr/>
          </p:nvGrpSpPr>
          <p:grpSpPr>
            <a:xfrm>
              <a:off x="2060219" y="-835893"/>
              <a:ext cx="142016" cy="129147"/>
              <a:chOff x="1109166" y="-835893"/>
              <a:chExt cx="142016" cy="129147"/>
            </a:xfrm>
          </p:grpSpPr>
          <p:sp>
            <p:nvSpPr>
              <p:cNvPr id="125" name="矩形 124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6" name="矩形 125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8" name="组合 97"/>
            <p:cNvGrpSpPr/>
            <p:nvPr/>
          </p:nvGrpSpPr>
          <p:grpSpPr>
            <a:xfrm>
              <a:off x="2689032" y="-835893"/>
              <a:ext cx="142016" cy="129147"/>
              <a:chOff x="1109166" y="-835893"/>
              <a:chExt cx="142016" cy="129147"/>
            </a:xfrm>
          </p:grpSpPr>
          <p:sp>
            <p:nvSpPr>
              <p:cNvPr id="123" name="矩形 122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4" name="矩形 123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9" name="组合 98"/>
            <p:cNvGrpSpPr/>
            <p:nvPr/>
          </p:nvGrpSpPr>
          <p:grpSpPr>
            <a:xfrm>
              <a:off x="1098451" y="-309473"/>
              <a:ext cx="142016" cy="129147"/>
              <a:chOff x="1109166" y="-835893"/>
              <a:chExt cx="142016" cy="129147"/>
            </a:xfrm>
          </p:grpSpPr>
          <p:sp>
            <p:nvSpPr>
              <p:cNvPr id="121" name="矩形 120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2" name="矩形 121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0" name="组合 99"/>
            <p:cNvGrpSpPr/>
            <p:nvPr/>
          </p:nvGrpSpPr>
          <p:grpSpPr>
            <a:xfrm>
              <a:off x="1718661" y="-309473"/>
              <a:ext cx="142016" cy="129147"/>
              <a:chOff x="1109166" y="-835893"/>
              <a:chExt cx="142016" cy="129147"/>
            </a:xfrm>
          </p:grpSpPr>
          <p:sp>
            <p:nvSpPr>
              <p:cNvPr id="119" name="矩形 118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0" name="矩形 119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1" name="组合 100"/>
            <p:cNvGrpSpPr/>
            <p:nvPr/>
          </p:nvGrpSpPr>
          <p:grpSpPr>
            <a:xfrm>
              <a:off x="2049504" y="-309473"/>
              <a:ext cx="142016" cy="129147"/>
              <a:chOff x="1109166" y="-835893"/>
              <a:chExt cx="142016" cy="129147"/>
            </a:xfrm>
          </p:grpSpPr>
          <p:sp>
            <p:nvSpPr>
              <p:cNvPr id="117" name="矩形 116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8" name="矩形 117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2" name="组合 101"/>
            <p:cNvGrpSpPr/>
            <p:nvPr/>
          </p:nvGrpSpPr>
          <p:grpSpPr>
            <a:xfrm>
              <a:off x="2678317" y="-309473"/>
              <a:ext cx="142016" cy="129147"/>
              <a:chOff x="1109166" y="-835893"/>
              <a:chExt cx="142016" cy="129147"/>
            </a:xfrm>
          </p:grpSpPr>
          <p:sp>
            <p:nvSpPr>
              <p:cNvPr id="115" name="矩形 114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6" name="矩形 115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3" name="组合 102"/>
            <p:cNvGrpSpPr/>
            <p:nvPr/>
          </p:nvGrpSpPr>
          <p:grpSpPr>
            <a:xfrm>
              <a:off x="1098451" y="190425"/>
              <a:ext cx="142016" cy="129147"/>
              <a:chOff x="1109166" y="-835893"/>
              <a:chExt cx="142016" cy="129147"/>
            </a:xfrm>
          </p:grpSpPr>
          <p:sp>
            <p:nvSpPr>
              <p:cNvPr id="113" name="矩形 112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" name="矩形 113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4" name="组合 103"/>
            <p:cNvGrpSpPr/>
            <p:nvPr/>
          </p:nvGrpSpPr>
          <p:grpSpPr>
            <a:xfrm>
              <a:off x="1718661" y="190425"/>
              <a:ext cx="142016" cy="129147"/>
              <a:chOff x="1109166" y="-835893"/>
              <a:chExt cx="142016" cy="129147"/>
            </a:xfrm>
          </p:grpSpPr>
          <p:sp>
            <p:nvSpPr>
              <p:cNvPr id="111" name="矩形 110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" name="矩形 111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5" name="组合 104"/>
            <p:cNvGrpSpPr/>
            <p:nvPr/>
          </p:nvGrpSpPr>
          <p:grpSpPr>
            <a:xfrm>
              <a:off x="2049504" y="190425"/>
              <a:ext cx="142016" cy="129147"/>
              <a:chOff x="1109166" y="-835893"/>
              <a:chExt cx="142016" cy="129147"/>
            </a:xfrm>
          </p:grpSpPr>
          <p:sp>
            <p:nvSpPr>
              <p:cNvPr id="109" name="矩形 108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" name="矩形 109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6" name="组合 105"/>
            <p:cNvGrpSpPr/>
            <p:nvPr/>
          </p:nvGrpSpPr>
          <p:grpSpPr>
            <a:xfrm>
              <a:off x="2678317" y="190425"/>
              <a:ext cx="142016" cy="129147"/>
              <a:chOff x="1109166" y="-835893"/>
              <a:chExt cx="142016" cy="129147"/>
            </a:xfrm>
          </p:grpSpPr>
          <p:sp>
            <p:nvSpPr>
              <p:cNvPr id="107" name="矩形 106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" name="矩形 107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35" name="矩形 134"/>
          <p:cNvSpPr/>
          <p:nvPr/>
        </p:nvSpPr>
        <p:spPr>
          <a:xfrm>
            <a:off x="3673495" y="15099"/>
            <a:ext cx="4954317" cy="905506"/>
          </a:xfrm>
          <a:prstGeom prst="rect">
            <a:avLst/>
          </a:prstGeom>
          <a:solidFill>
            <a:srgbClr val="EEEE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1" name="直接连接符 140"/>
          <p:cNvCxnSpPr/>
          <p:nvPr/>
        </p:nvCxnSpPr>
        <p:spPr>
          <a:xfrm flipV="1">
            <a:off x="-2" y="892586"/>
            <a:ext cx="12192002" cy="35639"/>
          </a:xfrm>
          <a:prstGeom prst="line">
            <a:avLst/>
          </a:prstGeom>
          <a:ln>
            <a:solidFill>
              <a:schemeClr val="bg1">
                <a:lumMod val="6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连接符 142"/>
          <p:cNvCxnSpPr/>
          <p:nvPr/>
        </p:nvCxnSpPr>
        <p:spPr>
          <a:xfrm flipV="1">
            <a:off x="-7" y="1483199"/>
            <a:ext cx="12192002" cy="35639"/>
          </a:xfrm>
          <a:prstGeom prst="line">
            <a:avLst/>
          </a:prstGeom>
          <a:ln>
            <a:solidFill>
              <a:schemeClr val="bg1">
                <a:lumMod val="6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文本框 144"/>
          <p:cNvSpPr txBox="1"/>
          <p:nvPr/>
        </p:nvSpPr>
        <p:spPr>
          <a:xfrm>
            <a:off x="469265" y="6005195"/>
            <a:ext cx="11807190" cy="8343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300" b="1" dirty="0">
                <a:solidFill>
                  <a:srgbClr val="E5BC86"/>
                </a:solidFill>
                <a:latin typeface="微软雅黑" panose="020B0503020204020204" charset="-122"/>
                <a:ea typeface="微软雅黑" panose="020B0503020204020204" charset="-122"/>
              </a:rPr>
              <a:t>Gong Ziyang</a:t>
            </a:r>
          </a:p>
          <a:p>
            <a:pPr algn="ctr"/>
            <a:endParaRPr lang="en-US" altLang="zh-CN" sz="2300" b="1" dirty="0">
              <a:solidFill>
                <a:srgbClr val="E5BC8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2949575" y="6767195"/>
            <a:ext cx="6510020" cy="102235"/>
          </a:xfrm>
          <a:prstGeom prst="rect">
            <a:avLst/>
          </a:prstGeom>
          <a:solidFill>
            <a:srgbClr val="891C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 rot="10800000">
            <a:off x="2798965" y="5947622"/>
            <a:ext cx="150861" cy="954038"/>
          </a:xfrm>
          <a:prstGeom prst="rect">
            <a:avLst/>
          </a:prstGeom>
          <a:gradFill>
            <a:gsLst>
              <a:gs pos="0">
                <a:srgbClr val="292829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矩形 53"/>
          <p:cNvSpPr/>
          <p:nvPr/>
        </p:nvSpPr>
        <p:spPr>
          <a:xfrm rot="10800000">
            <a:off x="9467370" y="5947621"/>
            <a:ext cx="150855" cy="954035"/>
          </a:xfrm>
          <a:prstGeom prst="rect">
            <a:avLst/>
          </a:prstGeom>
          <a:gradFill>
            <a:gsLst>
              <a:gs pos="0">
                <a:srgbClr val="292829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77" t="61091" r="46946" b="28282"/>
          <a:stretch>
            <a:fillRect/>
          </a:stretch>
        </p:blipFill>
        <p:spPr>
          <a:xfrm>
            <a:off x="5800130" y="1640826"/>
            <a:ext cx="788596" cy="7885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F:\设计相关\莱茵PPT\20210803125144!Avg_avg_ac15_6.png20210803125144!Avg_avg_ac15_6"/>
          <p:cNvPicPr>
            <a:picLocks noChangeAspect="1"/>
          </p:cNvPicPr>
          <p:nvPr/>
        </p:nvPicPr>
        <p:blipFill>
          <a:blip r:embed="rId3">
            <a:alphaModFix amt="40000"/>
          </a:blip>
          <a:srcRect t="-6983" b="4347"/>
          <a:stretch>
            <a:fillRect/>
          </a:stretch>
        </p:blipFill>
        <p:spPr>
          <a:xfrm>
            <a:off x="59055" y="-279400"/>
            <a:ext cx="12185650" cy="7011035"/>
          </a:xfrm>
          <a:prstGeom prst="rect">
            <a:avLst/>
          </a:prstGeom>
          <a:ln>
            <a:noFill/>
          </a:ln>
          <a:effectLst>
            <a:softEdge rad="317500"/>
          </a:effec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16050" y="179705"/>
            <a:ext cx="2640330" cy="1202690"/>
          </a:xfrm>
        </p:spPr>
        <p:txBody>
          <a:bodyPr/>
          <a:lstStyle/>
          <a:p>
            <a:r>
              <a:rPr lang="en-US" altLang="zh-CN" sz="2000">
                <a:latin typeface="Novecento wide Bold" panose="00000805000000000000" charset="0"/>
                <a:cs typeface="Novecento wide Bold" panose="00000805000000000000" charset="0"/>
              </a:rPr>
              <a:t>  </a:t>
            </a:r>
          </a:p>
        </p:txBody>
      </p:sp>
      <p:sp>
        <p:nvSpPr>
          <p:cNvPr id="4" name="矩形 3"/>
          <p:cNvSpPr/>
          <p:nvPr/>
        </p:nvSpPr>
        <p:spPr>
          <a:xfrm flipV="1">
            <a:off x="11085195" y="6539230"/>
            <a:ext cx="402590" cy="1549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343015" y="2866390"/>
            <a:ext cx="76200" cy="762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1248390" y="2870835"/>
            <a:ext cx="76200" cy="762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343015" y="3487420"/>
            <a:ext cx="76200" cy="762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248390" y="3460750"/>
            <a:ext cx="76200" cy="762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6332855" y="3746500"/>
            <a:ext cx="591185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601136" y="2994025"/>
            <a:ext cx="7883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Chapt10.Modeling Human Aspects of Driving </a:t>
            </a:r>
            <a:r>
              <a:rPr lang="en-US" altLang="zh-CN" sz="2400" dirty="0" err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Behavio</a:t>
            </a:r>
            <a:endParaRPr lang="en-US" altLang="zh-CN" sz="24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908935" y="349694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62610" y="349694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62610" y="287591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2600305" y="2866390"/>
            <a:ext cx="2882265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>
                <a:highlight>
                  <a:srgbClr val="FFFF00"/>
                </a:highlight>
              </a:rPr>
              <a:t>建议使用：带图小标题</a:t>
            </a:r>
            <a:r>
              <a:rPr lang="en-US" altLang="zh-CN">
                <a:highlight>
                  <a:srgbClr val="FFFF00"/>
                </a:highlight>
              </a:rPr>
              <a:t> </a:t>
            </a:r>
            <a:br>
              <a:rPr lang="zh-CN" altLang="en-US">
                <a:highlight>
                  <a:srgbClr val="FFFF00"/>
                </a:highlight>
              </a:rPr>
            </a:br>
            <a:br>
              <a:rPr lang="zh-CN" altLang="en-US">
                <a:highlight>
                  <a:srgbClr val="FFFF00"/>
                </a:highlight>
              </a:rPr>
            </a:br>
            <a:r>
              <a:rPr lang="zh-CN" altLang="en-US">
                <a:highlight>
                  <a:srgbClr val="FFFF00"/>
                </a:highlight>
              </a:rPr>
              <a:t>可以修改右侧文字</a:t>
            </a:r>
            <a:r>
              <a:rPr lang="en-US" altLang="zh-CN">
                <a:highlight>
                  <a:srgbClr val="FFFF00"/>
                </a:highlight>
              </a:rPr>
              <a:t> </a:t>
            </a:r>
            <a:r>
              <a:rPr lang="zh-CN" altLang="en-US">
                <a:highlight>
                  <a:srgbClr val="FFFF00"/>
                </a:highlight>
              </a:rPr>
              <a:t>介绍</a:t>
            </a:r>
            <a:br>
              <a:rPr lang="zh-CN" altLang="en-US">
                <a:highlight>
                  <a:srgbClr val="FFFF00"/>
                </a:highlight>
              </a:rPr>
            </a:br>
            <a:r>
              <a:rPr lang="zh-CN" altLang="en-US">
                <a:highlight>
                  <a:srgbClr val="FFFF00"/>
                </a:highlight>
              </a:rPr>
              <a:t>英文字体：Novecento wide </a:t>
            </a:r>
            <a:br>
              <a:rPr lang="zh-CN" altLang="en-US">
                <a:highlight>
                  <a:srgbClr val="FFFF00"/>
                </a:highlight>
              </a:rPr>
            </a:br>
            <a:r>
              <a:rPr lang="zh-CN" altLang="en-US">
                <a:highlight>
                  <a:srgbClr val="FFFF00"/>
                </a:highlight>
              </a:rPr>
              <a:t>中文字体：思源黑体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/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39747" y="423862"/>
            <a:ext cx="626191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12.1 Man Versus Machine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22754" y="952182"/>
            <a:ext cx="1134649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/>
              <a:t>Human Limitations &amp; Imperfections</a:t>
            </a:r>
            <a:r>
              <a:rPr lang="zh-CN" altLang="en-US" sz="2400" b="1" dirty="0">
                <a:sym typeface="+mn-ea"/>
              </a:rPr>
              <a:t>：</a:t>
            </a:r>
            <a:endParaRPr lang="en-US" altLang="zh-CN" sz="2400" b="1" dirty="0">
              <a:sym typeface="+mn-ea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zh-CN" sz="2400" dirty="0"/>
              <a:t>Finite Reaction Time</a:t>
            </a:r>
            <a:endParaRPr lang="en-US" altLang="zh-CN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zh-CN" sz="2400" dirty="0"/>
              <a:t>Estimation Errors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zh-CN" sz="2400" dirty="0"/>
              <a:t>Perception Thresholds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zh-CN" sz="2400" dirty="0"/>
              <a:t>Limited Attention Span &amp; Distraction</a:t>
            </a:r>
            <a:endParaRPr lang="en-US" altLang="zh-CN" sz="2400" dirty="0"/>
          </a:p>
          <a:p>
            <a:r>
              <a:rPr lang="zh-CN" altLang="zh-CN" sz="2400" b="1" dirty="0"/>
              <a:t>Human Advantages &amp; Cognitive Capabilities</a:t>
            </a:r>
            <a:r>
              <a:rPr lang="zh-CN" altLang="en-US" sz="2400" b="1" dirty="0"/>
              <a:t>：</a:t>
            </a:r>
            <a:endParaRPr lang="en-US" altLang="zh-C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2400" dirty="0"/>
              <a:t>Multi-Stimuli Processing &amp; Spatial Anticipation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2400" dirty="0"/>
              <a:t>Temporal Anticipation 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2400" dirty="0"/>
              <a:t>Context Sensitivity &amp; Memory Effect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2400" dirty="0"/>
              <a:t>Courtesy &amp; Cooperation</a:t>
            </a:r>
            <a:br>
              <a:rPr lang="en-US" altLang="zh-CN" sz="2400" dirty="0"/>
            </a:br>
            <a:endParaRPr lang="en-US" altLang="zh-CN" sz="2400" dirty="0"/>
          </a:p>
          <a:p>
            <a:r>
              <a:rPr lang="zh-CN" altLang="zh-CN" sz="2400" b="1" dirty="0"/>
              <a:t>Psycho-Physiological Car-Following Models</a:t>
            </a:r>
            <a:r>
              <a:rPr lang="zh-CN" altLang="en-US" sz="2400" b="1" dirty="0"/>
              <a:t>：</a:t>
            </a:r>
            <a:endParaRPr lang="en-US" altLang="zh-CN" sz="2400" b="1" dirty="0"/>
          </a:p>
          <a:p>
            <a:r>
              <a:rPr lang="en-US" altLang="zh-CN" sz="2400" b="1" dirty="0"/>
              <a:t>	</a:t>
            </a:r>
            <a:r>
              <a:rPr lang="zh-CN" altLang="zh-CN" sz="2400" dirty="0"/>
              <a:t>Integrating physiological constraints with psychological strategies into the following model</a:t>
            </a:r>
          </a:p>
          <a:p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6FD3F2-CDCD-D858-7A7C-B3CCD535B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F26526-3605-4EC3-305D-F2967A545D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E2D583-5154-AC10-9389-261ACDFDBF02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7E9FC51-3B0A-69D1-40CF-8ED58F9E9781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933AA75-652C-F651-797C-41189DE9C9B0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5F0F6D0-5E02-B2C9-2A6D-4857B7D05ECE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2465CDD-254A-27EA-018F-F106057D6295}"/>
              </a:ext>
            </a:extLst>
          </p:cNvPr>
          <p:cNvSpPr txBox="1"/>
          <p:nvPr/>
        </p:nvSpPr>
        <p:spPr>
          <a:xfrm>
            <a:off x="101600" y="454025"/>
            <a:ext cx="626191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12.2 Reaction Times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25DB627-BDE5-AAD8-AB22-91687B5B2DAD}"/>
              </a:ext>
            </a:extLst>
          </p:cNvPr>
          <p:cNvSpPr txBox="1"/>
          <p:nvPr/>
        </p:nvSpPr>
        <p:spPr>
          <a:xfrm>
            <a:off x="422754" y="952500"/>
            <a:ext cx="1134649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dirty="0"/>
              <a:t>Reaction Time</a:t>
            </a:r>
            <a:r>
              <a:rPr lang="en-US" altLang="zh-CN" sz="2400" dirty="0"/>
              <a:t> composed</a:t>
            </a:r>
            <a:r>
              <a:rPr lang="zh-CN" altLang="en-US" sz="2400" dirty="0"/>
              <a:t> </a:t>
            </a:r>
            <a:r>
              <a:rPr lang="en-US" altLang="zh-CN" sz="2400" dirty="0"/>
              <a:t>of three part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sz="2400" dirty="0"/>
              <a:t>Mental processing time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lvl="0"/>
            <a:r>
              <a:rPr lang="en-US" altLang="zh-CN" sz="2400" dirty="0"/>
              <a:t>	</a:t>
            </a:r>
            <a:r>
              <a:rPr lang="zh-CN" altLang="zh-CN" sz="2400" dirty="0"/>
              <a:t>The mental processing time, which is composed of the sensation time, the perception</a:t>
            </a:r>
            <a:r>
              <a:rPr lang="en-US" altLang="zh-CN" sz="2400" dirty="0"/>
              <a:t> </a:t>
            </a:r>
            <a:r>
              <a:rPr lang="zh-CN" altLang="zh-CN" sz="2400" dirty="0"/>
              <a:t>or recognition time, the "situation awareness time" needed to recognize and interpret the scene, and the decision time.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sz="2400" dirty="0"/>
              <a:t>Movement or action time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lvl="0"/>
            <a:r>
              <a:rPr lang="en-US" altLang="zh-CN" sz="2400" dirty="0"/>
              <a:t>	T</a:t>
            </a:r>
            <a:r>
              <a:rPr lang="zh-CN" altLang="zh-CN" sz="2400" dirty="0"/>
              <a:t>o lift the foot from the throttle pedal, move it to the brake pedal, and apply pressure.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sz="2400" dirty="0"/>
              <a:t>Technical response time</a:t>
            </a:r>
            <a:r>
              <a:rPr lang="zh-CN" altLang="en-US" sz="2400" dirty="0"/>
              <a:t>：</a:t>
            </a:r>
            <a:endParaRPr lang="zh-CN" altLang="zh-CN" sz="2400" dirty="0"/>
          </a:p>
          <a:p>
            <a:pPr lvl="1"/>
            <a:r>
              <a:rPr lang="en-US" altLang="zh-CN" sz="2400" dirty="0"/>
              <a:t>	T</a:t>
            </a:r>
            <a:r>
              <a:rPr lang="zh-CN" altLang="zh-CN" sz="2400" dirty="0"/>
              <a:t>he technical response time of the respective vehicle components </a:t>
            </a:r>
            <a:endParaRPr lang="en-US" altLang="zh-CN" sz="2400" dirty="0"/>
          </a:p>
          <a:p>
            <a:pPr lvl="1"/>
            <a:endParaRPr lang="en-US" altLang="zh-CN" sz="2400" dirty="0"/>
          </a:p>
          <a:p>
            <a:pPr marL="0" lvl="1"/>
            <a:r>
              <a:rPr lang="en-US" altLang="zh-CN" sz="2400" dirty="0"/>
              <a:t>	</a:t>
            </a:r>
            <a:r>
              <a:rPr lang="zh-CN" altLang="zh-CN" sz="2400" dirty="0"/>
              <a:t>Nearly all models and simulators assume a constant common value of the order of </a:t>
            </a:r>
            <a:r>
              <a:rPr lang="en-US" altLang="zh-CN" sz="2400" dirty="0"/>
              <a:t>1s </a:t>
            </a:r>
            <a:r>
              <a:rPr lang="zh-CN" altLang="zh-CN" sz="2400" dirty="0"/>
              <a:t>for all drivers in all situations.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716285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65ECF0-9107-C00D-6E91-6639369CE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F2ABC1-5628-E252-95A1-813071F0AD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71CD980-7AB3-56E3-57B4-67A0307165A0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072C304-B8E0-5E6B-2BBA-C85D0C493BA7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19A804C-B5C4-3B4D-D591-08AB20AE46FA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D836C67-07FB-0651-04A8-BA46B1DB2896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4A1E772-8CA7-57AF-AA50-7245D1115FC5}"/>
              </a:ext>
            </a:extLst>
          </p:cNvPr>
          <p:cNvSpPr txBox="1"/>
          <p:nvPr/>
        </p:nvSpPr>
        <p:spPr>
          <a:xfrm>
            <a:off x="101600" y="454025"/>
            <a:ext cx="626191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12.2 Reaction Times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8EC1260-34D9-63BA-D574-3A62A34A7F1F}"/>
                  </a:ext>
                </a:extLst>
              </p:cNvPr>
              <p:cNvSpPr txBox="1"/>
              <p:nvPr/>
            </p:nvSpPr>
            <p:spPr>
              <a:xfrm>
                <a:off x="422754" y="952500"/>
                <a:ext cx="11346491" cy="4956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:r>
                  <a:rPr lang="zh-CN" altLang="zh-CN" sz="2400" dirty="0"/>
                  <a:t>In time-continuous models, introducing a reaction time transforms ordinary differential equations into delay-differential equations.</a:t>
                </a:r>
              </a:p>
              <a:p>
                <a:pPr marL="0" lvl="1"/>
                <a:r>
                  <a:rPr lang="zh-CN" altLang="zh-CN" sz="2400" dirty="0"/>
                  <a:t>Control theory indicates that an increased reaction time reduces system stability, there</a:t>
                </a:r>
                <a:r>
                  <a:rPr lang="en-US" altLang="zh-CN" sz="2400" dirty="0"/>
                  <a:t> </a:t>
                </a:r>
                <a:r>
                  <a:rPr lang="zh-CN" altLang="zh-CN" sz="2400" dirty="0"/>
                  <a:t>by inducing stop-and-go waves in traffic flow.</a:t>
                </a:r>
                <a:endParaRPr lang="en-US" altLang="zh-CN" sz="2400" dirty="0"/>
              </a:p>
              <a:p>
                <a:pPr marL="0" lvl="1"/>
                <a:endParaRPr lang="zh-CN" altLang="zh-CN" sz="2400" dirty="0"/>
              </a:p>
              <a:p>
                <a:r>
                  <a:rPr lang="en-US" altLang="zh-CN" sz="2400" dirty="0"/>
                  <a:t>Delay-differential equations</a:t>
                </a:r>
                <a:r>
                  <a:rPr lang="zh-CN" altLang="en-US" sz="2400" dirty="0"/>
                  <a:t>：</a:t>
                </a:r>
                <a:endParaRPr lang="en-US" altLang="zh-CN" sz="2400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̇"/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zh-CN" altLang="en-US" sz="2400" i="0"/>
                            <m:t>mic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d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d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 </m:t>
                      </m:r>
                      <m:d>
                        <m:dPr>
                          <m:ctrlPr>
                            <a:rPr lang="zh-CN" altLang="en-US" sz="24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12.1</m:t>
                          </m:r>
                        </m:e>
                      </m:d>
                    </m:oMath>
                  </m:oMathPara>
                </a14:m>
                <a:endParaRPr lang="zh-CN" altLang="zh-C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D</a:t>
                </a:r>
                <a:r>
                  <a:rPr lang="zh-CN" altLang="zh-CN" sz="2400" dirty="0"/>
                  <a:t>efines the fundamental acceleration control logic for microscopic time-continuous car-following models incorporating physiological reaction time.</a:t>
                </a:r>
                <a:endParaRPr lang="en-US" altLang="zh-C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It</a:t>
                </a:r>
                <a:r>
                  <a:rPr lang="en-US" altLang="zh-CN" sz="2400" dirty="0"/>
                  <a:t> </a:t>
                </a:r>
                <a:r>
                  <a:rPr lang="zh-CN" altLang="zh-CN" sz="2400" dirty="0"/>
                  <a:t>extend the idealized delay-free car-following system into a delayed car-following system that aligns with human physiological characteristics.</a:t>
                </a:r>
                <a:endParaRPr lang="en-US" altLang="zh-C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I</a:t>
                </a:r>
                <a:r>
                  <a:rPr lang="zh-CN" altLang="zh-CN" sz="2400" dirty="0"/>
                  <a:t>ndicates that a driver's acceleration decision at the current time 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zh-CN" sz="2400" dirty="0"/>
                  <a:t>depends on the traffic conditions perceived at the delayed time 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8EC1260-34D9-63BA-D574-3A62A34A7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54" y="952500"/>
                <a:ext cx="11346491" cy="4956870"/>
              </a:xfrm>
              <a:prstGeom prst="rect">
                <a:avLst/>
              </a:prstGeom>
              <a:blipFill>
                <a:blip r:embed="rId3"/>
                <a:stretch>
                  <a:fillRect l="-806" t="-984" r="-591" b="-18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2367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935160-1577-8688-E364-F842E15E4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B220AA-12A4-F44D-CD68-39986CDDF0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ABBBCE6-C9CD-A4E1-B80C-448EFAB6BD34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F546B99-B356-3147-4F1A-2679075111E1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1F0F1E2-7E99-B18C-4083-FA710F345456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7F91E43-9CF0-B528-EB12-56353D0A7208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5BA9B38-2166-4CFF-2AC1-2F0AD01A9220}"/>
              </a:ext>
            </a:extLst>
          </p:cNvPr>
          <p:cNvSpPr txBox="1"/>
          <p:nvPr/>
        </p:nvSpPr>
        <p:spPr>
          <a:xfrm>
            <a:off x="101600" y="454025"/>
            <a:ext cx="626191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12.2 Reaction Times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D95A551-D1F0-1E99-FB47-D0662B9077D6}"/>
                  </a:ext>
                </a:extLst>
              </p:cNvPr>
              <p:cNvSpPr txBox="1"/>
              <p:nvPr/>
            </p:nvSpPr>
            <p:spPr>
              <a:xfrm>
                <a:off x="422754" y="952500"/>
                <a:ext cx="11346491" cy="42461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:endParaRPr lang="en-US" altLang="zh-CN" sz="2400" dirty="0"/>
              </a:p>
              <a:p>
                <a:pPr marL="0" lvl="1"/>
                <a:r>
                  <a:rPr lang="en-US" altLang="zh-CN" sz="2400" dirty="0"/>
                  <a:t>acceleration function with time delayed input stimuli</a:t>
                </a:r>
              </a:p>
              <a:p>
                <a:pPr marL="0" lvl="1"/>
                <a14:m>
                  <m:oMathPara xmlns:m="http://schemas.openxmlformats.org/officeDocument/2006/math">
                    <m:oMath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𝑟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zh-CN" altLang="en-US" sz="24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zh-CN" altLang="en-US" sz="2400" i="0"/>
                        <m:t>int</m:t>
                      </m:r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zh-CN" altLang="en-US" sz="24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 </m:t>
                      </m:r>
                      <m:d>
                        <m:dPr>
                          <m:ctrlPr>
                            <a:rPr lang="zh-CN" altLang="en-US" sz="24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12.2</m:t>
                          </m:r>
                        </m:e>
                      </m:d>
                    </m:oMath>
                  </m:oMathPara>
                </a14:m>
                <a:endParaRPr lang="zh-CN" altLang="zh-C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This formula is a linear interpolation formula used to calculate delayed state variables in numerical simulations.</a:t>
                </a:r>
                <a:endParaRPr lang="en-US" altLang="zh-C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I</a:t>
                </a:r>
                <a:r>
                  <a:rPr lang="zh-CN" altLang="zh-CN" sz="2400" dirty="0"/>
                  <a:t>ts role is to resolve the analytical unsolvability of delay-differential equations, allowing accurate iteration when reaction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zh-CN" altLang="zh-CN" sz="2400" dirty="0"/>
                  <a:t>is not an integer multiple of time step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400">
                        <a:latin typeface="Cambria Math" panose="02040503050406030204" pitchFamily="18" charset="0"/>
                      </a:rPr>
                      <m:t>Δ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zh-CN" sz="2400" dirty="0"/>
                  <a:t>.</a:t>
                </a:r>
                <a:endParaRPr lang="en-US" altLang="zh-C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It reconstructs continuous delayed states by interpolating historical discrete data stored in a ring buffer.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D95A551-D1F0-1E99-FB47-D0662B9077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54" y="952500"/>
                <a:ext cx="11346491" cy="4246162"/>
              </a:xfrm>
              <a:prstGeom prst="rect">
                <a:avLst/>
              </a:prstGeom>
              <a:blipFill>
                <a:blip r:embed="rId3"/>
                <a:stretch>
                  <a:fillRect l="-806" r="-1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8847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D43232-701B-12CB-8428-1DD8B2E08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559842-B377-7F70-2BD9-B1B72A9FF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6878DFB-8B1D-A7C6-4140-95F48694EB0B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939159E-2DEF-F79D-E9B7-F4E06F489C53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364866A-B24F-1D78-D7F9-564DCC04E2D8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94936F1-7524-9ED0-1E8F-425692EA66B0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03D4A4F-DCD5-1C67-86BC-BD8369EFB083}"/>
              </a:ext>
            </a:extLst>
          </p:cNvPr>
          <p:cNvSpPr txBox="1"/>
          <p:nvPr/>
        </p:nvSpPr>
        <p:spPr>
          <a:xfrm>
            <a:off x="101600" y="448075"/>
            <a:ext cx="626191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12.2 Reaction Times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8F7CE17-A4C9-CD3D-1CAB-59D1FE5F2B41}"/>
                  </a:ext>
                </a:extLst>
              </p:cNvPr>
              <p:cNvSpPr txBox="1"/>
              <p:nvPr/>
            </p:nvSpPr>
            <p:spPr>
              <a:xfrm>
                <a:off x="422754" y="952500"/>
                <a:ext cx="11346491" cy="55474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4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4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zh-CN" altLang="en-US" sz="2400" i="0"/>
                            <m:t>eff</m:t>
                          </m:r>
                        </m:sub>
                      </m:sSub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zh-CN" altLang="en-US" sz="2400" i="0"/>
                        <m:t>const.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 </m:t>
                      </m:r>
                      <m:d>
                        <m:dPr>
                          <m:ctrlPr>
                            <a:rPr lang="zh-CN" altLang="en-US" sz="24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12.3</m:t>
                          </m:r>
                        </m:e>
                      </m:d>
                    </m:oMath>
                  </m:oMathPara>
                </a14:m>
                <a:endParaRPr lang="zh-CN" altLang="zh-C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P</a:t>
                </a:r>
                <a:r>
                  <a:rPr lang="zh-CN" altLang="zh-CN" sz="2400" dirty="0"/>
                  <a:t>rovide the critical condition equation for maintaining string stability in a vehicle platoo</a:t>
                </a:r>
                <a:endParaRPr lang="en-US" altLang="zh-C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T</a:t>
                </a:r>
                <a:r>
                  <a:rPr lang="zh-CN" altLang="zh-CN" sz="2400" dirty="0"/>
                  <a:t>he destabilizing effect of attention update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400">
                        <a:latin typeface="Cambria Math" panose="02040503050406030204" pitchFamily="18" charset="0"/>
                      </a:rPr>
                      <m:t>Δ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zh-CN" sz="2400" dirty="0"/>
                  <a:t>is equivalent to half the value of physical reaction time.</a:t>
                </a:r>
                <a:endParaRPr lang="en-US" altLang="zh-CN" sz="2400" dirty="0"/>
              </a:p>
              <a:p>
                <a:r>
                  <a:rPr lang="zh-CN" altLang="zh-CN" sz="2400" b="1" dirty="0"/>
                  <a:t>Derivation Process of the Formula</a:t>
                </a:r>
                <a:r>
                  <a:rPr lang="zh-CN" altLang="zh-CN" sz="2400" dirty="0"/>
                  <a:t>:</a:t>
                </a:r>
                <a:endParaRPr lang="en-US" altLang="zh-C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Consider the attention span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400">
                        <a:latin typeface="Cambria Math" panose="02040503050406030204" pitchFamily="18" charset="0"/>
                      </a:rPr>
                      <m:t>Δ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zh-CN" sz="2400" dirty="0"/>
                  <a:t>; right after an update at 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zh-CN" altLang="en-US" sz="2400">
                        <a:latin typeface="Cambria Math" panose="02040503050406030204" pitchFamily="18" charset="0"/>
                      </a:rPr>
                      <m:t>Δ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zh-CN" sz="2400" dirty="0"/>
                  <a:t>, the driver uses fresh information, so instantaneous delay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zh-CN" sz="2400" dirty="0"/>
                  <a:t>. </a:t>
                </a:r>
                <a:endParaRPr lang="en-US" altLang="zh-C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Just before the next update at 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m:rPr>
                        <m:sty m:val="p"/>
                      </m:rPr>
                      <a:rPr lang="zh-CN" altLang="en-US" sz="2400">
                        <a:latin typeface="Cambria Math" panose="02040503050406030204" pitchFamily="18" charset="0"/>
                      </a:rPr>
                      <m:t>Δ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zh-CN" sz="2400" dirty="0"/>
                  <a:t>, the driver still uses old information, yielding a maximum instantaneous delay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zh-CN" altLang="en-US" sz="2400">
                        <a:latin typeface="Cambria Math" panose="02040503050406030204" pitchFamily="18" charset="0"/>
                      </a:rPr>
                      <m:t>Δ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zh-CN" sz="2400" dirty="0"/>
                  <a:t>. </a:t>
                </a:r>
                <a:endParaRPr lang="en-US" altLang="zh-C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Averaging the instantaneous delay over one update period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400">
                        <a:latin typeface="Cambria Math" panose="02040503050406030204" pitchFamily="18" charset="0"/>
                      </a:rPr>
                      <m:t>Δ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zh-CN" sz="2400" dirty="0"/>
                  <a:t>yields the time-averaged attention delay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nary>
                      <m:naryPr>
                        <m:limLoc m:val="subSup"/>
                        <m:ctrlPr>
                          <a:rPr lang="zh-CN" altLang="en-US" sz="240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zh-CN" altLang="en-US" sz="2400"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400" dirty="0"/>
                  <a:t>.</a:t>
                </a:r>
                <a:endParaRPr lang="en-US" altLang="zh-C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Linearly adding physical reaction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zh-CN" altLang="zh-CN" sz="2400" dirty="0"/>
                  <a:t>and average attention delay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2400" dirty="0"/>
                  <a:t>yields the total effective reaction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 sz="2400" i="0"/>
                          <m:t>eff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en-US" sz="24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zh-CN" altLang="en-US" sz="2400" i="0"/>
                      <m:t>const.</m:t>
                    </m:r>
                  </m:oMath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8F7CE17-A4C9-CD3D-1CAB-59D1FE5F2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54" y="952500"/>
                <a:ext cx="11346491" cy="5547416"/>
              </a:xfrm>
              <a:prstGeom prst="rect">
                <a:avLst/>
              </a:prstGeom>
              <a:blipFill>
                <a:blip r:embed="rId3"/>
                <a:stretch>
                  <a:fillRect l="-806" r="-537" b="-2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7552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2DD475-52BC-9E4E-EEAA-3545E014B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B1DE10-EB6D-AC13-D08E-4F41B73C40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F3DBEAF-7FDD-1228-36CC-A948883DFA8A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16D9F86-07A7-5D23-FB86-DB8B5178384B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C6AC119-7945-6013-B562-0AB84670C01D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431A713-F32D-7BDF-A1DF-A8DB48041E27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528193E-2E6D-2AE4-BCD7-6483D72CABB4}"/>
              </a:ext>
            </a:extLst>
          </p:cNvPr>
          <p:cNvSpPr txBox="1"/>
          <p:nvPr/>
        </p:nvSpPr>
        <p:spPr>
          <a:xfrm>
            <a:off x="101600" y="448075"/>
            <a:ext cx="1079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12.3 Estimation Errors and Imperfect Driving Capabilities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5208807-FB32-175D-B20E-F87F0B0B6332}"/>
                  </a:ext>
                </a:extLst>
              </p:cNvPr>
              <p:cNvSpPr txBox="1"/>
              <p:nvPr/>
            </p:nvSpPr>
            <p:spPr>
              <a:xfrm>
                <a:off x="422754" y="952500"/>
                <a:ext cx="11346491" cy="37637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:r>
                  <a:rPr lang="zh-CN" altLang="zh-CN" sz="2400" dirty="0"/>
                  <a:t>Apart from reaction time delays, human driving behavior exhibits two further deviations: imprecise perception and non-rational control.</a:t>
                </a:r>
                <a:endParaRPr lang="en-US" altLang="zh-CN" sz="2400" dirty="0"/>
              </a:p>
              <a:p>
                <a:pPr marL="0" lvl="1"/>
                <a:r>
                  <a:rPr lang="en-US" altLang="zh-CN" sz="2400" b="1" dirty="0">
                    <a:latin typeface="+mj-ea"/>
                    <a:ea typeface="+mj-ea"/>
                  </a:rPr>
                  <a:t>12.3.1 Modeling Estimation Errors</a:t>
                </a:r>
              </a:p>
              <a:p>
                <a:pPr marL="0" lvl="1"/>
                <a:r>
                  <a:rPr lang="zh-CN" altLang="zh-CN" sz="2400" dirty="0"/>
                  <a:t>Drivers exhibit a relative estimation error for the distance gap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2400" dirty="0"/>
                  <a:t> </a:t>
                </a:r>
                <a:r>
                  <a:rPr lang="zh-CN" altLang="zh-CN" sz="2400" dirty="0"/>
                  <a:t>in logarithmic form.</a:t>
                </a:r>
                <a:endParaRPr lang="en-US" altLang="zh-CN" sz="2400" dirty="0"/>
              </a:p>
              <a:p>
                <a:pPr marL="0" lvl="1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unc>
                            <m:funcPr>
                              <m:ctrlPr>
                                <a:rPr lang="zh-CN" altLang="en-US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func>
                        </m:e>
                        <m:sup>
                          <m:r>
                            <m:rPr>
                              <m:nor/>
                            </m:rPr>
                            <a:rPr lang="zh-CN" altLang="en-US" i="0"/>
                            <m:t>est</m:t>
                          </m:r>
                        </m:sup>
                      </m:sSup>
                      <m:r>
                        <a:rPr lang="zh-CN" altLang="en-US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zh-CN" alt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func>
                      <m:r>
                        <a:rPr lang="zh-CN" alt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 </m:t>
                      </m:r>
                      <m:d>
                        <m:dPr>
                          <m:ctrlPr>
                            <a:rPr lang="zh-CN" alt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12.4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T</a:t>
                </a:r>
                <a:r>
                  <a:rPr lang="zh-CN" altLang="zh-CN" sz="2400" dirty="0"/>
                  <a:t>ransform the true distance gap 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zh-CN" sz="2400" dirty="0"/>
                  <a:t>into an estimated distance gap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m:rPr>
                            <m:nor/>
                          </m:rPr>
                          <a:rPr lang="zh-CN" altLang="en-US" sz="2400" i="0"/>
                          <m:t>est</m:t>
                        </m:r>
                      </m:sup>
                    </m:sSup>
                  </m:oMath>
                </a14:m>
                <a:r>
                  <a:rPr lang="en-US" altLang="zh-CN" sz="2400" dirty="0"/>
                  <a:t> </a:t>
                </a:r>
                <a:r>
                  <a:rPr lang="zh-CN" altLang="zh-CN" sz="2400" dirty="0"/>
                  <a:t>containing multiplicative/logarithmic stochastic noise.</a:t>
                </a:r>
                <a:endParaRPr lang="en-US" altLang="zh-CN" sz="2400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zh-CN" altLang="zh-CN" sz="2400" dirty="0"/>
              </a:p>
              <a:p>
                <a:pPr marL="342900" lvl="1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R</a:t>
                </a:r>
                <a:r>
                  <a:rPr lang="zh-CN" altLang="zh-CN" sz="2400" dirty="0"/>
                  <a:t>eflects human psychophysical perception laws: larger distances yield larger absolute errors, whereas the relative estimation error remains essentially constant.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5208807-FB32-175D-B20E-F87F0B0B63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54" y="952500"/>
                <a:ext cx="11346491" cy="3763787"/>
              </a:xfrm>
              <a:prstGeom prst="rect">
                <a:avLst/>
              </a:prstGeom>
              <a:blipFill>
                <a:blip r:embed="rId3"/>
                <a:stretch>
                  <a:fillRect l="-806" t="-1294" b="-25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5816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93BF8A-5C02-715D-7403-86CC9CD74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EF3040-3365-1757-256A-84AA99F790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216D359-D2D3-0081-7594-29CF819DA556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B29A09D-8E68-6C9C-F5E2-58D7755195CE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59974A-6F1C-D5ED-589B-EEFB3ABEDFD3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F09B99E-D9ED-3EF6-3C73-17A4D1C3DBE8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3C094B3-168E-FCB6-BAA6-13DFFD4CC841}"/>
              </a:ext>
            </a:extLst>
          </p:cNvPr>
          <p:cNvSpPr txBox="1"/>
          <p:nvPr/>
        </p:nvSpPr>
        <p:spPr>
          <a:xfrm>
            <a:off x="316230" y="388937"/>
            <a:ext cx="1079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12.3.1 Modeling Estimation Errors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959BB8E-B13C-9130-1CDF-7A3A1FBCB27C}"/>
                  </a:ext>
                </a:extLst>
              </p:cNvPr>
              <p:cNvSpPr txBox="1"/>
              <p:nvPr/>
            </p:nvSpPr>
            <p:spPr>
              <a:xfrm>
                <a:off x="422754" y="952500"/>
                <a:ext cx="11346491" cy="53715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:r>
                  <a:rPr lang="zh-CN" altLang="zh-CN" sz="2400" dirty="0"/>
                  <a:t>Drivers exhibit a relative estimation error for the distance gap 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2400" dirty="0"/>
                  <a:t> </a:t>
                </a:r>
                <a:r>
                  <a:rPr lang="zh-CN" altLang="zh-CN" sz="2400" dirty="0"/>
                  <a:t>in logarithmic form.</a:t>
                </a:r>
                <a:endParaRPr lang="en-US" altLang="zh-CN" sz="2400" dirty="0"/>
              </a:p>
              <a:p>
                <a:pPr marL="0" lvl="1"/>
                <a14:m>
                  <m:oMathPara xmlns:m="http://schemas.openxmlformats.org/officeDocument/2006/math">
                    <m:oMath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num>
                        <m:den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den>
                      </m:f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zh-CN" altLang="en-US" sz="2400" i="0"/>
                                    <m:t>veh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zh-CN" alt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m:rPr>
                              <m:sty m:val="p"/>
                            </m:rPr>
                            <a:rPr lang="zh-CN" altLang="en-US" sz="24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f>
                            <m:f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zh-CN" altLang="en-US" sz="2400" i="0"/>
                                    <m:t>veh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</m:den>
                      </m:f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4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zh-CN" altLang="en-US" sz="2400" i="0"/>
                                <m:t>TTC</m:t>
                              </m:r>
                            </m:sub>
                          </m:sSub>
                        </m:den>
                      </m:f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 </m:t>
                      </m:r>
                      <m:d>
                        <m:dPr>
                          <m:ctrlPr>
                            <a:rPr lang="zh-CN" altLang="en-US" sz="24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12.5</m:t>
                          </m:r>
                        </m:e>
                      </m:d>
                    </m:oMath>
                  </m:oMathPara>
                </a14:m>
                <a:endParaRPr lang="en-US" altLang="zh-CN" sz="2400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This formula derives the physical-geometric relationship between the relative rate of optical angle change 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zh-CN" sz="2400" dirty="0"/>
                  <a:t>and the time-to-collision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 sz="2400" i="0"/>
                          <m:t>TTC</m:t>
                        </m:r>
                      </m:sub>
                    </m:sSub>
                  </m:oMath>
                </a14:m>
                <a:r>
                  <a:rPr lang="zh-CN" altLang="zh-CN" sz="2400" dirty="0"/>
                  <a:t>.</a:t>
                </a:r>
                <a:endParaRPr lang="en-US" altLang="zh-CN" sz="2400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D</a:t>
                </a:r>
                <a:r>
                  <a:rPr lang="zh-CN" altLang="zh-CN" sz="2400" dirty="0"/>
                  <a:t>rivers do not measure absolute speed directly, but estimate leader speed and relative speed via the expansion rate of the leader's visual angle on the retina.</a:t>
                </a:r>
                <a:endParaRPr lang="en-US" altLang="zh-CN" sz="2400" dirty="0"/>
              </a:p>
              <a:p>
                <a:pPr marL="0" lvl="1"/>
                <a:endParaRPr lang="en-US" altLang="zh-CN" sz="2400" dirty="0"/>
              </a:p>
              <a:p>
                <a:pPr marL="0" lvl="1"/>
                <a:r>
                  <a:rPr lang="en-US" altLang="zh-CN" sz="2400" dirty="0"/>
                  <a:t>The safety indicator time-to-collision (TTC)</a:t>
                </a:r>
                <a:r>
                  <a:rPr lang="zh-CN" altLang="en-US" sz="2400" dirty="0"/>
                  <a:t>：</a:t>
                </a:r>
                <a:endParaRPr lang="en-US" altLang="zh-CN" sz="2400" dirty="0"/>
              </a:p>
              <a:p>
                <a:pPr marL="0" lvl="1" algn="ctr"/>
                <a:r>
                  <a:rPr lang="en-US" altLang="zh-CN" sz="2400" dirty="0"/>
                  <a:t> </a:t>
                </a:r>
                <a:r>
                  <a:rPr lang="en-US" altLang="zh-CN" sz="2400" dirty="0" err="1"/>
                  <a:t>τTTC</a:t>
                </a:r>
                <a:r>
                  <a:rPr lang="en-US" altLang="zh-CN" sz="2400" dirty="0"/>
                  <a:t> = s/</a:t>
                </a:r>
                <a:r>
                  <a:rPr lang="en-US" altLang="zh-CN" sz="2400" dirty="0" err="1"/>
                  <a:t>Δv</a:t>
                </a:r>
                <a:endParaRPr lang="en-US" altLang="zh-CN" sz="2400" dirty="0"/>
              </a:p>
              <a:p>
                <a:pPr marL="0" lvl="1"/>
                <a:r>
                  <a:rPr lang="en-US" altLang="zh-CN" sz="2400" dirty="0"/>
                  <a:t> is defined by the hypothetic time interval to a collision if neither vehicle accelerates or brakes. Values in the range 0 &lt; </a:t>
                </a:r>
                <a:r>
                  <a:rPr lang="en-US" altLang="zh-CN" sz="2400" dirty="0" err="1"/>
                  <a:t>τTTC</a:t>
                </a:r>
                <a:r>
                  <a:rPr lang="en-US" altLang="zh-CN" sz="2400" dirty="0"/>
                  <a:t> ≤ 4 s are generally considered as critical. TTC is only meaningful for positive approach rates.</a:t>
                </a:r>
                <a:endParaRPr lang="zh-CN" altLang="zh-CN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959BB8E-B13C-9130-1CDF-7A3A1FBCB2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54" y="952500"/>
                <a:ext cx="11346491" cy="5371599"/>
              </a:xfrm>
              <a:prstGeom prst="rect">
                <a:avLst/>
              </a:prstGeom>
              <a:blipFill>
                <a:blip r:embed="rId3"/>
                <a:stretch>
                  <a:fillRect l="-806" t="-908" r="-54" b="-15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8564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5DB6FF-D050-649C-9AD2-F2D103999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52A0AA-5ADF-0349-5288-3BE0EBDC7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DFCB6CA-5285-6842-F55B-022A2D32479F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301BE21-9CAA-43A3-026E-1F9AE3C456E9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35941AD-357B-C44A-2C65-844545D1A8D3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0A0B88F-7222-9462-3526-A25012179B81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B30B52-859D-5693-B7F7-815E89BDB5B3}"/>
              </a:ext>
            </a:extLst>
          </p:cNvPr>
          <p:cNvSpPr txBox="1"/>
          <p:nvPr/>
        </p:nvSpPr>
        <p:spPr>
          <a:xfrm>
            <a:off x="316230" y="388937"/>
            <a:ext cx="1079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12.3.1 Modeling Estimation Errors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C6A1DFB-516F-69A8-BE0B-2EA3416471ED}"/>
                  </a:ext>
                </a:extLst>
              </p:cNvPr>
              <p:cNvSpPr txBox="1"/>
              <p:nvPr/>
            </p:nvSpPr>
            <p:spPr>
              <a:xfrm>
                <a:off x="534587" y="914400"/>
                <a:ext cx="11346491" cy="43944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zh-CN" altLang="en-US" i="0"/>
                            <m:t>est</m:t>
                          </m:r>
                        </m:sup>
                      </m:sSubSup>
                      <m:r>
                        <a:rPr lang="zh-CN" altLang="en-US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zh-CN" altLang="en-US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zh-CN" alt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altLang="en-US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zh-CN" altLang="en-US" i="0"/>
                                <m:t>est</m:t>
                              </m:r>
                            </m:sup>
                          </m:sSup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zh-CN" altLang="en-US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zh-CN" altLang="en-US" i="0"/>
                                    <m:t>TTC</m:t>
                                  </m:r>
                                </m:sub>
                                <m:sup>
                                  <m:r>
                                    <m:rPr>
                                      <m:nor/>
                                    </m:rPr>
                                    <a:rPr lang="zh-CN" altLang="en-US" i="0"/>
                                    <m:t>est</m:t>
                                  </m:r>
                                </m:sup>
                              </m:sSubSup>
                            </m:den>
                          </m:f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zh-CN" altLang="en-US" i="0"/>
                                    <m:t>TTC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 </m:t>
                      </m:r>
                      <m:d>
                        <m:dPr>
                          <m:ctrlPr>
                            <a:rPr lang="zh-CN" alt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12.6</m:t>
                          </m:r>
                        </m:e>
                      </m:d>
                    </m:oMath>
                  </m:oMathPara>
                </a14:m>
                <a:endParaRPr lang="zh-CN" altLang="zh-CN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E</a:t>
                </a:r>
                <a:r>
                  <a:rPr lang="zh-CN" altLang="zh-CN" dirty="0"/>
                  <a:t>stablishes the quantitative mathematical expression for the leader's speed estimation error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>
                        <m:r>
                          <m:rPr>
                            <m:nor/>
                          </m:rPr>
                          <a:rPr lang="zh-CN" altLang="en-US" i="0"/>
                          <m:t>est</m:t>
                        </m:r>
                      </m:sup>
                    </m:sSubSup>
                    <m:r>
                      <a:rPr lang="zh-CN" altLang="en-US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zh-CN" altLang="zh-CN" dirty="0"/>
                  <a:t>.</a:t>
                </a:r>
                <a:endParaRPr lang="en-US" altLang="zh-CN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M</a:t>
                </a:r>
                <a:r>
                  <a:rPr lang="zh-CN" altLang="zh-CN" dirty="0"/>
                  <a:t>ap the standard deviation of optical angle perception error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zh-CN" altLang="zh-CN" dirty="0"/>
                  <a:t>into a physical speed estimation error for the leading vehicle.</a:t>
                </a:r>
                <a:endParaRPr lang="en-US" altLang="zh-CN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US" altLang="zh-CN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zh-CN" altLang="zh-CN" dirty="0"/>
                  <a:t>Assuming the driver knows own speed accurately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m:rPr>
                            <m:nor/>
                          </m:rPr>
                          <a:rPr lang="zh-CN" altLang="en-US" i="0"/>
                          <m:t>est</m:t>
                        </m:r>
                      </m:sup>
                    </m:sSup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zh-CN" dirty="0"/>
                  <a:t>), the leader's speed error equals the negative relative speed error: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>
                        <m:r>
                          <m:rPr>
                            <m:nor/>
                          </m:rPr>
                          <a:rPr lang="zh-CN" altLang="en-US" i="0"/>
                          <m:t>est</m:t>
                        </m:r>
                      </m:sup>
                    </m:sSubSup>
                    <m:r>
                      <a:rPr lang="zh-CN" altLang="en-US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zh-CN" altLang="en-US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zh-CN" altLang="en-US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zh-CN" altLang="en-US" i="0"/>
                              <m:t>est</m:t>
                            </m:r>
                          </m:sup>
                        </m:sSup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zh-CN" altLang="en-US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zh-CN" altLang="zh-CN" dirty="0"/>
                  <a:t>Using the relationship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en-US" i="0"/>
                              <m:t>TTC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dirty="0"/>
                  <a:t>, expand the difference: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>
                        <a:latin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m:rPr>
                            <m:nor/>
                          </m:rPr>
                          <a:rPr lang="zh-CN" altLang="en-US" i="0"/>
                          <m:t>est</m:t>
                        </m:r>
                      </m:sup>
                    </m:sSup>
                    <m:r>
                      <a:rPr lang="zh-CN" altLang="en-US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zh-CN" alt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en-US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Sup>
                              <m:sSubSup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zh-CN" altLang="en-US" i="0"/>
                                  <m:t>TTC</m:t>
                                </m:r>
                              </m:sub>
                              <m:sup>
                                <m:r>
                                  <m:rPr>
                                    <m:nor/>
                                  </m:rPr>
                                  <a:rPr lang="zh-CN" altLang="en-US" i="0"/>
                                  <m:t>est</m:t>
                                </m:r>
                              </m:sup>
                            </m:sSubSup>
                          </m:den>
                        </m:f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en-US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zh-CN" altLang="en-US" i="0"/>
                                  <m:t>TTC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zh-CN" altLang="zh-CN" dirty="0"/>
                  <a:t>.</a:t>
                </a:r>
                <a:endParaRPr lang="en-US" altLang="zh-CN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zh-CN" altLang="zh-CN" dirty="0"/>
                  <a:t>According to psychological experiments, the rate error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Sup>
                          <m:sSub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en-US" i="0"/>
                              <m:t>TTC</m:t>
                            </m:r>
                          </m:sub>
                          <m:sup>
                            <m:r>
                              <m:rPr>
                                <m:nor/>
                              </m:rPr>
                              <a:rPr lang="zh-CN" altLang="en-US" i="0"/>
                              <m:t>est</m:t>
                            </m:r>
                          </m:sup>
                        </m:sSubSup>
                      </m:den>
                    </m:f>
                    <m:r>
                      <a:rPr lang="zh-CN" altLang="en-US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zh-CN" altLang="en-US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en-US" i="0"/>
                              <m:t>TTC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dirty="0"/>
                  <a:t>has constant standard deviation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zh-CN" altLang="zh-CN" dirty="0"/>
                  <a:t>, represented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zh-CN" dirty="0"/>
                  <a:t>.</a:t>
                </a:r>
                <a:endParaRPr lang="en-US" altLang="zh-CN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zh-CN" altLang="zh-CN" dirty="0"/>
                  <a:t>Substituting and simplifying yields formula (12.6):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>
                        <m:r>
                          <m:rPr>
                            <m:nor/>
                          </m:rPr>
                          <a:rPr lang="zh-CN" altLang="en-US" i="0"/>
                          <m:t>est</m:t>
                        </m:r>
                      </m:sup>
                    </m:sSubSup>
                    <m:r>
                      <a:rPr lang="zh-CN" altLang="en-US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=−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zh-CN" dirty="0"/>
                  <a:t>.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C6A1DFB-516F-69A8-BE0B-2EA3416471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587" y="914400"/>
                <a:ext cx="11346491" cy="4394408"/>
              </a:xfrm>
              <a:prstGeom prst="rect">
                <a:avLst/>
              </a:prstGeom>
              <a:blipFill>
                <a:blip r:embed="rId3"/>
                <a:stretch>
                  <a:fillRect l="-376" r="-269" b="-12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3420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46C24E-5209-73CD-0673-36A7501D9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82EFFA-B6CA-E43C-3A5A-249BFCC9AC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D666E4F-8198-4E57-61B0-91EFF4917B84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09DEBE9-BBF9-44D6-B670-52C821661076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3B9C75B-C980-3406-7E8D-6FE16FDD657F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113EEC2-7603-058D-B14A-EA55FEAC4E0A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34DC974-FF18-EB6A-5DF1-08A90C9C9EBB}"/>
              </a:ext>
            </a:extLst>
          </p:cNvPr>
          <p:cNvSpPr txBox="1"/>
          <p:nvPr/>
        </p:nvSpPr>
        <p:spPr>
          <a:xfrm>
            <a:off x="316230" y="388937"/>
            <a:ext cx="1079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12.3.1 Modeling Estimation Errors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B940D48-E93A-B1D4-BFC8-E3A20200E846}"/>
                  </a:ext>
                </a:extLst>
              </p:cNvPr>
              <p:cNvSpPr txBox="1"/>
              <p:nvPr/>
            </p:nvSpPr>
            <p:spPr>
              <a:xfrm>
                <a:off x="534587" y="914400"/>
                <a:ext cx="11346491" cy="5056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zh-CN" sz="2400" b="1" dirty="0"/>
                  <a:t>Definition of Standardized Gaussian Stochastic Proces</a:t>
                </a:r>
                <a:r>
                  <a:rPr lang="en-US" altLang="zh-CN" sz="2400" b="1" dirty="0"/>
                  <a:t>:</a:t>
                </a:r>
                <a:endParaRPr lang="en-US" altLang="zh-CN" sz="2400" b="1" i="1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zh-CN" altLang="en-US" sz="24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, </m:t>
                      </m:r>
                      <m:d>
                        <m:dPr>
                          <m:begChr m:val="⟨"/>
                          <m:endChr m:val="⟩"/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d>
                            <m:d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=0, </m:t>
                      </m:r>
                      <m:d>
                        <m:dPr>
                          <m:begChr m:val="⟨"/>
                          <m:endChr m:val="⟩"/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=1 </m:t>
                      </m:r>
                      <m:d>
                        <m:dPr>
                          <m:ctrlPr>
                            <a:rPr lang="zh-CN" altLang="en-US" sz="24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12.7</m:t>
                          </m:r>
                        </m:e>
                      </m:d>
                    </m:oMath>
                  </m:oMathPara>
                </a14:m>
                <a:endParaRPr lang="zh-CN" altLang="zh-CN" sz="2400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S</a:t>
                </a:r>
                <a:r>
                  <a:rPr lang="zh-CN" altLang="zh-CN" sz="2400" dirty="0"/>
                  <a:t>tationary probability distribution of the stochastic error process 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zh-CN" sz="2400" dirty="0"/>
                  <a:t>as a standardized Gaussian distribution.</a:t>
                </a:r>
                <a:endParaRPr lang="en-US" altLang="zh-CN" sz="2400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E</a:t>
                </a:r>
                <a:r>
                  <a:rPr lang="zh-CN" altLang="zh-CN" sz="2400" dirty="0"/>
                  <a:t>nsure that perception errors are statistically unbiased (zero mean) with normalized unit variance.</a:t>
                </a:r>
                <a:endParaRPr lang="en-US" altLang="zh-CN" sz="2400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US" altLang="zh-CN" sz="2400" dirty="0"/>
              </a:p>
              <a:p>
                <a:pPr marL="0" lvl="1"/>
                <a:r>
                  <a:rPr lang="zh-CN" altLang="zh-CN" sz="2400" b="1" dirty="0"/>
                  <a:t>Autocorrelation Function of Estimation Errors</a:t>
                </a:r>
                <a:r>
                  <a:rPr lang="en-US" altLang="zh-CN" sz="2400" b="1" dirty="0"/>
                  <a:t>:</a:t>
                </a:r>
              </a:p>
              <a:p>
                <a:pPr marL="0" lvl="1"/>
                <a14:m>
                  <m:oMathPara xmlns:m="http://schemas.openxmlformats.org/officeDocument/2006/math">
                    <m:oMath>
                      <m:d>
                        <m:dPr>
                          <m:begChr m:val="⟨"/>
                          <m:endChr m:val="⟩"/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d>
                            <m:d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d>
                            <m:d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4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40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zh-CN" alt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zh-CN" altLang="en-US" sz="240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zh-CN" altLang="en-US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zh-CN" altLang="en-US" sz="240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e>
                                  </m:d>
                                </m:num>
                                <m:den>
                                  <m:acc>
                                    <m:accPr>
                                      <m:chr m:val="˜"/>
                                      <m:ctrlPr>
                                        <a:rPr lang="zh-CN" alt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2400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</m:acc>
                                </m:den>
                              </m:f>
                            </m:e>
                          </m:d>
                        </m:e>
                      </m:func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 </m:t>
                      </m:r>
                      <m:d>
                        <m:dPr>
                          <m:ctrlPr>
                            <a:rPr lang="zh-CN" altLang="en-US" sz="24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12.8</m:t>
                          </m:r>
                        </m:e>
                      </m:d>
                    </m:oMath>
                  </m:oMathPara>
                </a14:m>
                <a:endParaRPr lang="zh-CN" altLang="zh-CN" sz="2400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defines the autocorrelation function of the stochastic error process 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altLang="zh-CN" sz="2400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quantitatively describe the </a:t>
                </a:r>
                <a:r>
                  <a:rPr lang="zh-CN" altLang="zh-CN" sz="2400" b="1" dirty="0"/>
                  <a:t>persistence</a:t>
                </a:r>
                <a:r>
                  <a:rPr lang="zh-CN" altLang="zh-CN" sz="2400" dirty="0"/>
                  <a:t> of human driving errors—if a gap is underestimated now, it is likely underestimated in the next second as well.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B940D48-E93A-B1D4-BFC8-E3A20200E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587" y="914400"/>
                <a:ext cx="11346491" cy="5056256"/>
              </a:xfrm>
              <a:prstGeom prst="rect">
                <a:avLst/>
              </a:prstGeom>
              <a:blipFill>
                <a:blip r:embed="rId3"/>
                <a:stretch>
                  <a:fillRect l="-860" t="-965" r="-699" b="-18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8873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254840-D94F-235F-5ADC-FDF7F76A9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7D9A0B-6228-95BA-8EC9-30BE2F5FD3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571648A-8CAB-5B2C-D5B1-393CE449A2FE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F52E5D5-25EF-AA6C-4A72-B9415ADE3979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2099CEE-8B44-BA7B-1184-7F7DDF7BFC14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CC35FFA-857A-6CDB-3016-9E3E39C4787E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67D611D-D8E3-7CE3-3F98-D58A6CC3657D}"/>
              </a:ext>
            </a:extLst>
          </p:cNvPr>
          <p:cNvSpPr txBox="1"/>
          <p:nvPr/>
        </p:nvSpPr>
        <p:spPr>
          <a:xfrm>
            <a:off x="316230" y="388937"/>
            <a:ext cx="1079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12.3.1 Modeling Estimation Errors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B31049C-F701-EE2D-205D-9A83ECC6B88D}"/>
                  </a:ext>
                </a:extLst>
              </p:cNvPr>
              <p:cNvSpPr txBox="1"/>
              <p:nvPr/>
            </p:nvSpPr>
            <p:spPr>
              <a:xfrm>
                <a:off x="534587" y="914400"/>
                <a:ext cx="11346491" cy="45525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/>
                  <a:t>SDE for the Wiener Process:</a:t>
                </a:r>
                <a:endParaRPr lang="en-US" altLang="zh-CN" sz="2400" dirty="0"/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𝑑𝑤</m:t>
                          </m:r>
                        </m:num>
                        <m:den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acc>
                            <m:accPr>
                              <m:chr m:val="˜"/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acc>
                        </m:den>
                      </m:f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acc>
                                <m:accPr>
                                  <m:chr m:val="˜"/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acc>
                            </m:den>
                          </m:f>
                        </m:e>
                      </m:rad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𝜉</m:t>
                      </m:r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 </m:t>
                      </m:r>
                      <m:d>
                        <m:dPr>
                          <m:ctrlPr>
                            <a:rPr lang="zh-CN" altLang="en-US" sz="24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12.9</m:t>
                          </m:r>
                        </m:e>
                      </m:d>
                    </m:oMath>
                  </m:oMathPara>
                </a14:m>
                <a:endParaRPr lang="zh-CN" altLang="zh-CN" sz="2400" dirty="0"/>
              </a:p>
              <a:p>
                <a:r>
                  <a:rPr lang="zh-CN" altLang="zh-CN" sz="2400" b="1" dirty="0"/>
                  <a:t>Definition of Statistical Properties of Standardized White Noise</a:t>
                </a:r>
                <a:r>
                  <a:rPr lang="en-US" altLang="zh-CN" sz="2400" b="1" dirty="0"/>
                  <a:t>:</a:t>
                </a:r>
                <a:endParaRPr lang="en-US" altLang="zh-CN" sz="2400" b="1" i="1" dirty="0"/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⟨"/>
                          <m:endChr m:val="⟩"/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𝜉</m:t>
                          </m:r>
                          <m:d>
                            <m:d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=0, </m:t>
                      </m:r>
                      <m:d>
                        <m:dPr>
                          <m:begChr m:val="⟨"/>
                          <m:endChr m:val="⟩"/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𝜉</m:t>
                          </m:r>
                          <m:d>
                            <m:d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𝜉</m:t>
                          </m:r>
                          <m:d>
                            <m:d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 </m:t>
                      </m:r>
                      <m:d>
                        <m:dPr>
                          <m:ctrlPr>
                            <a:rPr lang="zh-CN" altLang="en-US" sz="24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12.10</m:t>
                          </m:r>
                        </m:e>
                      </m:d>
                    </m:oMath>
                  </m:oMathPara>
                </a14:m>
                <a:endParaRPr lang="en-US" altLang="zh-CN" sz="2400" dirty="0"/>
              </a:p>
              <a:p>
                <a:r>
                  <a:rPr lang="zh-CN" altLang="zh-CN" sz="2400" dirty="0"/>
                  <a:t>These two formulas establish the stochastic differential equation (SDE) generating the </a:t>
                </a:r>
                <a:r>
                  <a:rPr lang="zh-CN" altLang="zh-CN" sz="2400" b="1" dirty="0"/>
                  <a:t>Wiener process </a:t>
                </a:r>
                <a:r>
                  <a:rPr lang="zh-CN" altLang="zh-CN" sz="2400" dirty="0"/>
                  <a:t>that satisfies the stationary Gaussian distribution and exponential autocorrelation.</a:t>
                </a:r>
                <a:endParaRPr lang="en-US" altLang="zh-CN" sz="2400" dirty="0"/>
              </a:p>
              <a:p>
                <a:r>
                  <a:rPr lang="zh-CN" altLang="zh-CN" sz="2400" dirty="0"/>
                  <a:t>Its role is to provide a differential driving equation for continuously evolving estimation errors in time-continuous dynamic simulations.</a:t>
                </a: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US" altLang="zh-CN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B31049C-F701-EE2D-205D-9A83ECC6B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587" y="914400"/>
                <a:ext cx="11346491" cy="4552593"/>
              </a:xfrm>
              <a:prstGeom prst="rect">
                <a:avLst/>
              </a:prstGeom>
              <a:blipFill>
                <a:blip r:embed="rId3"/>
                <a:stretch>
                  <a:fillRect l="-860" t="-10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58634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EC552C-FDFF-21E0-D9C3-3FD456FFB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1773B4-CC14-27F8-E0D4-3A1203CFD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1D7192-57E0-F4B2-7D92-78799823ED3C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85B15DB-72D8-8F81-A71B-7CE89579353F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61087CA-457E-B194-8FA7-670B11467413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6153CFF-1EFF-B417-081A-6E092B7EA665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5A35F8-F461-4306-126D-A4582233BD40}"/>
              </a:ext>
            </a:extLst>
          </p:cNvPr>
          <p:cNvSpPr txBox="1"/>
          <p:nvPr/>
        </p:nvSpPr>
        <p:spPr>
          <a:xfrm>
            <a:off x="309652" y="119033"/>
            <a:ext cx="1079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12.3 Modeling Estimation Errors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3309D41-89A2-F783-E004-892575947EB5}"/>
                  </a:ext>
                </a:extLst>
              </p:cNvPr>
              <p:cNvSpPr txBox="1"/>
              <p:nvPr/>
            </p:nvSpPr>
            <p:spPr>
              <a:xfrm>
                <a:off x="422754" y="595811"/>
                <a:ext cx="11346491" cy="6268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latin typeface="+mn-ea"/>
                  </a:rPr>
                  <a:t>Time-Discrete Numerical Integration Scheme for the Wiener Process: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400" b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2400" b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zh-CN" altLang="en-US" sz="2400" b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400" b="0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acc>
                            <m:accPr>
                              <m:chr m:val="˜"/>
                              <m:ctrlPr>
                                <a:rPr lang="zh-CN" alt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acc>
                        </m:sup>
                      </m:sSup>
                      <m:sSub>
                        <m:sSubPr>
                          <m:ctrlP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400" b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CN" altLang="en-US" sz="2400" b="0" smtClean="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sz="2400" b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b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400" b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zh-CN" alt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acc>
                                <m:accPr>
                                  <m:chr m:val="˜"/>
                                  <m:ctrlPr>
                                    <a:rPr lang="zh-CN" alt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400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acc>
                            </m:den>
                          </m:f>
                        </m:e>
                      </m:rad>
                      <m:sSub>
                        <m:sSubPr>
                          <m:ctrlP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400" b="0" smtClean="0">
                          <a:latin typeface="Cambria Math" panose="02040503050406030204" pitchFamily="18" charset="0"/>
                        </a:rPr>
                        <m:t> </m:t>
                      </m:r>
                      <m:d>
                        <m:dPr>
                          <m:ctrlPr>
                            <a:rPr lang="zh-CN" altLang="en-US" sz="2400" b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0" smtClean="0">
                              <a:latin typeface="Cambria Math" panose="02040503050406030204" pitchFamily="18" charset="0"/>
                            </a:rPr>
                            <m:t>12.11</m:t>
                          </m:r>
                        </m:e>
                      </m:d>
                    </m:oMath>
                  </m:oMathPara>
                </a14:m>
                <a:endParaRPr lang="en-US" altLang="zh-CN" sz="2400" dirty="0">
                  <a:latin typeface="+mn-ea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+mn-ea"/>
                  </a:rPr>
                  <a:t>T</a:t>
                </a:r>
                <a:r>
                  <a:rPr lang="zh-CN" altLang="zh-CN" sz="2400" dirty="0">
                    <a:latin typeface="+mn-ea"/>
                  </a:rPr>
                  <a:t>ime-discrete numerical update rule (iterative scheme) for the Wiener process (12.9) in computer simulations.</a:t>
                </a:r>
                <a:endParaRPr lang="en-US" altLang="zh-CN" sz="2400" dirty="0">
                  <a:latin typeface="+mn-ea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+mn-ea"/>
                  </a:rPr>
                  <a:t>U</a:t>
                </a:r>
                <a:r>
                  <a:rPr lang="zh-CN" altLang="zh-CN" sz="2400" dirty="0">
                    <a:latin typeface="+mn-ea"/>
                  </a:rPr>
                  <a:t>pdate the error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2400" dirty="0">
                    <a:latin typeface="+mn-ea"/>
                  </a:rPr>
                  <a:t>at each calculation step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400" b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zh-CN" sz="2400" dirty="0">
                    <a:latin typeface="+mn-ea"/>
                  </a:rPr>
                  <a:t>using pseudo-random number generators.</a:t>
                </a:r>
              </a:p>
              <a:p>
                <a:r>
                  <a:rPr lang="en-US" altLang="zh-CN" sz="2400" b="1" dirty="0">
                    <a:latin typeface="+mn-ea"/>
                  </a:rPr>
                  <a:t>Imperfect Car-Following Acceleration Model Equation with Perception Errors and Acceleration Noise:</a:t>
                </a:r>
                <a:endParaRPr lang="en-US" altLang="zh-CN" sz="2400" b="1" i="1" dirty="0">
                  <a:latin typeface="+mn-ea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̇"/>
                          <m:ctrlP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d>
                        <m:dPr>
                          <m:ctrlP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sz="2400" b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zh-CN" altLang="en-US" sz="2400" i="0">
                              <a:latin typeface="+mn-ea"/>
                            </a:rPr>
                            <m:t>mic</m:t>
                          </m:r>
                        </m:sub>
                      </m:sSub>
                      <m:d>
                        <m:dPr>
                          <m:ctrlP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zh-CN" altLang="en-US" sz="2400" i="0">
                                  <a:latin typeface="+mn-ea"/>
                                </a:rPr>
                                <m:t>est</m:t>
                              </m:r>
                            </m:sup>
                          </m:sSup>
                          <m:r>
                            <a:rPr lang="zh-CN" altLang="en-US" sz="2400" b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zh-CN" altLang="en-US" sz="2400" b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zh-CN" alt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zh-CN" altLang="en-US" sz="2400" i="0">
                                  <a:latin typeface="+mn-ea"/>
                                </a:rPr>
                                <m:t>est</m:t>
                              </m:r>
                            </m:sup>
                          </m:sSubSup>
                        </m:e>
                      </m:d>
                      <m:r>
                        <a:rPr lang="zh-CN" altLang="en-US" sz="2400" b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sSub>
                        <m:sSubPr>
                          <m:ctrlP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sz="2400" b="0" smtClean="0">
                          <a:latin typeface="Cambria Math" panose="02040503050406030204" pitchFamily="18" charset="0"/>
                        </a:rPr>
                        <m:t> </m:t>
                      </m:r>
                      <m:d>
                        <m:dPr>
                          <m:ctrlPr>
                            <a:rPr lang="zh-CN" altLang="en-US" sz="2400" b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0" smtClean="0">
                              <a:latin typeface="Cambria Math" panose="02040503050406030204" pitchFamily="18" charset="0"/>
                            </a:rPr>
                            <m:t>12.12</m:t>
                          </m:r>
                        </m:e>
                      </m:d>
                    </m:oMath>
                  </m:oMathPara>
                </a14:m>
                <a:endParaRPr lang="en-US" altLang="zh-CN" sz="2400" dirty="0">
                  <a:latin typeface="+mn-ea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+mn-ea"/>
                  </a:rPr>
                  <a:t>S</a:t>
                </a:r>
                <a:r>
                  <a:rPr lang="zh-CN" altLang="zh-CN" sz="2400" dirty="0">
                    <a:latin typeface="+mn-ea"/>
                  </a:rPr>
                  <a:t>hows the final car-following acceleration equation integrating input perception errors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m:rPr>
                            <m:nor/>
                          </m:rPr>
                          <a:rPr lang="zh-CN" altLang="en-US" sz="2400" i="0">
                            <a:latin typeface="+mn-ea"/>
                          </a:rPr>
                          <m:t>est</m:t>
                        </m:r>
                      </m:sup>
                    </m:sSup>
                    <m:r>
                      <a:rPr lang="zh-CN" altLang="en-US" sz="2400" b="0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>
                        <m:r>
                          <m:rPr>
                            <m:nor/>
                          </m:rPr>
                          <a:rPr lang="zh-CN" altLang="en-US" sz="2400" i="0">
                            <a:latin typeface="+mn-ea"/>
                          </a:rPr>
                          <m:t>est</m:t>
                        </m:r>
                      </m:sup>
                    </m:sSubSup>
                  </m:oMath>
                </a14:m>
                <a:r>
                  <a:rPr lang="zh-CN" altLang="zh-CN" sz="2400" dirty="0">
                    <a:latin typeface="+mn-ea"/>
                  </a:rPr>
                  <a:t>) and output imperfect execution noise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zh-CN" sz="2400" dirty="0">
                    <a:latin typeface="+mn-ea"/>
                  </a:rPr>
                  <a:t>).</a:t>
                </a:r>
                <a:endParaRPr lang="en-US" altLang="zh-CN" sz="2400" dirty="0">
                  <a:latin typeface="+mn-ea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+mn-ea"/>
                  </a:rPr>
                  <a:t>C</a:t>
                </a:r>
                <a:r>
                  <a:rPr lang="zh-CN" altLang="zh-CN" sz="2400" dirty="0">
                    <a:latin typeface="+mn-ea"/>
                  </a:rPr>
                  <a:t>onstruct a high-fidelity psycho-physiological imperfect car-following model.</a:t>
                </a:r>
                <a:endParaRPr lang="en-US" altLang="zh-CN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3309D41-89A2-F783-E004-892575947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54" y="595811"/>
                <a:ext cx="11346491" cy="6268767"/>
              </a:xfrm>
              <a:prstGeom prst="rect">
                <a:avLst/>
              </a:prstGeom>
              <a:blipFill>
                <a:blip r:embed="rId3"/>
                <a:stretch>
                  <a:fillRect l="-806" t="-778" b="-13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6348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071E2D-405B-D325-2977-28C4727C9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1A912A-DBF5-952F-5615-D2DC53EABA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AC4065D-969E-FD97-1FF5-4FC3408F716C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4EA5A1E-9371-4116-9134-B810B12740AD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6842296-EA2D-94DD-CA8C-641947FCEBC3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87D0E28-77E0-5EBE-E7B3-99F30B12BAD0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FB16BAD-E5C0-AC71-E23D-3B116A48C26C}"/>
              </a:ext>
            </a:extLst>
          </p:cNvPr>
          <p:cNvSpPr txBox="1"/>
          <p:nvPr/>
        </p:nvSpPr>
        <p:spPr>
          <a:xfrm>
            <a:off x="309652" y="119033"/>
            <a:ext cx="1079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12.4 Temporal Anticipation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5EBCDE1-09AB-F201-0432-48205DDB4454}"/>
              </a:ext>
            </a:extLst>
          </p:cNvPr>
          <p:cNvSpPr txBox="1"/>
          <p:nvPr/>
        </p:nvSpPr>
        <p:spPr>
          <a:xfrm>
            <a:off x="422754" y="595811"/>
            <a:ext cx="1166764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 defTabSz="0">
              <a:buFont typeface="Arial" panose="020B0604020202020204" pitchFamily="34" charset="0"/>
              <a:buChar char="•"/>
            </a:pPr>
            <a:r>
              <a:rPr lang="zh-CN" altLang="zh-CN" sz="2400" dirty="0"/>
              <a:t>Simulations show that ACC-like car-following models with reaction-time delays are highly prone to crashes at small gaps.</a:t>
            </a:r>
          </a:p>
          <a:p>
            <a:pPr marL="285750" lvl="1" indent="-285750" defTabSz="0">
              <a:buFont typeface="Arial" panose="020B0604020202020204" pitchFamily="34" charset="0"/>
              <a:buChar char="•"/>
            </a:pPr>
            <a:r>
              <a:rPr lang="zh-CN" altLang="zh-CN" sz="2400" dirty="0"/>
              <a:t>In reality, however, human drivers remain crash-free and oscillation-free even when the average time gap is smaller than the reaction time.</a:t>
            </a:r>
          </a:p>
          <a:p>
            <a:pPr marL="285750" lvl="1" indent="-285750" defTabSz="0">
              <a:buFont typeface="Arial" panose="020B0604020202020204" pitchFamily="34" charset="0"/>
              <a:buChar char="•"/>
            </a:pPr>
            <a:r>
              <a:rPr lang="zh-CN" altLang="zh-CN" sz="2400" dirty="0"/>
              <a:t>This stability stems from drivers' forward-looking anticipation heuristics for traffic conditions in the next few seconds.</a:t>
            </a:r>
          </a:p>
          <a:p>
            <a:pPr marL="285750" lvl="1" indent="-285750" defTabSz="0">
              <a:buFont typeface="Arial" panose="020B0604020202020204" pitchFamily="34" charset="0"/>
              <a:buChar char="•"/>
            </a:pPr>
            <a:r>
              <a:rPr lang="zh-CN" altLang="zh-CN" sz="2400" dirty="0"/>
              <a:t>Drivers adopt a "constant-acceleration heuristic" for their own vehicle, performing a linear forward projection of speed.</a:t>
            </a:r>
            <a:endParaRPr lang="en-US" altLang="zh-CN" sz="2400" dirty="0"/>
          </a:p>
          <a:p>
            <a:pPr marL="285750" lvl="1" indent="-285750" defTabSz="0">
              <a:buFont typeface="Arial" panose="020B0604020202020204" pitchFamily="34" charset="0"/>
              <a:buChar char="•"/>
            </a:pPr>
            <a:r>
              <a:rPr lang="zh-CN" altLang="zh-CN" sz="2400" dirty="0"/>
              <a:t>Drivers adopt a "constant-speed heuristic" for the leading vehicle, thereby proactively estimating the future distance gap.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608397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7AC687-17C3-96A8-0F24-BC69ABE33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63886E-B6CE-17B1-CDAD-A328FCAAEC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C29E9DD-FB47-6E63-82BA-8BC7416D5050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DAB03CE-479E-3742-D29B-745C83134609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7E6FF4E-1273-7326-06C0-6D94061C4A23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0EB3567-C30B-51C5-725C-F52CFDA4A1F2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DF549B3-033D-BF5C-A62B-EDE8D7AC3838}"/>
              </a:ext>
            </a:extLst>
          </p:cNvPr>
          <p:cNvSpPr txBox="1"/>
          <p:nvPr/>
        </p:nvSpPr>
        <p:spPr>
          <a:xfrm>
            <a:off x="309652" y="119033"/>
            <a:ext cx="1079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12.4 Temporal Anticipation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62293A9-189A-3A52-0F9E-A7442512E4F3}"/>
                  </a:ext>
                </a:extLst>
              </p:cNvPr>
              <p:cNvSpPr txBox="1"/>
              <p:nvPr/>
            </p:nvSpPr>
            <p:spPr>
              <a:xfrm>
                <a:off x="422754" y="595811"/>
                <a:ext cx="11667646" cy="577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 defTabSz="0"/>
                <a:r>
                  <a:rPr lang="zh-CN" altLang="zh-CN" sz="2400" b="1" dirty="0"/>
                  <a:t>Own Speed Temporal Projection Model</a:t>
                </a:r>
                <a:r>
                  <a:rPr lang="en-US" altLang="zh-CN" sz="2400" b="1" dirty="0"/>
                  <a:t>(</a:t>
                </a:r>
                <a:r>
                  <a:rPr lang="zh-CN" altLang="zh-CN" sz="2400" b="1" dirty="0"/>
                  <a:t>Constant-Acceleration Heuristic</a:t>
                </a:r>
                <a:r>
                  <a:rPr lang="en-US" altLang="zh-CN" sz="2400" b="1" dirty="0"/>
                  <a:t>):</a:t>
                </a:r>
              </a:p>
              <a:p>
                <a:pPr marL="0" lvl="1" defTabSz="0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zh-CN" altLang="en-US" sz="2400" i="0"/>
                            <m:t>prog</m:t>
                          </m:r>
                        </m:sup>
                      </m:sSup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zh-CN" altLang="en-US" sz="2400" i="0"/>
                            <m:t>est</m:t>
                          </m:r>
                        </m:sup>
                      </m:sSup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acc>
                        <m:accPr>
                          <m:chr m:val="̇"/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 </m:t>
                      </m:r>
                      <m:d>
                        <m:dPr>
                          <m:ctrlPr>
                            <a:rPr lang="zh-CN" altLang="en-US" sz="24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12.13</m:t>
                          </m:r>
                        </m:e>
                      </m:d>
                    </m:oMath>
                  </m:oMathPara>
                </a14:m>
                <a:endParaRPr lang="zh-CN" altLang="zh-CN" sz="2400" dirty="0"/>
              </a:p>
              <a:p>
                <a:pPr marL="285750" lvl="1" indent="-285750" defTabSz="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Driver's forward projection model for own vehicle speed at the current time</a:t>
                </a:r>
              </a:p>
              <a:p>
                <a:pPr marL="285750" lvl="1" indent="-285750" defTabSz="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Its role is to compensate for the lag in own speed state caused by action delay, assuming acceleration remains constant over the reaction-time horizon.</a:t>
                </a:r>
              </a:p>
              <a:p>
                <a:pPr marL="285750" lvl="1" indent="-285750" defTabSz="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Drivers can project their predicted speed when the action takes effect at time t, based on their previous acceleration action.</a:t>
                </a:r>
              </a:p>
              <a:p>
                <a:pPr marL="0" lvl="1" defTabSz="0"/>
                <a:r>
                  <a:rPr lang="en-US" altLang="zh-CN" sz="2400" b="1" dirty="0"/>
                  <a:t>Leading Vehicle Speed and Gap Temporal Projection Model (Constant-Speed Heuristic):</a:t>
                </a:r>
              </a:p>
              <a:p>
                <a:pPr marL="0" lvl="1" defTabSz="0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zh-CN" altLang="en-US" sz="2400" i="0"/>
                            <m:t>prog</m:t>
                          </m:r>
                        </m:sup>
                      </m:sSubSup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zh-CN" altLang="en-US" sz="2400" i="0"/>
                            <m:t>est</m:t>
                          </m:r>
                        </m:sup>
                      </m:sSubSup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, </m:t>
                      </m:r>
                      <m:sSup>
                        <m:sSup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zh-CN" altLang="en-US" sz="2400" i="0"/>
                            <m:t>prog</m:t>
                          </m:r>
                        </m:sup>
                      </m:sSup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zh-CN" altLang="en-US" sz="2400" i="0"/>
                            <m:t>est</m:t>
                          </m:r>
                        </m:sup>
                      </m:sSup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altLang="en-US" sz="240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zh-CN" altLang="en-US" sz="2400" i="0"/>
                            <m:t>est</m:t>
                          </m:r>
                        </m:sup>
                      </m:sSup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 </m:t>
                      </m:r>
                      <m:d>
                        <m:dPr>
                          <m:ctrlPr>
                            <a:rPr lang="zh-CN" altLang="en-US" sz="24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12.14</m:t>
                          </m:r>
                        </m:e>
                      </m:d>
                    </m:oMath>
                  </m:oMathPara>
                </a14:m>
                <a:endParaRPr lang="en-US" altLang="zh-CN" sz="2400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T</a:t>
                </a:r>
                <a:r>
                  <a:rPr lang="zh-CN" altLang="zh-CN" sz="2400" dirty="0"/>
                  <a:t>he driver's projection model for leading vehicle speed and future distance gap.</a:t>
                </a: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C</a:t>
                </a:r>
                <a:r>
                  <a:rPr lang="zh-CN" altLang="zh-CN" sz="2400" dirty="0"/>
                  <a:t>onvert relative speed into a linear forward gap correction via constant leader speed assumption, preventing rear-end collisions.</a:t>
                </a: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D</a:t>
                </a:r>
                <a:r>
                  <a:rPr lang="zh-CN" altLang="zh-CN" sz="2400" dirty="0"/>
                  <a:t>ue to lacking precise leader acceleration info, drivers predict current available gap by subtracting the gap loss caused by relative speed over reaction time.</a:t>
                </a:r>
              </a:p>
              <a:p>
                <a:pPr marL="0" lvl="1" defTabSz="0"/>
                <a:endParaRPr lang="zh-CN" altLang="zh-CN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62293A9-189A-3A52-0F9E-A7442512E4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54" y="595811"/>
                <a:ext cx="11667646" cy="5773888"/>
              </a:xfrm>
              <a:prstGeom prst="rect">
                <a:avLst/>
              </a:prstGeom>
              <a:blipFill>
                <a:blip r:embed="rId3"/>
                <a:stretch>
                  <a:fillRect l="-784" t="-8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9635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0A5962-BD53-4926-75C6-1156E4AB1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D5CF2-0444-4390-4B06-4B3ADF61F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47703F9-5230-8468-CA07-B8A99F8DF09B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38A8A74-E9E9-55E3-038A-A95AE18A446E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7FFF746-9AE9-8E5A-D2D7-D837D59A5D1E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8EA67AC-CD81-A84C-C87A-7DC3DF0D26C1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6314E51-AEBE-A8D3-0CD9-C357F9D7106D}"/>
              </a:ext>
            </a:extLst>
          </p:cNvPr>
          <p:cNvSpPr txBox="1"/>
          <p:nvPr/>
        </p:nvSpPr>
        <p:spPr>
          <a:xfrm>
            <a:off x="230711" y="259150"/>
            <a:ext cx="1079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12.5 Multi-Vehicle Anticipation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C206017-ED59-FACC-6B89-B66C81C11948}"/>
                  </a:ext>
                </a:extLst>
              </p:cNvPr>
              <p:cNvSpPr txBox="1"/>
              <p:nvPr/>
            </p:nvSpPr>
            <p:spPr>
              <a:xfrm>
                <a:off x="422754" y="595811"/>
                <a:ext cx="11667646" cy="3813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 defTabSz="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Real human drivers not only project forward in time (temporal anticipation), but also observe several vehicles ahead whenever possible (spatial anticipation).</a:t>
                </a:r>
                <a:endParaRPr lang="en-US" altLang="zh-CN" sz="2400" dirty="0"/>
              </a:p>
              <a:p>
                <a:pPr marL="0" lvl="1" defTabSz="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In modeling, the continuous car-following acceleration function is first decomposed into free-flow acceleration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 sz="2400" i="0"/>
                          <m:t>free</m:t>
                        </m:r>
                      </m:sub>
                    </m:sSub>
                  </m:oMath>
                </a14:m>
                <a:r>
                  <a:rPr lang="zh-CN" altLang="zh-CN" sz="2400" dirty="0"/>
                  <a:t>and decelerating interaction force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 sz="2400" i="0"/>
                          <m:t>int</m:t>
                        </m:r>
                      </m:sub>
                    </m:sSub>
                  </m:oMath>
                </a14:m>
                <a:r>
                  <a:rPr lang="zh-CN" altLang="zh-CN" sz="2400" dirty="0"/>
                  <a:t>.</a:t>
                </a:r>
                <a:endParaRPr lang="en-US" altLang="zh-CN" sz="2400" dirty="0"/>
              </a:p>
              <a:p>
                <a:pPr marL="0" lvl="1" defTabSz="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Directly superimposing the interaction forces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zh-CN" sz="2400" dirty="0"/>
                  <a:t>leading vehicles would alter the traffic fundamental diagram and unphysically reduce road capacity.</a:t>
                </a:r>
                <a:endParaRPr lang="en-US" altLang="zh-CN" sz="2400" dirty="0"/>
              </a:p>
              <a:p>
                <a:pPr marL="0" lvl="1" defTabSz="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To preserve the fundamental diagram and road capacity,introduces a constant reduction factor </a:t>
                </a:r>
                <a14:m>
                  <m:oMath xmlns:m="http://schemas.openxmlformats.org/officeDocument/2006/math">
                    <m:r>
                      <a:rPr lang="zh-CN" altLang="en-US" sz="240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zh-CN" sz="2400" dirty="0"/>
                  <a:t> </a:t>
                </a:r>
                <a:r>
                  <a:rPr lang="zh-CN" altLang="zh-CN" sz="2400" dirty="0"/>
                  <a:t>and derives a fixed closed-form solution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 sz="2400" i="0"/>
                          <m:t>IDM</m:t>
                        </m:r>
                      </m:sub>
                    </m:sSub>
                  </m:oMath>
                </a14:m>
                <a:r>
                  <a:rPr lang="zh-CN" altLang="zh-CN" sz="2400" dirty="0"/>
                  <a:t>for the IDM model.Finally, complete </a:t>
                </a:r>
                <a:r>
                  <a:rPr lang="en-US" altLang="zh-CN" sz="2400" dirty="0"/>
                  <a:t>a </a:t>
                </a:r>
                <a:r>
                  <a:rPr lang="zh-CN" altLang="zh-CN" sz="2400" dirty="0"/>
                  <a:t>Human Driver Model (HDM).</a:t>
                </a:r>
              </a:p>
              <a:p>
                <a:pPr marL="285750" lvl="1" indent="-285750" defTabSz="0">
                  <a:buFont typeface="Arial" panose="020B0604020202020204" pitchFamily="34" charset="0"/>
                  <a:buChar char="•"/>
                </a:pPr>
                <a:endParaRPr lang="en-US" altLang="zh-CN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C206017-ED59-FACC-6B89-B66C81C11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54" y="595811"/>
                <a:ext cx="11667646" cy="3813032"/>
              </a:xfrm>
              <a:prstGeom prst="rect">
                <a:avLst/>
              </a:prstGeom>
              <a:blipFill>
                <a:blip r:embed="rId3"/>
                <a:stretch>
                  <a:fillRect l="-784" t="-1280" r="-2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1608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0DC676-AF30-8E81-999A-BEC9B2874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FFE941-EF2A-67BC-A270-F47B2B55AE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0BA165C-CEC7-92D5-067C-669EC92139F8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A8C54D7-A93B-FA0C-E849-BBCF04AF3FA8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8FAE221-B52D-36C5-3EC8-98DE929459BD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8281D91-DF5A-AC60-03F4-E919A48E90CF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F5F5D36-1A00-DEBC-BA38-CEDB58494ECF}"/>
              </a:ext>
            </a:extLst>
          </p:cNvPr>
          <p:cNvSpPr txBox="1"/>
          <p:nvPr/>
        </p:nvSpPr>
        <p:spPr>
          <a:xfrm>
            <a:off x="309652" y="119033"/>
            <a:ext cx="1079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</a:rPr>
              <a:t>12.5 Multi-Vehicle Anticipation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D2C14F4-4C48-3DC2-88AC-0691497DE12C}"/>
                  </a:ext>
                </a:extLst>
              </p:cNvPr>
              <p:cNvSpPr txBox="1"/>
              <p:nvPr/>
            </p:nvSpPr>
            <p:spPr>
              <a:xfrm>
                <a:off x="422754" y="595811"/>
                <a:ext cx="11667646" cy="5982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 defTabSz="0"/>
                <a:r>
                  <a:rPr lang="en-US" altLang="zh-CN" sz="2400" b="1" dirty="0"/>
                  <a:t>Free-flow and Interaction Acceleration Decomposition Model:</a:t>
                </a:r>
                <a:endParaRPr lang="en-US" altLang="zh-CN" dirty="0"/>
              </a:p>
              <a:p>
                <a:pPr marL="0" lvl="1" defTabSz="0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zh-CN" altLang="en-US" i="0"/>
                            <m:t>mic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zh-CN" altLang="en-US" i="0"/>
                            <m:t>free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zh-CN" altLang="en-US" i="0"/>
                            <m:t>int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, 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zh-CN" altLang="en-US" i="0"/>
                            <m:t>free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zh-CN" altLang="en-US" i="0"/>
                                <m:t>mic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zh-CN" altLang="en-US">
                          <a:latin typeface="Cambria Math" panose="02040503050406030204" pitchFamily="18" charset="0"/>
                        </a:rPr>
                        <m:t> </m:t>
                      </m:r>
                      <m:d>
                        <m:dPr>
                          <m:ctrlPr>
                            <a:rPr lang="zh-CN" alt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12.15</m:t>
                          </m:r>
                        </m:e>
                      </m:d>
                    </m:oMath>
                  </m:oMathPara>
                </a14:m>
                <a:endParaRPr lang="zh-CN" altLang="zh-CN" dirty="0"/>
              </a:p>
              <a:p>
                <a:pPr marL="0" lvl="1" defTabSz="540000"/>
                <a:r>
                  <a:rPr lang="en-US" altLang="zh-CN" sz="2400" dirty="0"/>
                  <a:t>	D</a:t>
                </a:r>
                <a:r>
                  <a:rPr lang="zh-CN" altLang="zh-CN" sz="2400" dirty="0"/>
                  <a:t>ecomposes the continuous car-following acceleration into a "free-flow acceleration" driving the driver to the desired speed and a decelerating "social interaction force," establishing a structural foundation for multi-vehicle social force superposition.</a:t>
                </a:r>
                <a:endParaRPr lang="en-US" altLang="zh-CN" sz="2400" dirty="0"/>
              </a:p>
              <a:p>
                <a:pPr marL="0" lvl="1" defTabSz="0"/>
                <a:r>
                  <a:rPr lang="zh-CN" altLang="zh-CN" sz="2400" b="1" dirty="0"/>
                  <a:t>Uncorrected Naive Multi-Anticipation Acceleration Equation</a:t>
                </a:r>
                <a:r>
                  <a:rPr lang="en-US" altLang="zh-CN" sz="2400" b="1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zh-CN" alt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zh-CN" altLang="en-US" i="0"/>
                            <m:t>free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zh-CN" altLang="en-US" i="0"/>
                                <m:t>int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𝛼𝛽</m:t>
                              </m:r>
                            </m:sub>
                          </m:sSub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, 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𝛼𝛽</m:t>
                          </m:r>
                        </m:sub>
                      </m:sSub>
                      <m:r>
                        <a:rPr lang="zh-CN" altLang="en-US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zh-CN" altLang="en-US">
                          <a:latin typeface="Cambria Math" panose="02040503050406030204" pitchFamily="18" charset="0"/>
                        </a:rPr>
                        <m:t> </m:t>
                      </m:r>
                      <m:d>
                        <m:dPr>
                          <m:ctrlPr>
                            <a:rPr lang="zh-CN" alt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12.16</m:t>
                          </m:r>
                        </m:e>
                      </m:d>
                    </m:oMath>
                  </m:oMathPara>
                </a14:m>
                <a:endParaRPr lang="zh-CN" altLang="zh-CN" dirty="0"/>
              </a:p>
              <a:p>
                <a:pPr marL="0" lvl="1" defTabSz="540000"/>
                <a:r>
                  <a:rPr lang="en-US" altLang="zh-CN" sz="2400" dirty="0"/>
                  <a:t>	E</a:t>
                </a:r>
                <a:r>
                  <a:rPr lang="zh-CN" altLang="zh-CN" sz="2400" dirty="0"/>
                  <a:t>xpands driver attention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zh-CN" sz="2400" dirty="0"/>
                  <a:t>leading vehicles, calculating car-following acceleration under multi-vehicle influence using unshielded linear superposition from physics.</a:t>
                </a:r>
                <a:endParaRPr lang="en-US" altLang="zh-CN" sz="2400" dirty="0"/>
              </a:p>
              <a:p>
                <a:pPr marL="0" lvl="1" defTabSz="540000"/>
                <a:r>
                  <a:rPr lang="zh-CN" altLang="zh-CN" sz="2400" b="1" dirty="0"/>
                  <a:t>Steady-State Equilibrium Fundamental Diagram Conservation Condition Equation</a:t>
                </a:r>
                <a:r>
                  <a:rPr lang="en-US" altLang="zh-CN" sz="2400" b="1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nary>
                        <m:naryPr>
                          <m:chr m:val="∑"/>
                          <m:limLoc m:val="undOvr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zh-CN" altLang="en-US" i="0"/>
                                <m:t>int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zh-CN" altLang="en-US" i="0"/>
                            <m:t>int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 </m:t>
                      </m:r>
                      <m:d>
                        <m:dPr>
                          <m:ctrlPr>
                            <a:rPr lang="zh-CN" alt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12.17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defTabSz="540000"/>
                <a:r>
                  <a:rPr lang="en-US" altLang="zh-CN" dirty="0"/>
                  <a:t>	</a:t>
                </a:r>
                <a:r>
                  <a:rPr lang="zh-CN" altLang="zh-CN" dirty="0"/>
                  <a:t>It sets steady-state constraints for solving the reduction factor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zh-CN" altLang="zh-CN" dirty="0"/>
                  <a:t>, ensuring that equilibrium distance gap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zh-CN" altLang="zh-CN" dirty="0"/>
                  <a:t>and road capacity (fundamental diagram) remain unchanged after incorporating multi-anticipation.</a:t>
                </a:r>
              </a:p>
              <a:p>
                <a:pPr marL="0" lvl="1" defTabSz="540000"/>
                <a:endParaRPr lang="zh-CN" altLang="zh-CN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D2C14F4-4C48-3DC2-88AC-0691497DE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54" y="595811"/>
                <a:ext cx="11667646" cy="5982472"/>
              </a:xfrm>
              <a:prstGeom prst="rect">
                <a:avLst/>
              </a:prstGeom>
              <a:blipFill>
                <a:blip r:embed="rId3"/>
                <a:stretch>
                  <a:fillRect l="-784" t="-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341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548DAF-E54C-4389-93F3-6F73F3E9C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719AB1-B773-2250-9B98-2DA591EAB3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D3B435F-58AC-A296-8EE3-965DFA0114A9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AEC1E3D-E9CD-AF73-50A1-98A56ADE17CC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A580083-FB3B-61DB-2662-CB277F43C155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41AB56F-C010-6355-A696-F83012566727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B045986-EE9E-20F2-4443-0C13262E19E0}"/>
              </a:ext>
            </a:extLst>
          </p:cNvPr>
          <p:cNvSpPr txBox="1"/>
          <p:nvPr/>
        </p:nvSpPr>
        <p:spPr>
          <a:xfrm>
            <a:off x="309652" y="119033"/>
            <a:ext cx="1079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</a:rPr>
              <a:t>12.5 Multi-Vehicle Anticipation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921E1C9-9E6A-4A24-5D52-9D6B2EF4E723}"/>
                  </a:ext>
                </a:extLst>
              </p:cNvPr>
              <p:cNvSpPr txBox="1"/>
              <p:nvPr/>
            </p:nvSpPr>
            <p:spPr>
              <a:xfrm>
                <a:off x="422754" y="595811"/>
                <a:ext cx="11667646" cy="57976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zh-CN" sz="2400" b="1" dirty="0"/>
                  <a:t>General Normalized Multi-Anticipative Car-Following Acceleration Mode</a:t>
                </a:r>
                <a:r>
                  <a:rPr lang="en-US" altLang="zh-CN" sz="2400" b="1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zh-CN" altLang="en-US" i="0"/>
                            <m:t>multi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sub>
                              </m:sSub>
                            </m:e>
                          </m:d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zh-CN" altLang="en-US" i="0"/>
                            <m:t>free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𝑐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zh-CN" altLang="en-US" i="0"/>
                                <m:t>int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𝛼𝛽</m:t>
                              </m:r>
                            </m:sub>
                          </m:sSub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 </m:t>
                      </m:r>
                      <m:d>
                        <m:dPr>
                          <m:ctrlPr>
                            <a:rPr lang="zh-CN" alt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12.19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r>
                  <a:rPr lang="en-US" altLang="zh-CN" sz="2400" dirty="0"/>
                  <a:t>	P</a:t>
                </a:r>
                <a:r>
                  <a:rPr lang="zh-CN" altLang="zh-CN" sz="2400" dirty="0"/>
                  <a:t>rovides the general multi-vehicle spatial anticipation car-following acceleration function incorporating the capacity-preserving reduction factor </a:t>
                </a:r>
                <a14:m>
                  <m:oMath xmlns:m="http://schemas.openxmlformats.org/officeDocument/2006/math">
                    <m:r>
                      <a:rPr lang="zh-CN" altLang="en-US" sz="240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zh-CN" sz="2400" dirty="0"/>
                  <a:t>.</a:t>
                </a:r>
                <a:endParaRPr lang="en-US" altLang="zh-CN" sz="2400" dirty="0"/>
              </a:p>
              <a:p>
                <a:r>
                  <a:rPr lang="zh-CN" altLang="zh-CN" sz="2400" b="1" dirty="0"/>
                  <a:t>Human Driver Model Overall Acceleration Control Equation / HDM</a:t>
                </a:r>
                <a:r>
                  <a:rPr lang="en-US" altLang="zh-CN" sz="2400" b="1" dirty="0"/>
                  <a:t>:</a:t>
                </a:r>
                <a:endParaRPr lang="zh-CN" altLang="zh-CN" sz="2400" b="1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̇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zh-CN" altLang="en-US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zh-CN" altLang="en-US" i="0"/>
                            <m:t>free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zh-CN" altLang="en-US" i="0"/>
                            <m:t>IDM</m:t>
                          </m:r>
                        </m:sup>
                      </m:sSubSup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zh-CN" altLang="en-US" i="0"/>
                            <m:t>IDM</m:t>
                          </m:r>
                        </m:sub>
                      </m:sSub>
                      <m:nary>
                        <m:naryPr>
                          <m:chr m:val="∑"/>
                          <m:limLoc m:val="undOvr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Sup>
                            <m:sSub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zh-CN" altLang="en-US" i="0"/>
                                <m:t>int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zh-CN" altLang="en-US" i="0"/>
                                <m:t>IDM</m:t>
                              </m:r>
                            </m:sup>
                          </m:sSubSup>
                        </m:e>
                      </m:nary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𝛼𝛽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zh-CN" altLang="en-US" i="0"/>
                                <m:t>prog</m:t>
                              </m:r>
                            </m:sup>
                          </m:sSubSup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zh-CN" altLang="en-US" i="0"/>
                                <m:t>prog</m:t>
                              </m:r>
                            </m:sup>
                          </m:sSubSup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zh-CN" altLang="en-US" i="0"/>
                                <m:t>prog</m:t>
                              </m:r>
                            </m:sup>
                          </m:sSubSup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nor/>
                        </m:rPr>
                        <a:rPr lang="zh-CN" altLang="en-US" i="0"/>
                        <m:t>HDM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 </m:t>
                      </m:r>
                      <m:d>
                        <m:dPr>
                          <m:ctrlPr>
                            <a:rPr lang="zh-CN" alt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12.20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r>
                  <a:rPr lang="zh-CN" altLang="zh-CN" sz="2400" b="1" dirty="0"/>
                  <a:t>IDM Free-Flow and Interaction Acceleration Component Equations</a:t>
                </a:r>
                <a:r>
                  <a:rPr lang="en-US" altLang="zh-CN" sz="2400" b="1" dirty="0"/>
                  <a:t>:</a:t>
                </a:r>
                <a:endParaRPr lang="zh-CN" altLang="zh-CN" sz="2400" b="1" dirty="0"/>
              </a:p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zh-CN" altLang="en-US" i="0"/>
                            <m:t>free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zh-CN" altLang="en-US" i="0"/>
                            <m:t>IDM</m:t>
                          </m:r>
                        </m:sup>
                      </m:sSubSup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zh-CN" altLang="en-US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sup>
                          </m:sSup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, </m:t>
                      </m:r>
                      <m:sSubSup>
                        <m:sSub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zh-CN" altLang="en-US" i="0"/>
                            <m:t>int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zh-CN" altLang="en-US" i="0"/>
                            <m:t>IDM</m:t>
                          </m:r>
                        </m:sup>
                      </m:sSubSup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zh-CN" altLang="en-US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  <m:r>
                                        <a:rPr lang="zh-CN" altLang="en-US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  <m:r>
                                        <a:rPr lang="zh-CN" altLang="en-US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>
                          <a:latin typeface="Cambria Math" panose="02040503050406030204" pitchFamily="18" charset="0"/>
                        </a:rPr>
                        <m:t> </m:t>
                      </m:r>
                      <m:d>
                        <m:dPr>
                          <m:ctrlPr>
                            <a:rPr lang="zh-CN" alt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12.21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r>
                  <a:rPr lang="en-US" altLang="zh-CN" sz="2400" dirty="0"/>
                  <a:t>	I</a:t>
                </a:r>
                <a:r>
                  <a:rPr lang="zh-CN" altLang="zh-CN" sz="2400" dirty="0"/>
                  <a:t>ntegrates all human factors discussed in Chap. 12 (reaction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zh-CN" altLang="zh-CN" sz="2400" dirty="0"/>
                  <a:t>, estimation errors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sz="24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zh-CN" altLang="zh-CN" sz="2400" dirty="0"/>
                  <a:t>, temporal anticipation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m:rPr>
                            <m:nor/>
                          </m:rPr>
                          <a:rPr lang="zh-CN" altLang="en-US" sz="2400" i="0"/>
                          <m:t>prog</m:t>
                        </m:r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zh-CN" altLang="en-US" sz="24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m:rPr>
                            <m:nor/>
                          </m:rPr>
                          <a:rPr lang="zh-CN" altLang="en-US" sz="2400" i="0"/>
                          <m:t>prog</m:t>
                        </m:r>
                      </m:sup>
                    </m:sSup>
                  </m:oMath>
                </a14:m>
                <a:r>
                  <a:rPr lang="zh-CN" altLang="zh-CN" sz="2400" dirty="0"/>
                  <a:t>, and spatial multi-anticipation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sz="24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 sz="2400" i="0"/>
                          <m:t>IDM</m:t>
                        </m:r>
                      </m:sub>
                    </m:sSub>
                  </m:oMath>
                </a14:m>
                <a:r>
                  <a:rPr lang="zh-CN" altLang="zh-CN" sz="2400" dirty="0"/>
                  <a:t>) into baseline IDM, constructing a high-fidelity Human Driver Model (HDM).</a:t>
                </a:r>
              </a:p>
              <a:p>
                <a:pPr marL="0" lvl="1" defTabSz="540000"/>
                <a:endParaRPr lang="zh-CN" altLang="zh-CN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921E1C9-9E6A-4A24-5D52-9D6B2EF4E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54" y="595811"/>
                <a:ext cx="11667646" cy="5797613"/>
              </a:xfrm>
              <a:prstGeom prst="rect">
                <a:avLst/>
              </a:prstGeom>
              <a:blipFill>
                <a:blip r:embed="rId3"/>
                <a:stretch>
                  <a:fillRect l="-784" t="-841" r="-13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29207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9EC58E-FFBF-BF0A-8265-C7C30A772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2182AD-96B2-F894-B235-D0732E66B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D964C1D-360B-16F2-BA64-DBBA1D5C5FA2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7F31B58-AA66-2F24-9FFA-763CFA47D35E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A6F0B8C-E272-BDF9-1859-DD3623BA9D0B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69F498B-0FD0-C8B4-67F5-F47AA28FA1B4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8540961-9672-2443-9C29-A3F0FA76B326}"/>
              </a:ext>
            </a:extLst>
          </p:cNvPr>
          <p:cNvSpPr txBox="1"/>
          <p:nvPr/>
        </p:nvSpPr>
        <p:spPr>
          <a:xfrm>
            <a:off x="177800" y="259150"/>
            <a:ext cx="1079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12.6 Brake Lights and Further Exogenous Factors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2B98547-EB31-526D-CC13-8F88F85052B1}"/>
              </a:ext>
            </a:extLst>
          </p:cNvPr>
          <p:cNvSpPr txBox="1"/>
          <p:nvPr/>
        </p:nvSpPr>
        <p:spPr>
          <a:xfrm>
            <a:off x="422754" y="595811"/>
            <a:ext cx="1166764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defTabSz="0">
              <a:buFont typeface="Arial" panose="020B0604020202020204" pitchFamily="34" charset="0"/>
              <a:buChar char="•"/>
            </a:pPr>
            <a:r>
              <a:rPr lang="en-US" altLang="zh-CN" sz="2400" dirty="0"/>
              <a:t>Brake lights, as a binary exogenous input variable, convey the leading vehicle's sharp deceleration intention to the follower.</a:t>
            </a:r>
          </a:p>
          <a:p>
            <a:pPr marL="0" lvl="1" defTabSz="0">
              <a:buFont typeface="Arial" panose="020B0604020202020204" pitchFamily="34" charset="0"/>
              <a:buChar char="•"/>
            </a:pPr>
            <a:r>
              <a:rPr lang="en-US" altLang="zh-CN" sz="2400" dirty="0"/>
              <a:t>When the leader's brake lights turn on, the follower adapts to a more defensive driving mode, such as increasing the desired time gap T or reducing comfortable deceleration b.</a:t>
            </a:r>
          </a:p>
          <a:p>
            <a:pPr marL="0" lvl="1" defTabSz="0">
              <a:buFont typeface="Arial" panose="020B0604020202020204" pitchFamily="34" charset="0"/>
              <a:buChar char="•"/>
            </a:pPr>
            <a:r>
              <a:rPr lang="en-US" altLang="zh-CN" sz="2400" dirty="0"/>
              <a:t>Tailgating behavior from the follower can also be represented by a binary exogenous variable, exerting a "forward social force" that urges the subject vehicle to accelerate or change lanes.</a:t>
            </a:r>
          </a:p>
        </p:txBody>
      </p:sp>
    </p:spTree>
    <p:extLst>
      <p:ext uri="{BB962C8B-B14F-4D97-AF65-F5344CB8AC3E}">
        <p14:creationId xmlns:p14="http://schemas.microsoft.com/office/powerpoint/2010/main" val="20682916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BDAF46-38F3-C42E-E6B5-1B0C4DDCF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DC1579-7192-52BD-4F54-03F050077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1B0731-DD60-DEA9-8782-8EE823CC2214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E68B00F-7A39-4D3E-7A14-C19B60A3E04F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1304DEF-1A79-C0CD-C0BA-E66B16FF9AF9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DE4439B-CFAF-20B4-B60A-04ED2E992398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96316A0-BDCB-7EAE-FDBC-47115650804A}"/>
              </a:ext>
            </a:extLst>
          </p:cNvPr>
          <p:cNvSpPr txBox="1"/>
          <p:nvPr/>
        </p:nvSpPr>
        <p:spPr>
          <a:xfrm>
            <a:off x="309652" y="119033"/>
            <a:ext cx="1079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</a:rPr>
              <a:t>12.6 Brake Lights and Further Exogenous Factors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BC49609-98B1-471A-A250-207F19A1FD5C}"/>
                  </a:ext>
                </a:extLst>
              </p:cNvPr>
              <p:cNvSpPr txBox="1"/>
              <p:nvPr/>
            </p:nvSpPr>
            <p:spPr>
              <a:xfrm>
                <a:off x="422754" y="595811"/>
                <a:ext cx="11667646" cy="3572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/>
                  <a:t>Leading Vehicle Brake Lights Binary Trigger Model:</a:t>
                </a:r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i="1"/>
                          </m:ctrlPr>
                        </m:sSubPr>
                        <m:e>
                          <m:r>
                            <a:rPr lang="zh-CN" altLang="en-US" i="1"/>
                            <m:t>𝑧</m:t>
                          </m:r>
                        </m:e>
                        <m:sub>
                          <m:r>
                            <a:rPr lang="zh-CN" altLang="en-US" i="1"/>
                            <m:t>𝑏</m:t>
                          </m:r>
                        </m:sub>
                      </m:sSub>
                      <m:r>
                        <a:rPr lang="zh-CN" altLang="en-US"/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/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/>
                              </m:ctrlPr>
                            </m:mPr>
                            <m:mr>
                              <m:e>
                                <m:r>
                                  <a:rPr lang="zh-CN" altLang="en-US"/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/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zh-CN" altLang="en-US" i="1"/>
                                        </m:ctrlPr>
                                      </m:accPr>
                                      <m:e>
                                        <m:r>
                                          <a:rPr lang="zh-CN" altLang="en-US" i="1"/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altLang="en-US" i="1"/>
                                      <m:t>𝑙</m:t>
                                    </m:r>
                                  </m:sub>
                                </m:sSub>
                                <m:r>
                                  <a:rPr lang="zh-CN" altLang="en-US"/>
                                  <m:t>&lt;</m:t>
                                </m:r>
                                <m:sSub>
                                  <m:sSubPr>
                                    <m:ctrlPr>
                                      <a:rPr lang="zh-CN" altLang="en-US" i="1"/>
                                    </m:ctrlPr>
                                  </m:sSubPr>
                                  <m:e>
                                    <m:r>
                                      <a:rPr lang="zh-CN" altLang="en-US" i="1"/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/>
                                      <m:t>𝑐</m:t>
                                    </m:r>
                                  </m:sub>
                                </m:sSub>
                                <m:r>
                                  <a:rPr lang="zh-CN" altLang="en-US"/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/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zh-CN" altLang="en-US"/>
                                  <m:t>otherwise.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/>
                        <m:t> </m:t>
                      </m:r>
                      <m:d>
                        <m:dPr>
                          <m:ctrlPr>
                            <a:rPr lang="zh-CN" altLang="en-US"/>
                          </m:ctrlPr>
                        </m:dPr>
                        <m:e>
                          <m:r>
                            <a:rPr lang="zh-CN" altLang="en-US"/>
                            <m:t>12.22</m:t>
                          </m:r>
                        </m:e>
                      </m:d>
                    </m:oMath>
                  </m:oMathPara>
                </a14:m>
                <a:endParaRPr lang="zh-CN" altLang="zh-CN" dirty="0"/>
              </a:p>
              <a:p>
                <a:pPr/>
                <a:endParaRPr lang="en-US" altLang="zh-CN" dirty="0"/>
              </a:p>
              <a:p>
                <a:r>
                  <a:rPr lang="en-US" altLang="zh-CN" sz="2400" dirty="0"/>
                  <a:t>	</a:t>
                </a:r>
                <a:r>
                  <a:rPr lang="zh-CN" altLang="zh-CN" sz="2400" dirty="0"/>
                  <a:t> </a:t>
                </a:r>
                <a:r>
                  <a:rPr lang="en-US" altLang="zh-CN" sz="2400" dirty="0"/>
                  <a:t>E</a:t>
                </a:r>
                <a:r>
                  <a:rPr lang="zh-CN" altLang="zh-CN" sz="2400" dirty="0"/>
                  <a:t>stablishing a logical mapping between the leader's physical acceleration and the optical brake light signal.</a:t>
                </a:r>
                <a:endParaRPr lang="en-US" altLang="zh-CN" sz="2400" dirty="0"/>
              </a:p>
              <a:p>
                <a:r>
                  <a:rPr lang="en-US" altLang="zh-CN" sz="2400" dirty="0"/>
                  <a:t>	D</a:t>
                </a:r>
                <a:r>
                  <a:rPr lang="zh-CN" altLang="zh-CN" sz="2400" dirty="0"/>
                  <a:t>iscretize the continuous leading vehicle acceleration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/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zh-CN" altLang="en-US" i="1"/>
                            </m:ctrlPr>
                          </m:accPr>
                          <m:e>
                            <m:r>
                              <a:rPr lang="zh-CN" altLang="en-US" i="1"/>
                              <m:t>𝑣</m:t>
                            </m:r>
                          </m:e>
                        </m:acc>
                      </m:e>
                      <m:sub>
                        <m:r>
                          <a:rPr lang="zh-CN" altLang="en-US" i="1"/>
                          <m:t>𝑙</m:t>
                        </m:r>
                      </m:sub>
                    </m:sSub>
                  </m:oMath>
                </a14:m>
                <a:r>
                  <a:rPr lang="zh-CN" altLang="zh-CN" sz="2400" dirty="0"/>
                  <a:t>into an explicitly observable binary signal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/>
                        </m:ctrlPr>
                      </m:sSubPr>
                      <m:e>
                        <m:r>
                          <a:rPr lang="zh-CN" altLang="en-US" i="1"/>
                          <m:t>𝑧</m:t>
                        </m:r>
                      </m:e>
                      <m:sub>
                        <m:r>
                          <a:rPr lang="zh-CN" altLang="en-US" i="1"/>
                          <m:t>𝑏</m:t>
                        </m:r>
                      </m:sub>
                    </m:sSub>
                  </m:oMath>
                </a14:m>
                <a:r>
                  <a:rPr lang="zh-CN" altLang="zh-CN" sz="2400" dirty="0"/>
                  <a:t>, triggering the follower's transition from "normal car-following" to "defensive mode“</a:t>
                </a:r>
                <a:endParaRPr lang="en-US" altLang="zh-CN" sz="2400" dirty="0"/>
              </a:p>
              <a:p>
                <a:r>
                  <a:rPr lang="en-US" altLang="zh-CN" sz="2400" dirty="0"/>
                  <a:t>	</a:t>
                </a:r>
                <a:endParaRPr lang="zh-CN" altLang="zh-CN" sz="2400" dirty="0"/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BC49609-98B1-471A-A250-207F19A1F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54" y="595811"/>
                <a:ext cx="11667646" cy="3572516"/>
              </a:xfrm>
              <a:prstGeom prst="rect">
                <a:avLst/>
              </a:prstGeom>
              <a:blipFill>
                <a:blip r:embed="rId3"/>
                <a:stretch>
                  <a:fillRect l="-784" t="-1365" r="-9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7C8B61C9-68BA-782E-779B-9762E3D827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6952" y="3843141"/>
            <a:ext cx="7838095" cy="24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0813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64819E-B75B-7EE6-471E-ECA150BF4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2630E6-9DB3-3CDC-EE11-FD73E4A4F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AB3C92A-28E6-BDE4-C525-8F3616A096D9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2AF1EB7-C624-31DE-CE98-30D94662E418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B077062-2DCE-9CEC-FF7D-008A83E7AC63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319CDB-B350-B9B4-5060-4423F70A35A1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061896A-3512-C7F7-608F-37C2025A60F0}"/>
              </a:ext>
            </a:extLst>
          </p:cNvPr>
          <p:cNvSpPr txBox="1"/>
          <p:nvPr/>
        </p:nvSpPr>
        <p:spPr>
          <a:xfrm>
            <a:off x="309652" y="119033"/>
            <a:ext cx="1079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</a:rPr>
              <a:t>12.6 Brake Lights and Further Exogenous Factors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46F7712-460C-5CF0-6EC6-2508F9EA944D}"/>
                  </a:ext>
                </a:extLst>
              </p:cNvPr>
              <p:cNvSpPr txBox="1"/>
              <p:nvPr/>
            </p:nvSpPr>
            <p:spPr>
              <a:xfrm>
                <a:off x="422754" y="595811"/>
                <a:ext cx="11667646" cy="29261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/>
                  <a:t>Follower Tailgating Binary Trigger Model</a:t>
                </a:r>
                <a14:m>
                  <m:oMath xmlns:m="http://schemas.openxmlformats.org/officeDocument/2006/math">
                    <m:r>
                      <a:rPr lang="zh-CN" altLang="en-US" sz="2400" b="1" i="1" dirty="0"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endParaRPr lang="en-US" altLang="zh-CN" sz="2400" b="1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i="1"/>
                          </m:ctrlPr>
                        </m:sSubPr>
                        <m:e>
                          <m:r>
                            <a:rPr lang="zh-CN" altLang="en-US" i="1"/>
                            <m:t>𝑧</m:t>
                          </m:r>
                        </m:e>
                        <m:sub>
                          <m:r>
                            <a:rPr lang="zh-CN" altLang="en-US" i="1"/>
                            <m:t>𝑡</m:t>
                          </m:r>
                        </m:sub>
                      </m:sSub>
                      <m:r>
                        <a:rPr lang="zh-CN" altLang="en-US"/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/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/>
                              </m:ctrlPr>
                            </m:mPr>
                            <m:mr>
                              <m:e>
                                <m:r>
                                  <a:rPr lang="zh-CN" altLang="en-US"/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/>
                                    </m:ctrlPr>
                                  </m:sSubPr>
                                  <m:e>
                                    <m:r>
                                      <a:rPr lang="zh-CN" altLang="en-US" i="1"/>
                                      <m:t>𝑠</m:t>
                                    </m:r>
                                  </m:e>
                                  <m:sub>
                                    <m:r>
                                      <a:rPr lang="zh-CN" altLang="en-US" i="1"/>
                                      <m:t>𝛼</m:t>
                                    </m:r>
                                    <m:r>
                                      <a:rPr lang="zh-CN" altLang="en-US"/>
                                      <m:t>+1</m:t>
                                    </m:r>
                                  </m:sub>
                                </m:sSub>
                                <m:r>
                                  <a:rPr lang="zh-CN" altLang="en-US"/>
                                  <m:t>/</m:t>
                                </m:r>
                                <m:sSub>
                                  <m:sSubPr>
                                    <m:ctrlPr>
                                      <a:rPr lang="zh-CN" altLang="en-US" i="1"/>
                                    </m:ctrlPr>
                                  </m:sSubPr>
                                  <m:e>
                                    <m:r>
                                      <a:rPr lang="zh-CN" altLang="en-US" i="1"/>
                                      <m:t>𝑣</m:t>
                                    </m:r>
                                  </m:e>
                                  <m:sub>
                                    <m:r>
                                      <a:rPr lang="zh-CN" altLang="en-US" i="1"/>
                                      <m:t>𝛼</m:t>
                                    </m:r>
                                    <m:r>
                                      <a:rPr lang="zh-CN" altLang="en-US"/>
                                      <m:t>+1</m:t>
                                    </m:r>
                                  </m:sub>
                                </m:sSub>
                                <m:r>
                                  <a:rPr lang="zh-CN" altLang="en-US"/>
                                  <m:t>&lt;</m:t>
                                </m:r>
                                <m:sSub>
                                  <m:sSubPr>
                                    <m:ctrlPr>
                                      <a:rPr lang="zh-CN" altLang="en-US" i="1"/>
                                    </m:ctrlPr>
                                  </m:sSubPr>
                                  <m:e>
                                    <m:r>
                                      <a:rPr lang="zh-CN" altLang="en-US" i="1"/>
                                      <m:t>𝑇</m:t>
                                    </m:r>
                                  </m:e>
                                  <m:sub>
                                    <m:r>
                                      <a:rPr lang="zh-CN" altLang="en-US" i="1"/>
                                      <m:t>𝑐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zh-CN" altLang="en-US"/>
                                  <m:t> or follower flashes headlamps</m:t>
                                </m:r>
                                <m:r>
                                  <a:rPr lang="zh-CN" altLang="en-US"/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/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zh-CN" altLang="en-US"/>
                                  <m:t>otherwise.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/>
                        <m:t> </m:t>
                      </m:r>
                      <m:d>
                        <m:dPr>
                          <m:ctrlPr>
                            <a:rPr lang="zh-CN" altLang="en-US"/>
                          </m:ctrlPr>
                        </m:dPr>
                        <m:e>
                          <m:r>
                            <a:rPr lang="zh-CN" altLang="en-US"/>
                            <m:t>12.23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r>
                  <a:rPr lang="en-US" altLang="zh-CN" sz="2400" dirty="0"/>
                  <a:t>	E</a:t>
                </a:r>
                <a:r>
                  <a:rPr lang="zh-CN" altLang="zh-CN" sz="2400" dirty="0"/>
                  <a:t>xpresses the exogenous triggering conditions when the subject vehicle is tailgated or warned by headlamp flashing from behind. </a:t>
                </a:r>
                <a:endParaRPr lang="en-US" altLang="zh-CN" sz="2400" dirty="0"/>
              </a:p>
              <a:p>
                <a:r>
                  <a:rPr lang="en-US" altLang="zh-CN" sz="2400" dirty="0"/>
                  <a:t>	I</a:t>
                </a:r>
                <a:r>
                  <a:rPr lang="zh-CN" altLang="zh-CN" sz="2400" dirty="0"/>
                  <a:t>ncorporate the "forward social force" from the rear vehicle (</a:t>
                </a:r>
                <a14:m>
                  <m:oMath xmlns:m="http://schemas.openxmlformats.org/officeDocument/2006/math">
                    <m:r>
                      <a:rPr lang="zh-CN" altLang="en-US" i="1"/>
                      <m:t>𝛼</m:t>
                    </m:r>
                    <m:r>
                      <a:rPr lang="zh-CN" altLang="en-US"/>
                      <m:t>+1</m:t>
                    </m:r>
                  </m:oMath>
                </a14:m>
                <a:r>
                  <a:rPr lang="zh-CN" altLang="zh-CN" sz="2400" dirty="0"/>
                  <a:t>) into the subject driver's decisions.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/>
                        </m:ctrlPr>
                      </m:sSubPr>
                      <m:e>
                        <m:r>
                          <a:rPr lang="zh-CN" altLang="en-US" i="1"/>
                          <m:t>𝑧</m:t>
                        </m:r>
                      </m:e>
                      <m:sub>
                        <m:r>
                          <a:rPr lang="zh-CN" altLang="en-US" i="1"/>
                          <m:t>𝑡</m:t>
                        </m:r>
                      </m:sub>
                    </m:sSub>
                    <m:r>
                      <a:rPr lang="zh-CN" altLang="en-US"/>
                      <m:t>=1</m:t>
                    </m:r>
                  </m:oMath>
                </a14:m>
                <a:r>
                  <a:rPr lang="zh-CN" altLang="zh-CN" sz="2400" dirty="0"/>
                  <a:t>, the driver adjusts parameter settings to accelerate or clear the fast lane. </a:t>
                </a:r>
                <a:r>
                  <a:rPr lang="en-US" altLang="zh-CN" sz="2400" dirty="0"/>
                  <a:t>	</a:t>
                </a:r>
                <a:endParaRPr lang="zh-CN" altLang="zh-CN" sz="2400" dirty="0"/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46F7712-460C-5CF0-6EC6-2508F9EA9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54" y="595811"/>
                <a:ext cx="11667646" cy="2926186"/>
              </a:xfrm>
              <a:prstGeom prst="rect">
                <a:avLst/>
              </a:prstGeom>
              <a:blipFill>
                <a:blip r:embed="rId3"/>
                <a:stretch>
                  <a:fillRect l="-784" t="-1667" b="-3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005D6E1F-755C-DD13-B5D6-F84DF8177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3152" y="4091107"/>
            <a:ext cx="7838095" cy="24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8356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8030DD-3B11-ECCD-15E6-A6020A689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783A38-D5EF-60D2-6B49-2ABC4C0C8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A92345-E0A7-F9C9-D2C5-CAAF08B08811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75E1B9E-3D78-FA03-553B-1A044ACC8265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DF3A6D2-773B-2FA3-019F-2DDC1115DC02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AC16890-9D2F-B763-5D87-2B77A2359037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9C53E4C-F4F4-62AF-4E42-28FB5FA435A6}"/>
              </a:ext>
            </a:extLst>
          </p:cNvPr>
          <p:cNvSpPr txBox="1"/>
          <p:nvPr/>
        </p:nvSpPr>
        <p:spPr>
          <a:xfrm>
            <a:off x="177800" y="266078"/>
            <a:ext cx="1079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12.7 Local Traffic Context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1147D4-064A-372A-DBF4-17E3FF373A3B}"/>
              </a:ext>
            </a:extLst>
          </p:cNvPr>
          <p:cNvSpPr txBox="1"/>
          <p:nvPr/>
        </p:nvSpPr>
        <p:spPr>
          <a:xfrm>
            <a:off x="101600" y="822325"/>
            <a:ext cx="1166764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zh-CN" altLang="zh-CN" sz="2400" dirty="0"/>
              <a:t>When driving for extended periods in congested or jammed traffic, driver alertness decreases, leading to reduced acceleration and increased time gaps.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zh-CN" altLang="zh-CN" sz="2400" dirty="0"/>
              <a:t>This reduced driving efficiency induced by cognitive fatigue is called the resignation effect or memory effect.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zh-CN" altLang="zh-CN" sz="2400" dirty="0"/>
              <a:t>The resignation effect causes the discharge flow downstream of a bottleneck to be significantly lower than pre-breakdown capacity, representing the classic capacity drop phenomenon in traffic physics.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zh-CN" altLang="zh-CN" sz="2400" dirty="0"/>
              <a:t>In addition, local traffic context encompasses dynamic parameter adjustments driven by exogenous factors such as variable speed limit zones, roadworks, tunnels, adverse weather, and transitions between urban and freeway environments.</a:t>
            </a:r>
          </a:p>
        </p:txBody>
      </p:sp>
    </p:spTree>
    <p:extLst>
      <p:ext uri="{BB962C8B-B14F-4D97-AF65-F5344CB8AC3E}">
        <p14:creationId xmlns:p14="http://schemas.microsoft.com/office/powerpoint/2010/main" val="15699546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CC7AB2-0AA4-EEAF-8104-40EC78416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6EDD06-ADEF-833A-1221-C02D6850DD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A8EE1F1-55E2-F2E3-2862-8CE7C69923EF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EAB6B4A-E3DF-BFE2-5D6B-380E501D6610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44DC365-8E06-3D44-7192-E7969918BAAE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42055CE-CF9C-3493-245D-E9F793656E8E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4C0E38E-8A27-BB58-B49C-4A36F12188E8}"/>
              </a:ext>
            </a:extLst>
          </p:cNvPr>
          <p:cNvSpPr txBox="1"/>
          <p:nvPr/>
        </p:nvSpPr>
        <p:spPr>
          <a:xfrm>
            <a:off x="177800" y="266078"/>
            <a:ext cx="1079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12.7 Local Traffic Context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C2FD110-FA98-DBD9-81AE-24CE89B5E822}"/>
              </a:ext>
            </a:extLst>
          </p:cNvPr>
          <p:cNvSpPr txBox="1"/>
          <p:nvPr/>
        </p:nvSpPr>
        <p:spPr>
          <a:xfrm>
            <a:off x="101600" y="822325"/>
            <a:ext cx="1166764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altLang="zh-CN" sz="2400" dirty="0"/>
              <a:t>Dual Time Scales of Parameter Adaptation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Gradual changes occur over minutes (e.g., 10 min) driven by memory effects or changing weather conditions.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Instantaneous changes occur immediately when passing speed limit signs, entering/leaving tunnels, roadworks, or city limits.</a:t>
            </a:r>
            <a:endParaRPr lang="zh-CN" altLang="zh-CN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22891F8-0CF7-B99C-E43B-4F6889D52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666" y="2761317"/>
            <a:ext cx="7666667" cy="40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1827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AD26DB-A01B-1A08-1B60-6D98DEFBD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C5AE41-1D41-CED9-EE32-340CC54176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77988E-8F5C-16AB-754F-A84F5209E145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D801D00-175D-02C2-64B6-DDCD7FE25FED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377D44-ABE3-444E-E9AD-48C292573B06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C2F07EF-64E9-163E-9050-A57183D04076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BD3C97-94D4-A68D-C273-14678693E306}"/>
              </a:ext>
            </a:extLst>
          </p:cNvPr>
          <p:cNvSpPr txBox="1"/>
          <p:nvPr/>
        </p:nvSpPr>
        <p:spPr>
          <a:xfrm>
            <a:off x="177800" y="266078"/>
            <a:ext cx="1079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12.8 Action Points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DA66FDE-72E4-8F1C-F4FC-5F2F27D85A70}"/>
              </a:ext>
            </a:extLst>
          </p:cNvPr>
          <p:cNvSpPr txBox="1"/>
          <p:nvPr/>
        </p:nvSpPr>
        <p:spPr>
          <a:xfrm>
            <a:off x="101600" y="822325"/>
            <a:ext cx="1166764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All previous models assumed drivers react to any tiny environmental change in a continuous way.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Physio-psychological studies show humans have finite perception thresholds in discriminating gaps, speeds, or relative speeds.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Drivers do not adjust pedals continuously; they maintain constant acceleration most of the time, adjusting discretely only when deviating beyond thresholds.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These discrete time instances triggering conscious control actions are defined as action points.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Trajectory data show action-point intervals, thresholds, and adjustments are stochastic, making them hard to distinguish from acceleration noise, leaving their existence controversial.</a:t>
            </a:r>
            <a:endParaRPr lang="zh-CN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6775119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F61520-88F8-9FC4-4895-E47253066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C3A288-77A7-2E2B-6719-6DC4C2BB0F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AD2F70C-045C-1B2A-834D-CEC888A3DBF7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49E7D58-0E4E-1AAD-7E99-BD8B1E2D52E5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D51597E-17EB-95B7-6D9B-1B4740D92B32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241F6AB-A99D-E4B4-CD35-8D2315109283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8ADECEC-CE30-1327-0DA9-099D978475AF}"/>
              </a:ext>
            </a:extLst>
          </p:cNvPr>
          <p:cNvSpPr txBox="1"/>
          <p:nvPr/>
        </p:nvSpPr>
        <p:spPr>
          <a:xfrm>
            <a:off x="177800" y="266078"/>
            <a:ext cx="1079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12.9 The Wiedemann Car-Following Model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EE3EB91-DC7F-F033-E468-88905EB9B585}"/>
              </a:ext>
            </a:extLst>
          </p:cNvPr>
          <p:cNvSpPr txBox="1"/>
          <p:nvPr/>
        </p:nvSpPr>
        <p:spPr>
          <a:xfrm>
            <a:off x="101600" y="822325"/>
            <a:ext cx="1166764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zh-CN" altLang="zh-CN" sz="2400" b="1" dirty="0">
                <a:latin typeface="+mj-ea"/>
                <a:ea typeface="+mj-ea"/>
              </a:rPr>
              <a:t>Four Discrete Driving Regimes</a:t>
            </a:r>
            <a:r>
              <a:rPr lang="zh-CN" altLang="en-US" sz="2400" b="1" dirty="0">
                <a:latin typeface="+mj-ea"/>
                <a:ea typeface="+mj-ea"/>
              </a:rPr>
              <a:t>：</a:t>
            </a:r>
            <a:endParaRPr lang="en-US" altLang="zh-CN" sz="2400" b="1" dirty="0">
              <a:latin typeface="+mj-ea"/>
              <a:ea typeface="+mj-ea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Free flow regime: The driver is unobstructed by leading vehicles, cruising at the desired speed.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Approaching slower vehicles regime: The driver detects a slower leader and actively decelerates to match speed and build a safe gap.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Car-following near steady-state equilibrium regime: The driver fluctuates near equilibrium, making minor adjustments around the target gap and relative speed.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Critical situations requiring stronger braking actions regime: Gap is too small or approach speed too high, triggering hard braking to prevent a crash.</a:t>
            </a:r>
            <a:endParaRPr lang="zh-CN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1868655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07774A-F07E-CC2D-CD39-50284B332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EDFFA2-B903-D005-C22E-1635445B1D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00C7A72-8B47-C0B7-78C3-072393E29925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2A53D9A-94C7-7946-B515-8ADB8BBBBA20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A5B71B0-A79C-B90F-5F09-CAEE856DA035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F7FC7AC-7B87-29C4-3221-2272B14E6770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9DCE5AD-41C7-DEE8-0477-F7F04C6188B4}"/>
              </a:ext>
            </a:extLst>
          </p:cNvPr>
          <p:cNvSpPr txBox="1"/>
          <p:nvPr/>
        </p:nvSpPr>
        <p:spPr>
          <a:xfrm>
            <a:off x="177800" y="266078"/>
            <a:ext cx="1079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12.9 The Wiedemann Car-Following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741531E-D6A8-CCD0-BAA9-88BCDA8FDFB6}"/>
                  </a:ext>
                </a:extLst>
              </p:cNvPr>
              <p:cNvSpPr txBox="1"/>
              <p:nvPr/>
            </p:nvSpPr>
            <p:spPr>
              <a:xfrm>
                <a:off x="101600" y="822325"/>
                <a:ext cx="11667646" cy="3922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:r>
                  <a:rPr lang="zh-CN" altLang="zh-CN" sz="2400" b="1" dirty="0">
                    <a:latin typeface="+mj-ea"/>
                    <a:ea typeface="+mj-ea"/>
                  </a:rPr>
                  <a:t>Four Discrete Driving Regimes</a:t>
                </a:r>
                <a:r>
                  <a:rPr lang="zh-CN" altLang="en-US" sz="2400" b="1" dirty="0">
                    <a:latin typeface="+mj-ea"/>
                    <a:ea typeface="+mj-ea"/>
                  </a:rPr>
                  <a:t>：</a:t>
                </a:r>
                <a:endParaRPr lang="en-US" altLang="zh-CN" sz="2400" b="1" dirty="0">
                  <a:latin typeface="+mj-ea"/>
                  <a:ea typeface="+mj-ea"/>
                </a:endParaRPr>
              </a:p>
              <a:p>
                <a:pPr marL="342900" lvl="1" indent="-34290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In each regime </a:t>
                </a:r>
                <a14:m>
                  <m:oMath xmlns:m="http://schemas.openxmlformats.org/officeDocument/2006/math">
                    <m:r>
                      <a:rPr lang="zh-CN" altLang="en-US" sz="2400"/>
                      <m:t>𝑘</m:t>
                    </m:r>
                  </m:oMath>
                </a14:m>
                <a:r>
                  <a:rPr lang="zh-CN" altLang="zh-CN" sz="2400" dirty="0"/>
                  <a:t>, a different acceleration function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/>
                        </m:ctrlPr>
                      </m:sSubSupPr>
                      <m:e>
                        <m:r>
                          <a:rPr lang="zh-CN" altLang="en-US" sz="2400"/>
                          <m:t>𝑎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 sz="2400"/>
                          <m:t>mic</m:t>
                        </m:r>
                      </m:sub>
                      <m:sup>
                        <m:d>
                          <m:dPr>
                            <m:ctrlPr>
                              <a:rPr lang="zh-CN" altLang="en-US" sz="2400"/>
                            </m:ctrlPr>
                          </m:dPr>
                          <m:e>
                            <m:r>
                              <a:rPr lang="zh-CN" altLang="en-US" sz="2400"/>
                              <m:t>𝑘</m:t>
                            </m:r>
                          </m:e>
                        </m:d>
                      </m:sup>
                    </m:sSubSup>
                    <m:d>
                      <m:dPr>
                        <m:ctrlPr>
                          <a:rPr lang="zh-CN" altLang="en-US" sz="2400"/>
                        </m:ctrlPr>
                      </m:dPr>
                      <m:e>
                        <m:r>
                          <a:rPr lang="zh-CN" altLang="en-US" sz="2400"/>
                          <m:t>𝑠</m:t>
                        </m:r>
                        <m:r>
                          <a:rPr lang="zh-CN" altLang="en-US" sz="2400"/>
                          <m:t>,</m:t>
                        </m:r>
                        <m:r>
                          <a:rPr lang="zh-CN" altLang="en-US" sz="2400"/>
                          <m:t>𝑣</m:t>
                        </m:r>
                        <m:r>
                          <a:rPr lang="zh-CN" altLang="en-US" sz="2400"/>
                          <m:t>,</m:t>
                        </m:r>
                        <m:r>
                          <m:rPr>
                            <m:sty m:val="p"/>
                          </m:rPr>
                          <a:rPr lang="zh-CN" altLang="en-US" sz="2400"/>
                          <m:t>Δ</m:t>
                        </m:r>
                        <m:r>
                          <a:rPr lang="zh-CN" altLang="en-US" sz="2400"/>
                          <m:t>𝑣</m:t>
                        </m:r>
                      </m:e>
                    </m:d>
                  </m:oMath>
                </a14:m>
                <a:r>
                  <a:rPr lang="zh-CN" altLang="zh-CN" sz="2400" dirty="0"/>
                  <a:t>applies.</a:t>
                </a:r>
              </a:p>
              <a:p>
                <a:pPr marL="342900" lvl="1" indent="-34290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Boundaries between regimes are given by nonlinear equations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/>
                        </m:ctrlPr>
                      </m:sSubPr>
                      <m:e>
                        <m:r>
                          <a:rPr lang="zh-CN" altLang="en-US" sz="2400"/>
                          <m:t>𝑓</m:t>
                        </m:r>
                      </m:e>
                      <m:sub>
                        <m:r>
                          <a:rPr lang="zh-CN" altLang="en-US" sz="2400"/>
                          <m:t>𝑘</m:t>
                        </m:r>
                        <m:r>
                          <a:rPr lang="zh-CN" altLang="en-US" sz="2400"/>
                          <m:t>′</m:t>
                        </m:r>
                      </m:sub>
                    </m:sSub>
                    <m:d>
                      <m:dPr>
                        <m:ctrlPr>
                          <a:rPr lang="zh-CN" altLang="en-US" sz="2400"/>
                        </m:ctrlPr>
                      </m:dPr>
                      <m:e>
                        <m:r>
                          <a:rPr lang="zh-CN" altLang="en-US" sz="2400"/>
                          <m:t>𝑠</m:t>
                        </m:r>
                        <m:r>
                          <a:rPr lang="zh-CN" altLang="en-US" sz="2400"/>
                          <m:t>,</m:t>
                        </m:r>
                        <m:r>
                          <a:rPr lang="zh-CN" altLang="en-US" sz="2400"/>
                          <m:t>𝑣</m:t>
                        </m:r>
                        <m:r>
                          <a:rPr lang="zh-CN" altLang="en-US" sz="2400"/>
                          <m:t>,</m:t>
                        </m:r>
                        <m:r>
                          <m:rPr>
                            <m:sty m:val="p"/>
                          </m:rPr>
                          <a:rPr lang="zh-CN" altLang="en-US" sz="2400"/>
                          <m:t>Δ</m:t>
                        </m:r>
                        <m:r>
                          <a:rPr lang="zh-CN" altLang="en-US" sz="2400"/>
                          <m:t>𝑣</m:t>
                        </m:r>
                      </m:e>
                    </m:d>
                    <m:r>
                      <a:rPr lang="zh-CN" altLang="en-US" sz="2400"/>
                      <m:t>=0</m:t>
                    </m:r>
                  </m:oMath>
                </a14:m>
                <a:r>
                  <a:rPr lang="zh-CN" altLang="zh-CN" sz="2400" dirty="0"/>
                  <a:t>, defining curved surfaces in three-dimensional state space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400"/>
                        </m:ctrlPr>
                      </m:dPr>
                      <m:e>
                        <m:r>
                          <a:rPr lang="zh-CN" altLang="en-US" sz="2400"/>
                          <m:t>𝑠</m:t>
                        </m:r>
                        <m:r>
                          <a:rPr lang="zh-CN" altLang="en-US" sz="2400"/>
                          <m:t>,</m:t>
                        </m:r>
                        <m:r>
                          <a:rPr lang="zh-CN" altLang="en-US" sz="2400"/>
                          <m:t>𝑣</m:t>
                        </m:r>
                        <m:r>
                          <a:rPr lang="zh-CN" altLang="en-US" sz="2400"/>
                          <m:t>,</m:t>
                        </m:r>
                        <m:r>
                          <m:rPr>
                            <m:sty m:val="p"/>
                          </m:rPr>
                          <a:rPr lang="zh-CN" altLang="en-US" sz="2400"/>
                          <m:t>Δ</m:t>
                        </m:r>
                        <m:r>
                          <a:rPr lang="zh-CN" altLang="en-US" sz="2400"/>
                          <m:t>𝑣</m:t>
                        </m:r>
                      </m:e>
                    </m:d>
                  </m:oMath>
                </a14:m>
                <a:r>
                  <a:rPr lang="zh-CN" altLang="zh-CN" sz="2400" dirty="0"/>
                  <a:t>.</a:t>
                </a:r>
              </a:p>
              <a:p>
                <a:pPr marL="342900" lvl="1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When a trajectory crosses a boundary, acceleration abruptly shifts to the new regime's function, with superimposed acceleration noise.</a:t>
                </a:r>
              </a:p>
              <a:p>
                <a:pPr marL="342900" lvl="1" indent="-342900">
                  <a:buFont typeface="Arial" panose="020B0604020202020204" pitchFamily="34" charset="0"/>
                  <a:buChar char="•"/>
                </a:pPr>
                <a:endParaRPr lang="en-US" altLang="zh-CN" sz="2400" dirty="0"/>
              </a:p>
              <a:p>
                <a:pPr marL="0" lvl="1"/>
                <a:r>
                  <a:rPr lang="zh-CN" altLang="zh-CN" sz="2400" dirty="0"/>
                  <a:t>Wiedemann Model Regime-Dependent Acceleration Equation</a:t>
                </a:r>
                <a:r>
                  <a:rPr lang="en-US" altLang="zh-CN" sz="2400" dirty="0"/>
                  <a:t>:</a:t>
                </a:r>
              </a:p>
              <a:p>
                <a:pPr marL="0" lvl="1"/>
                <a14:m>
                  <m:oMathPara xmlns:m="http://schemas.openxmlformats.org/officeDocument/2006/math">
                    <m:oMath>
                      <m:r>
                        <a:rPr lang="zh-CN" altLang="en-US" i="1"/>
                        <m:t>𝑎</m:t>
                      </m:r>
                      <m:d>
                        <m:dPr>
                          <m:ctrlPr>
                            <a:rPr lang="zh-CN" altLang="en-US" i="1"/>
                          </m:ctrlPr>
                        </m:dPr>
                        <m:e>
                          <m:r>
                            <a:rPr lang="zh-CN" altLang="en-US" i="1"/>
                            <m:t>𝑡</m:t>
                          </m:r>
                        </m:e>
                      </m:d>
                      <m:r>
                        <a:rPr lang="zh-CN" altLang="en-US"/>
                        <m:t>=</m:t>
                      </m:r>
                      <m:sSubSup>
                        <m:sSubSupPr>
                          <m:ctrlPr>
                            <a:rPr lang="zh-CN" altLang="en-US" i="1"/>
                          </m:ctrlPr>
                        </m:sSubSupPr>
                        <m:e>
                          <m:r>
                            <a:rPr lang="zh-CN" altLang="en-US" i="1"/>
                            <m:t>𝑎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zh-CN" altLang="en-US"/>
                            <m:t>mic</m:t>
                          </m:r>
                        </m:sub>
                        <m:sup>
                          <m:d>
                            <m:dPr>
                              <m:ctrlPr>
                                <a:rPr lang="zh-CN" altLang="en-US" i="1"/>
                              </m:ctrlPr>
                            </m:dPr>
                            <m:e>
                              <m:r>
                                <a:rPr lang="zh-CN" altLang="en-US" i="1"/>
                                <m:t>𝑘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zh-CN" altLang="en-US" i="1"/>
                          </m:ctrlPr>
                        </m:dPr>
                        <m:e>
                          <m:r>
                            <a:rPr lang="zh-CN" altLang="en-US" i="1"/>
                            <m:t>𝑠</m:t>
                          </m:r>
                          <m:r>
                            <a:rPr lang="zh-CN" altLang="en-US"/>
                            <m:t>,</m:t>
                          </m:r>
                          <m:r>
                            <a:rPr lang="zh-CN" altLang="en-US" i="1"/>
                            <m:t>𝑣</m:t>
                          </m:r>
                          <m:r>
                            <a:rPr lang="zh-CN" altLang="en-US"/>
                            <m:t>,</m:t>
                          </m:r>
                          <m:r>
                            <m:rPr>
                              <m:sty m:val="p"/>
                            </m:rPr>
                            <a:rPr lang="zh-CN" altLang="en-US"/>
                            <m:t>Δ</m:t>
                          </m:r>
                          <m:r>
                            <a:rPr lang="zh-CN" altLang="en-US" i="1"/>
                            <m:t>𝑣</m:t>
                          </m:r>
                        </m:e>
                      </m:d>
                      <m:r>
                        <a:rPr lang="zh-CN" altLang="en-US"/>
                        <m:t>+</m:t>
                      </m:r>
                      <m:sSub>
                        <m:sSubPr>
                          <m:ctrlPr>
                            <a:rPr lang="zh-CN" altLang="en-US" i="1"/>
                          </m:ctrlPr>
                        </m:sSubPr>
                        <m:e>
                          <m:r>
                            <a:rPr lang="zh-CN" altLang="en-US" i="1"/>
                            <m:t>𝜎</m:t>
                          </m:r>
                        </m:e>
                        <m:sub>
                          <m:r>
                            <a:rPr lang="zh-CN" altLang="en-US" i="1"/>
                            <m:t>𝑎</m:t>
                          </m:r>
                        </m:sub>
                      </m:sSub>
                      <m:sSub>
                        <m:sSubPr>
                          <m:ctrlPr>
                            <a:rPr lang="zh-CN" altLang="en-US" i="1"/>
                          </m:ctrlPr>
                        </m:sSubPr>
                        <m:e>
                          <m:r>
                            <a:rPr lang="zh-CN" altLang="en-US" i="1"/>
                            <m:t>𝑤</m:t>
                          </m:r>
                        </m:e>
                        <m:sub>
                          <m:r>
                            <a:rPr lang="zh-CN" altLang="en-US" i="1"/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zh-CN" altLang="en-US" i="1"/>
                          </m:ctrlPr>
                        </m:dPr>
                        <m:e>
                          <m:r>
                            <a:rPr lang="zh-CN" altLang="en-US" i="1"/>
                            <m:t>𝑡</m:t>
                          </m:r>
                        </m:e>
                      </m:d>
                    </m:oMath>
                  </m:oMathPara>
                </a14:m>
                <a:endParaRPr lang="zh-CN" altLang="zh-CN" dirty="0"/>
              </a:p>
              <a:p>
                <a:pPr marL="342900" lvl="1" indent="-342900">
                  <a:buFont typeface="Arial" panose="020B0604020202020204" pitchFamily="34" charset="0"/>
                  <a:buChar char="•"/>
                </a:pPr>
                <a:endParaRPr lang="zh-CN" altLang="zh-CN" sz="2400" dirty="0"/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741531E-D6A8-CCD0-BAA9-88BCDA8FD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" y="822325"/>
                <a:ext cx="11667646" cy="3922997"/>
              </a:xfrm>
              <a:prstGeom prst="rect">
                <a:avLst/>
              </a:prstGeom>
              <a:blipFill>
                <a:blip r:embed="rId3"/>
                <a:stretch>
                  <a:fillRect l="-836" t="-1244" r="-3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83906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407CA8-321B-9374-2CF6-B05AB8394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C9FC54-B4CF-4C0A-B5E2-629258E4A8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6C0D962-00B3-49A1-9CDB-4FAC6EAC81F7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CBE056-1273-67F9-6432-3C896EF9ED1C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B195DE0-2FD4-9EA7-34F4-F01C1D287BB2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0713F2B-B9A0-4F90-2F13-80AA5572B760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5E3CA43-6C3D-52B8-4ABF-5EE1EAE772E2}"/>
              </a:ext>
            </a:extLst>
          </p:cNvPr>
          <p:cNvSpPr txBox="1"/>
          <p:nvPr/>
        </p:nvSpPr>
        <p:spPr>
          <a:xfrm>
            <a:off x="177800" y="266078"/>
            <a:ext cx="1079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12.9 The Wiedemann Car-Following Model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2594DCE-C38A-69C4-A054-3D2EDF5CE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" y="990600"/>
            <a:ext cx="7003093" cy="453191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6A19007-13DC-DBD8-74BB-69B6744A8B57}"/>
                  </a:ext>
                </a:extLst>
              </p:cNvPr>
              <p:cNvSpPr txBox="1"/>
              <p:nvPr/>
            </p:nvSpPr>
            <p:spPr>
              <a:xfrm>
                <a:off x="7257093" y="1172644"/>
                <a:ext cx="4757107" cy="37856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/>
                <a:r>
                  <a:rPr lang="zh-CN" altLang="zh-CN" sz="2400" dirty="0">
                    <a:effectLst/>
                    <a:latin typeface="Google Sans Text"/>
                  </a:rPr>
                  <a:t>Horizontal axis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40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zh-CN" altLang="en-US" sz="2400" i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zh-CN" altLang="zh-CN" sz="2400" dirty="0">
                    <a:effectLst/>
                    <a:latin typeface="Google Sans Text"/>
                  </a:rPr>
                  <a:t>): Approaching rate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40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zh-CN" altLang="en-US" sz="2400" i="0">
                        <a:latin typeface="Cambria Math" panose="02040503050406030204" pitchFamily="18" charset="0"/>
                      </a:rPr>
                      <m:t>v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zh-CN" altLang="en-US" sz="2400" i="0">
                        <a:latin typeface="Cambria Math" panose="02040503050406030204" pitchFamily="18" charset="0"/>
                      </a:rPr>
                      <m:t>v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sz="2400" i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</m:oMath>
                </a14:m>
                <a:r>
                  <a:rPr lang="zh-CN" altLang="zh-CN" sz="2400" dirty="0">
                    <a:effectLst/>
                    <a:latin typeface="Google Sans Text"/>
                  </a:rPr>
                  <a:t>).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40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zh-CN" altLang="en-US" sz="2400" i="0">
                        <a:latin typeface="Cambria Math" panose="02040503050406030204" pitchFamily="18" charset="0"/>
                      </a:rPr>
                      <m:t>v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zh-CN" sz="2400" dirty="0">
                    <a:effectLst/>
                    <a:latin typeface="Google Sans Text"/>
                  </a:rPr>
                  <a:t>means closing in;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40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zh-CN" altLang="en-US" sz="2400" i="0">
                        <a:latin typeface="Cambria Math" panose="02040503050406030204" pitchFamily="18" charset="0"/>
                      </a:rPr>
                      <m:t>v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zh-CN" altLang="zh-CN" sz="2400" dirty="0">
                    <a:effectLst/>
                    <a:latin typeface="Google Sans Text"/>
                  </a:rPr>
                  <a:t>means opening up.</a:t>
                </a:r>
                <a:endParaRPr lang="en-US" altLang="zh-CN" sz="2400" dirty="0">
                  <a:effectLst/>
                  <a:latin typeface="Google Sans Text"/>
                </a:endParaRPr>
              </a:p>
              <a:p>
                <a:pPr marL="0" lvl="1"/>
                <a:endParaRPr lang="zh-CN" altLang="zh-CN" sz="2400" dirty="0">
                  <a:effectLst/>
                  <a:latin typeface="Google Sans Text"/>
                </a:endParaRPr>
              </a:p>
              <a:p>
                <a:pPr marL="0" lvl="1"/>
                <a:r>
                  <a:rPr lang="zh-CN" altLang="zh-CN" sz="2400" dirty="0">
                    <a:effectLst/>
                    <a:latin typeface="Google Sans Text"/>
                  </a:rPr>
                  <a:t>Vertical axis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400" i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zh-CN" altLang="zh-CN" sz="2400" dirty="0">
                    <a:effectLst/>
                    <a:latin typeface="Google Sans Text"/>
                  </a:rPr>
                  <a:t>): Distance gap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400" i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zh-CN" altLang="zh-CN" sz="2400" dirty="0">
                    <a:effectLst/>
                    <a:latin typeface="Google Sans Text"/>
                  </a:rPr>
                  <a:t>.</a:t>
                </a:r>
                <a:endParaRPr lang="en-US" altLang="zh-CN" sz="2400" dirty="0">
                  <a:effectLst/>
                  <a:latin typeface="Google Sans Text"/>
                </a:endParaRPr>
              </a:p>
              <a:p>
                <a:pPr marL="0" lvl="1"/>
                <a:endParaRPr lang="zh-CN" altLang="zh-CN" sz="2400" dirty="0">
                  <a:effectLst/>
                  <a:latin typeface="Google Sans Text"/>
                </a:endParaRPr>
              </a:p>
              <a:p>
                <a:pPr marL="0" lvl="1"/>
                <a:r>
                  <a:rPr lang="zh-CN" altLang="zh-CN" sz="2400" dirty="0">
                    <a:effectLst/>
                    <a:latin typeface="Google Sans Text"/>
                  </a:rPr>
                  <a:t>Color Regions: Green is free flow, orange is approaching, yellow is following, red is critical, dark red is collision.</a:t>
                </a:r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6A19007-13DC-DBD8-74BB-69B6744A8B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093" y="1172644"/>
                <a:ext cx="4757107" cy="3785652"/>
              </a:xfrm>
              <a:prstGeom prst="rect">
                <a:avLst/>
              </a:prstGeom>
              <a:blipFill>
                <a:blip r:embed="rId4"/>
                <a:stretch>
                  <a:fillRect l="-1921" t="-1288" r="-1665" b="-27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77322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9F9DF9-42BE-8CAB-FEB5-CFEB8ADD1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EAB520-07D7-20A8-AB9E-5C2C62BF10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7863A9-EFA7-E4A0-11FB-E7420DE809CC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B3D2C8A-B5D4-D82F-7989-70BD21A5BB90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B319666-7F9B-A988-3606-054FA40394A8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70CE8FA-F6AB-8950-F49F-CA23D6596553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5F6E40B-70E4-8E4F-3A0E-169AEDF23A7D}"/>
              </a:ext>
            </a:extLst>
          </p:cNvPr>
          <p:cNvSpPr txBox="1"/>
          <p:nvPr/>
        </p:nvSpPr>
        <p:spPr>
          <a:xfrm>
            <a:off x="177800" y="266078"/>
            <a:ext cx="1079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12.9 The Wiedemann Car-Following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63460AC-E205-EA22-498D-8937AEEC5152}"/>
                  </a:ext>
                </a:extLst>
              </p:cNvPr>
              <p:cNvSpPr txBox="1"/>
              <p:nvPr/>
            </p:nvSpPr>
            <p:spPr>
              <a:xfrm>
                <a:off x="6552156" y="952500"/>
                <a:ext cx="5204415" cy="304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1" indent="-34290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State-space oscillations generated by Wiedemann's discrete regimes match those produced by continuous models with reaction time delay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/>
                        </m:ctrlPr>
                      </m:sSubPr>
                      <m:e>
                        <m:r>
                          <a:rPr lang="zh-CN" altLang="en-US" i="1"/>
                          <m:t>𝑇</m:t>
                        </m:r>
                      </m:e>
                      <m:sub>
                        <m:r>
                          <a:rPr lang="zh-CN" altLang="en-US" i="1"/>
                          <m:t>𝑟</m:t>
                        </m:r>
                      </m:sub>
                    </m:sSub>
                  </m:oMath>
                </a14:m>
                <a:r>
                  <a:rPr lang="zh-CN" altLang="zh-CN" sz="2400" dirty="0"/>
                  <a:t>.</a:t>
                </a:r>
                <a:endParaRPr lang="en-US" altLang="zh-CN" sz="2400" dirty="0"/>
              </a:p>
              <a:p>
                <a:pPr marL="342900" lvl="1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E</a:t>
                </a:r>
                <a:r>
                  <a:rPr lang="zh-CN" altLang="zh-CN" sz="2400" dirty="0"/>
                  <a:t>mpirical data can hardly distinguish whether real-world traffic waves stem from discrete action points or continuous delay instabilities.</a:t>
                </a:r>
                <a:endParaRPr lang="zh-CN" altLang="zh-CN" sz="2400" dirty="0">
                  <a:effectLst/>
                  <a:latin typeface="Google Sans Text"/>
                </a:endParaRPr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63460AC-E205-EA22-498D-8937AEEC51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2156" y="952500"/>
                <a:ext cx="5204415" cy="3046988"/>
              </a:xfrm>
              <a:prstGeom prst="rect">
                <a:avLst/>
              </a:prstGeom>
              <a:blipFill>
                <a:blip r:embed="rId3"/>
                <a:stretch>
                  <a:fillRect l="-1639" t="-1600" r="-2342" b="-36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CEED1A5D-991A-F6B9-410E-1BC5588BB8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990601"/>
            <a:ext cx="6421377" cy="430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10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zAzYjYzNzI1MzUyYTQ0YjZkNmEyMmM5MzQzZmQzY2U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3920</TotalTime>
  <Words>10479</Words>
  <Application>Microsoft Office PowerPoint</Application>
  <PresentationFormat>宽屏</PresentationFormat>
  <Paragraphs>253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Google Sans Text</vt:lpstr>
      <vt:lpstr>Novecento wide Bold</vt:lpstr>
      <vt:lpstr>仿宋</vt:lpstr>
      <vt:lpstr>微软雅黑</vt:lpstr>
      <vt:lpstr>Arial</vt:lpstr>
      <vt:lpstr>Calibri</vt:lpstr>
      <vt:lpstr>Cambria Math</vt:lpstr>
      <vt:lpstr>Office 主题</vt:lpstr>
      <vt:lpstr>PowerPoint 演示文稿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 no</dc:creator>
  <cp:lastModifiedBy>na no</cp:lastModifiedBy>
  <cp:revision>141</cp:revision>
  <dcterms:created xsi:type="dcterms:W3CDTF">2022-05-16T07:12:00Z</dcterms:created>
  <dcterms:modified xsi:type="dcterms:W3CDTF">2026-08-11T09:51:26Z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458416FB77DC43F4A912D0A22C2D45B9_13</vt:lpwstr>
  </property>
  <property fmtid="{D5CDD505-2E9C-101B-9397-08002B2CF9AE}" pid="3" name="KSOProductBuildVer">
    <vt:lpwstr>2052-12.1.0.28043</vt:lpwstr>
  </property>
</Properties>
</file>